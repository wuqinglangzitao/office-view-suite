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3"/>
  </p:handoutMasterIdLst>
  <p:sldIdLst>
    <p:sldId id="337" r:id="rId3"/>
    <p:sldId id="919" r:id="rId5"/>
    <p:sldId id="921" r:id="rId6"/>
    <p:sldId id="914" r:id="rId7"/>
    <p:sldId id="920" r:id="rId8"/>
    <p:sldId id="684" r:id="rId9"/>
    <p:sldId id="690" r:id="rId10"/>
    <p:sldId id="929" r:id="rId11"/>
    <p:sldId id="903" r:id="rId12"/>
    <p:sldId id="692" r:id="rId13"/>
    <p:sldId id="926" r:id="rId14"/>
    <p:sldId id="905" r:id="rId15"/>
    <p:sldId id="904" r:id="rId16"/>
    <p:sldId id="927" r:id="rId17"/>
    <p:sldId id="924" r:id="rId18"/>
    <p:sldId id="911" r:id="rId19"/>
    <p:sldId id="912" r:id="rId20"/>
    <p:sldId id="922" r:id="rId21"/>
    <p:sldId id="925" r:id="rId22"/>
    <p:sldId id="906" r:id="rId23"/>
    <p:sldId id="928" r:id="rId24"/>
    <p:sldId id="909" r:id="rId25"/>
    <p:sldId id="693" r:id="rId26"/>
    <p:sldId id="775" r:id="rId27"/>
    <p:sldId id="778" r:id="rId28"/>
    <p:sldId id="779" r:id="rId29"/>
    <p:sldId id="910" r:id="rId30"/>
    <p:sldId id="733" r:id="rId31"/>
    <p:sldId id="907" r:id="rId32"/>
    <p:sldId id="696" r:id="rId33"/>
    <p:sldId id="734" r:id="rId34"/>
    <p:sldId id="697" r:id="rId35"/>
    <p:sldId id="698" r:id="rId36"/>
    <p:sldId id="732" r:id="rId37"/>
    <p:sldId id="908" r:id="rId38"/>
    <p:sldId id="702" r:id="rId39"/>
    <p:sldId id="917" r:id="rId40"/>
    <p:sldId id="918" r:id="rId41"/>
    <p:sldId id="594" r:id="rId42"/>
  </p:sldIdLst>
  <p:sldSz cx="12192000" cy="6858000"/>
  <p:notesSz cx="6797675" cy="992632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7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许晓辉" initials="许晓辉" lastIdx="1" clrIdx="0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1"/>
    <a:srgbClr val="F5A21D"/>
    <a:srgbClr val="997EC2"/>
    <a:srgbClr val="4A7C29"/>
    <a:srgbClr val="63A537"/>
    <a:srgbClr val="85C858"/>
    <a:srgbClr val="7F6000"/>
    <a:srgbClr val="FFA591"/>
    <a:srgbClr val="FF8F75"/>
    <a:srgbClr val="EAA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 autoAdjust="0"/>
    <p:restoredTop sz="87791" autoAdjust="0"/>
  </p:normalViewPr>
  <p:slideViewPr>
    <p:cSldViewPr snapToGrid="0" showGuides="1">
      <p:cViewPr varScale="1">
        <p:scale>
          <a:sx n="60" d="100"/>
          <a:sy n="60" d="100"/>
        </p:scale>
        <p:origin x="960" y="56"/>
      </p:cViewPr>
      <p:guideLst>
        <p:guide orient="horz" pos="2264"/>
        <p:guide pos="37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363-96A1-42C5-8AEF-7AD88A3605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59F11-A31B-4221-B56E-63B725ABAA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2508A-B75B-418D-9F64-3E5B6F927B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9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9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7D089-AC8F-4832-A3C3-D9AF30F404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7D089-AC8F-4832-A3C3-D9AF30F404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40881-6021-439C-8F91-513FEED92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40881-6021-439C-8F91-513FEED92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40881-6021-439C-8F91-513FEED92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40881-6021-439C-8F91-513FEED922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  <a:latin typeface="Calibri" panose="020F0502020204030204"/>
              </a:rPr>
            </a:fld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图片 5" descr="华润饮料商业品牌_简体_RGB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76560" y="-68580"/>
            <a:ext cx="1615440" cy="817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F370F071-055F-47C1-A42F-B01CE3C799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doors dir="ver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0F071-055F-47C1-A42F-B01CE3C799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20552" y="116632"/>
            <a:ext cx="10515600" cy="547070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320552" y="765302"/>
            <a:ext cx="11557633" cy="0"/>
          </a:xfrm>
          <a:prstGeom prst="line">
            <a:avLst/>
          </a:prstGeom>
          <a:ln w="57150">
            <a:solidFill>
              <a:srgbClr val="F5A2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5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11578955" y="6567807"/>
            <a:ext cx="171522" cy="153888"/>
          </a:xfrm>
          <a:prstGeom prst="rect">
            <a:avLst/>
          </a:prstGeom>
          <a:noFill/>
          <a:ln w="12700">
            <a:noFill/>
            <a:miter lim="800000"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defTabSz="914400">
              <a:buClr>
                <a:srgbClr val="000000"/>
              </a:buClr>
              <a:buSzPct val="65000"/>
              <a:buFont typeface="Wingdings" panose="05000000000000000000" pitchFamily="2" charset="2"/>
              <a:buNone/>
            </a:pPr>
            <a:fld id="{C4D8626B-D7A8-4BE4-9D02-D76BC99ECD72}" type="slidenum">
              <a:rPr 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</a:fld>
            <a:endParaRPr lang="en-US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pic>
        <p:nvPicPr>
          <p:cNvPr id="2" name="图片 1" descr="华润饮料商业品牌_简体_RGB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76560" y="-68580"/>
            <a:ext cx="1615440" cy="8178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8" name="灯片编号占位符 3"/>
          <p:cNvSpPr txBox="1"/>
          <p:nvPr userDrawn="1"/>
        </p:nvSpPr>
        <p:spPr>
          <a:xfrm>
            <a:off x="9309847" y="64591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3765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70F071-055F-47C1-A42F-B01CE3C7998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9" name="图片 8" descr="华润饮料商业品牌_简体_RGB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576560" y="-68580"/>
            <a:ext cx="1615440" cy="817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7" Type="http://schemas.openxmlformats.org/officeDocument/2006/relationships/notesSlide" Target="../notesSlides/notesSlide22.x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1" Type="http://schemas.openxmlformats.org/officeDocument/2006/relationships/tags" Target="../tags/tag5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1" Type="http://schemas.openxmlformats.org/officeDocument/2006/relationships/tags" Target="../tags/tag5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1" Type="http://schemas.openxmlformats.org/officeDocument/2006/relationships/tags" Target="../tags/tag59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9.jpeg"/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tags" Target="../tags/tag6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0" Type="http://schemas.openxmlformats.org/officeDocument/2006/relationships/notesSlide" Target="../notesSlides/notesSlide29.xml"/><Relationship Id="rId7" Type="http://schemas.openxmlformats.org/officeDocument/2006/relationships/tags" Target="../tags/tag67.xml"/><Relationship Id="rId69" Type="http://schemas.openxmlformats.org/officeDocument/2006/relationships/slideLayout" Target="../slideLayouts/slideLayout4.xml"/><Relationship Id="rId68" Type="http://schemas.openxmlformats.org/officeDocument/2006/relationships/tags" Target="../tags/tag128.xml"/><Relationship Id="rId67" Type="http://schemas.openxmlformats.org/officeDocument/2006/relationships/tags" Target="../tags/tag127.xml"/><Relationship Id="rId66" Type="http://schemas.openxmlformats.org/officeDocument/2006/relationships/tags" Target="../tags/tag126.xml"/><Relationship Id="rId65" Type="http://schemas.openxmlformats.org/officeDocument/2006/relationships/tags" Target="../tags/tag125.xml"/><Relationship Id="rId64" Type="http://schemas.openxmlformats.org/officeDocument/2006/relationships/tags" Target="../tags/tag124.xml"/><Relationship Id="rId63" Type="http://schemas.openxmlformats.org/officeDocument/2006/relationships/tags" Target="../tags/tag123.xml"/><Relationship Id="rId62" Type="http://schemas.openxmlformats.org/officeDocument/2006/relationships/tags" Target="../tags/tag122.xml"/><Relationship Id="rId61" Type="http://schemas.openxmlformats.org/officeDocument/2006/relationships/tags" Target="../tags/tag121.xml"/><Relationship Id="rId60" Type="http://schemas.openxmlformats.org/officeDocument/2006/relationships/tags" Target="../tags/tag120.xml"/><Relationship Id="rId6" Type="http://schemas.openxmlformats.org/officeDocument/2006/relationships/tags" Target="../tags/tag66.xml"/><Relationship Id="rId59" Type="http://schemas.openxmlformats.org/officeDocument/2006/relationships/tags" Target="../tags/tag119.xml"/><Relationship Id="rId58" Type="http://schemas.openxmlformats.org/officeDocument/2006/relationships/tags" Target="../tags/tag118.xml"/><Relationship Id="rId57" Type="http://schemas.openxmlformats.org/officeDocument/2006/relationships/tags" Target="../tags/tag117.xml"/><Relationship Id="rId56" Type="http://schemas.openxmlformats.org/officeDocument/2006/relationships/tags" Target="../tags/tag116.xml"/><Relationship Id="rId55" Type="http://schemas.openxmlformats.org/officeDocument/2006/relationships/tags" Target="../tags/tag115.xml"/><Relationship Id="rId54" Type="http://schemas.openxmlformats.org/officeDocument/2006/relationships/tags" Target="../tags/tag114.xml"/><Relationship Id="rId53" Type="http://schemas.openxmlformats.org/officeDocument/2006/relationships/tags" Target="../tags/tag113.xml"/><Relationship Id="rId52" Type="http://schemas.openxmlformats.org/officeDocument/2006/relationships/tags" Target="../tags/tag112.xml"/><Relationship Id="rId51" Type="http://schemas.openxmlformats.org/officeDocument/2006/relationships/tags" Target="../tags/tag111.xml"/><Relationship Id="rId50" Type="http://schemas.openxmlformats.org/officeDocument/2006/relationships/tags" Target="../tags/tag110.xml"/><Relationship Id="rId5" Type="http://schemas.openxmlformats.org/officeDocument/2006/relationships/tags" Target="../tags/tag65.xml"/><Relationship Id="rId49" Type="http://schemas.openxmlformats.org/officeDocument/2006/relationships/tags" Target="../tags/tag109.xml"/><Relationship Id="rId48" Type="http://schemas.openxmlformats.org/officeDocument/2006/relationships/tags" Target="../tags/tag108.xml"/><Relationship Id="rId47" Type="http://schemas.openxmlformats.org/officeDocument/2006/relationships/tags" Target="../tags/tag107.xml"/><Relationship Id="rId46" Type="http://schemas.openxmlformats.org/officeDocument/2006/relationships/tags" Target="../tags/tag106.xml"/><Relationship Id="rId45" Type="http://schemas.openxmlformats.org/officeDocument/2006/relationships/tags" Target="../tags/tag105.xml"/><Relationship Id="rId44" Type="http://schemas.openxmlformats.org/officeDocument/2006/relationships/tags" Target="../tags/tag104.xml"/><Relationship Id="rId43" Type="http://schemas.openxmlformats.org/officeDocument/2006/relationships/tags" Target="../tags/tag103.xml"/><Relationship Id="rId42" Type="http://schemas.openxmlformats.org/officeDocument/2006/relationships/tags" Target="../tags/tag102.xml"/><Relationship Id="rId41" Type="http://schemas.openxmlformats.org/officeDocument/2006/relationships/tags" Target="../tags/tag101.xml"/><Relationship Id="rId40" Type="http://schemas.openxmlformats.org/officeDocument/2006/relationships/tags" Target="../tags/tag100.xml"/><Relationship Id="rId4" Type="http://schemas.openxmlformats.org/officeDocument/2006/relationships/tags" Target="../tags/tag64.xml"/><Relationship Id="rId39" Type="http://schemas.openxmlformats.org/officeDocument/2006/relationships/tags" Target="../tags/tag99.xml"/><Relationship Id="rId38" Type="http://schemas.openxmlformats.org/officeDocument/2006/relationships/tags" Target="../tags/tag98.xml"/><Relationship Id="rId37" Type="http://schemas.openxmlformats.org/officeDocument/2006/relationships/tags" Target="../tags/tag97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3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30.xml.rels><?xml version="1.0" encoding="UTF-8" standalone="yes"?>
<Relationships xmlns="http://schemas.openxmlformats.org/package/2006/relationships"><Relationship Id="rId99" Type="http://schemas.openxmlformats.org/officeDocument/2006/relationships/tags" Target="../tags/tag219.xml"/><Relationship Id="rId98" Type="http://schemas.openxmlformats.org/officeDocument/2006/relationships/tags" Target="../tags/tag218.xml"/><Relationship Id="rId97" Type="http://schemas.openxmlformats.org/officeDocument/2006/relationships/image" Target="../media/image47.png"/><Relationship Id="rId96" Type="http://schemas.openxmlformats.org/officeDocument/2006/relationships/tags" Target="../tags/tag217.xml"/><Relationship Id="rId95" Type="http://schemas.openxmlformats.org/officeDocument/2006/relationships/image" Target="../media/image46.png"/><Relationship Id="rId94" Type="http://schemas.openxmlformats.org/officeDocument/2006/relationships/tags" Target="../tags/tag216.xml"/><Relationship Id="rId93" Type="http://schemas.openxmlformats.org/officeDocument/2006/relationships/image" Target="../media/image45.png"/><Relationship Id="rId92" Type="http://schemas.openxmlformats.org/officeDocument/2006/relationships/tags" Target="../tags/tag215.xml"/><Relationship Id="rId91" Type="http://schemas.openxmlformats.org/officeDocument/2006/relationships/tags" Target="../tags/tag214.xml"/><Relationship Id="rId90" Type="http://schemas.openxmlformats.org/officeDocument/2006/relationships/tags" Target="../tags/tag213.xml"/><Relationship Id="rId9" Type="http://schemas.openxmlformats.org/officeDocument/2006/relationships/image" Target="../media/image42.png"/><Relationship Id="rId89" Type="http://schemas.openxmlformats.org/officeDocument/2006/relationships/tags" Target="../tags/tag212.xml"/><Relationship Id="rId88" Type="http://schemas.openxmlformats.org/officeDocument/2006/relationships/tags" Target="../tags/tag211.xml"/><Relationship Id="rId87" Type="http://schemas.openxmlformats.org/officeDocument/2006/relationships/tags" Target="../tags/tag210.xml"/><Relationship Id="rId86" Type="http://schemas.openxmlformats.org/officeDocument/2006/relationships/tags" Target="../tags/tag209.xml"/><Relationship Id="rId85" Type="http://schemas.openxmlformats.org/officeDocument/2006/relationships/tags" Target="../tags/tag208.xml"/><Relationship Id="rId84" Type="http://schemas.openxmlformats.org/officeDocument/2006/relationships/tags" Target="../tags/tag207.xml"/><Relationship Id="rId83" Type="http://schemas.openxmlformats.org/officeDocument/2006/relationships/tags" Target="../tags/tag206.xml"/><Relationship Id="rId82" Type="http://schemas.openxmlformats.org/officeDocument/2006/relationships/tags" Target="../tags/tag205.xml"/><Relationship Id="rId81" Type="http://schemas.openxmlformats.org/officeDocument/2006/relationships/image" Target="../media/image44.png"/><Relationship Id="rId80" Type="http://schemas.openxmlformats.org/officeDocument/2006/relationships/tags" Target="../tags/tag204.xml"/><Relationship Id="rId8" Type="http://schemas.openxmlformats.org/officeDocument/2006/relationships/tags" Target="../tags/tag134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image" Target="../media/image43.png"/><Relationship Id="rId75" Type="http://schemas.openxmlformats.org/officeDocument/2006/relationships/tags" Target="../tags/tag200.xml"/><Relationship Id="rId74" Type="http://schemas.openxmlformats.org/officeDocument/2006/relationships/tags" Target="../tags/tag199.xml"/><Relationship Id="rId73" Type="http://schemas.openxmlformats.org/officeDocument/2006/relationships/tags" Target="../tags/tag198.xml"/><Relationship Id="rId72" Type="http://schemas.openxmlformats.org/officeDocument/2006/relationships/tags" Target="../tags/tag197.xml"/><Relationship Id="rId71" Type="http://schemas.openxmlformats.org/officeDocument/2006/relationships/tags" Target="../tags/tag196.xml"/><Relationship Id="rId70" Type="http://schemas.openxmlformats.org/officeDocument/2006/relationships/tags" Target="../tags/tag195.xml"/><Relationship Id="rId7" Type="http://schemas.openxmlformats.org/officeDocument/2006/relationships/tags" Target="../tags/tag133.xml"/><Relationship Id="rId69" Type="http://schemas.openxmlformats.org/officeDocument/2006/relationships/tags" Target="../tags/tag194.xml"/><Relationship Id="rId68" Type="http://schemas.openxmlformats.org/officeDocument/2006/relationships/tags" Target="../tags/tag193.xml"/><Relationship Id="rId67" Type="http://schemas.openxmlformats.org/officeDocument/2006/relationships/tags" Target="../tags/tag192.xml"/><Relationship Id="rId66" Type="http://schemas.openxmlformats.org/officeDocument/2006/relationships/tags" Target="../tags/tag191.xml"/><Relationship Id="rId65" Type="http://schemas.openxmlformats.org/officeDocument/2006/relationships/tags" Target="../tags/tag190.xml"/><Relationship Id="rId64" Type="http://schemas.openxmlformats.org/officeDocument/2006/relationships/tags" Target="../tags/tag189.xml"/><Relationship Id="rId63" Type="http://schemas.openxmlformats.org/officeDocument/2006/relationships/tags" Target="../tags/tag188.xml"/><Relationship Id="rId62" Type="http://schemas.openxmlformats.org/officeDocument/2006/relationships/tags" Target="../tags/tag187.xml"/><Relationship Id="rId61" Type="http://schemas.openxmlformats.org/officeDocument/2006/relationships/tags" Target="../tags/tag186.xml"/><Relationship Id="rId60" Type="http://schemas.openxmlformats.org/officeDocument/2006/relationships/tags" Target="../tags/tag185.xml"/><Relationship Id="rId6" Type="http://schemas.openxmlformats.org/officeDocument/2006/relationships/image" Target="../media/image41.png"/><Relationship Id="rId59" Type="http://schemas.openxmlformats.org/officeDocument/2006/relationships/tags" Target="../tags/tag184.xml"/><Relationship Id="rId58" Type="http://schemas.openxmlformats.org/officeDocument/2006/relationships/tags" Target="../tags/tag183.xml"/><Relationship Id="rId57" Type="http://schemas.openxmlformats.org/officeDocument/2006/relationships/tags" Target="../tags/tag182.xml"/><Relationship Id="rId56" Type="http://schemas.openxmlformats.org/officeDocument/2006/relationships/tags" Target="../tags/tag181.xml"/><Relationship Id="rId55" Type="http://schemas.openxmlformats.org/officeDocument/2006/relationships/tags" Target="../tags/tag180.xml"/><Relationship Id="rId54" Type="http://schemas.openxmlformats.org/officeDocument/2006/relationships/tags" Target="../tags/tag179.xml"/><Relationship Id="rId53" Type="http://schemas.openxmlformats.org/officeDocument/2006/relationships/tags" Target="../tags/tag178.xml"/><Relationship Id="rId52" Type="http://schemas.openxmlformats.org/officeDocument/2006/relationships/tags" Target="../tags/tag177.xml"/><Relationship Id="rId51" Type="http://schemas.openxmlformats.org/officeDocument/2006/relationships/tags" Target="../tags/tag176.xml"/><Relationship Id="rId50" Type="http://schemas.openxmlformats.org/officeDocument/2006/relationships/tags" Target="../tags/tag175.xml"/><Relationship Id="rId5" Type="http://schemas.openxmlformats.org/officeDocument/2006/relationships/tags" Target="../tags/tag132.xml"/><Relationship Id="rId49" Type="http://schemas.openxmlformats.org/officeDocument/2006/relationships/tags" Target="../tags/tag174.xml"/><Relationship Id="rId48" Type="http://schemas.openxmlformats.org/officeDocument/2006/relationships/tags" Target="../tags/tag173.xml"/><Relationship Id="rId47" Type="http://schemas.openxmlformats.org/officeDocument/2006/relationships/tags" Target="../tags/tag172.xml"/><Relationship Id="rId46" Type="http://schemas.openxmlformats.org/officeDocument/2006/relationships/tags" Target="../tags/tag171.xml"/><Relationship Id="rId45" Type="http://schemas.openxmlformats.org/officeDocument/2006/relationships/tags" Target="../tags/tag170.xml"/><Relationship Id="rId44" Type="http://schemas.openxmlformats.org/officeDocument/2006/relationships/tags" Target="../tags/tag169.xml"/><Relationship Id="rId43" Type="http://schemas.openxmlformats.org/officeDocument/2006/relationships/tags" Target="../tags/tag168.xml"/><Relationship Id="rId42" Type="http://schemas.openxmlformats.org/officeDocument/2006/relationships/tags" Target="../tags/tag167.xml"/><Relationship Id="rId41" Type="http://schemas.openxmlformats.org/officeDocument/2006/relationships/tags" Target="../tags/tag166.xml"/><Relationship Id="rId40" Type="http://schemas.openxmlformats.org/officeDocument/2006/relationships/tags" Target="../tags/tag165.xml"/><Relationship Id="rId4" Type="http://schemas.openxmlformats.org/officeDocument/2006/relationships/tags" Target="../tags/tag131.xml"/><Relationship Id="rId39" Type="http://schemas.openxmlformats.org/officeDocument/2006/relationships/tags" Target="../tags/tag164.xml"/><Relationship Id="rId38" Type="http://schemas.openxmlformats.org/officeDocument/2006/relationships/tags" Target="../tags/tag163.xml"/><Relationship Id="rId37" Type="http://schemas.openxmlformats.org/officeDocument/2006/relationships/tags" Target="../tags/tag162.xml"/><Relationship Id="rId36" Type="http://schemas.openxmlformats.org/officeDocument/2006/relationships/tags" Target="../tags/tag161.xml"/><Relationship Id="rId35" Type="http://schemas.openxmlformats.org/officeDocument/2006/relationships/tags" Target="../tags/tag160.xml"/><Relationship Id="rId34" Type="http://schemas.openxmlformats.org/officeDocument/2006/relationships/tags" Target="../tags/tag159.xml"/><Relationship Id="rId33" Type="http://schemas.openxmlformats.org/officeDocument/2006/relationships/tags" Target="../tags/tag158.xml"/><Relationship Id="rId32" Type="http://schemas.openxmlformats.org/officeDocument/2006/relationships/tags" Target="../tags/tag157.xml"/><Relationship Id="rId31" Type="http://schemas.openxmlformats.org/officeDocument/2006/relationships/tags" Target="../tags/tag156.xml"/><Relationship Id="rId30" Type="http://schemas.openxmlformats.org/officeDocument/2006/relationships/tags" Target="../tags/tag155.xml"/><Relationship Id="rId3" Type="http://schemas.openxmlformats.org/officeDocument/2006/relationships/image" Target="../media/image40.png"/><Relationship Id="rId29" Type="http://schemas.openxmlformats.org/officeDocument/2006/relationships/tags" Target="../tags/tag154.xml"/><Relationship Id="rId28" Type="http://schemas.openxmlformats.org/officeDocument/2006/relationships/tags" Target="../tags/tag153.xml"/><Relationship Id="rId27" Type="http://schemas.openxmlformats.org/officeDocument/2006/relationships/tags" Target="../tags/tag152.xml"/><Relationship Id="rId26" Type="http://schemas.openxmlformats.org/officeDocument/2006/relationships/tags" Target="../tags/tag151.xml"/><Relationship Id="rId25" Type="http://schemas.openxmlformats.org/officeDocument/2006/relationships/tags" Target="../tags/tag150.xml"/><Relationship Id="rId24" Type="http://schemas.openxmlformats.org/officeDocument/2006/relationships/tags" Target="../tags/tag149.xml"/><Relationship Id="rId23" Type="http://schemas.openxmlformats.org/officeDocument/2006/relationships/tags" Target="../tags/tag148.xml"/><Relationship Id="rId22" Type="http://schemas.openxmlformats.org/officeDocument/2006/relationships/tags" Target="../tags/tag147.xml"/><Relationship Id="rId21" Type="http://schemas.openxmlformats.org/officeDocument/2006/relationships/tags" Target="../tags/tag146.xml"/><Relationship Id="rId20" Type="http://schemas.openxmlformats.org/officeDocument/2006/relationships/tags" Target="../tags/tag145.xml"/><Relationship Id="rId2" Type="http://schemas.openxmlformats.org/officeDocument/2006/relationships/tags" Target="../tags/tag130.xml"/><Relationship Id="rId19" Type="http://schemas.openxmlformats.org/officeDocument/2006/relationships/tags" Target="../tags/tag144.xml"/><Relationship Id="rId18" Type="http://schemas.openxmlformats.org/officeDocument/2006/relationships/tags" Target="../tags/tag143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8" Type="http://schemas.openxmlformats.org/officeDocument/2006/relationships/notesSlide" Target="../notesSlides/notesSlide30.xml"/><Relationship Id="rId107" Type="http://schemas.openxmlformats.org/officeDocument/2006/relationships/slideLayout" Target="../slideLayouts/slideLayout4.xml"/><Relationship Id="rId106" Type="http://schemas.openxmlformats.org/officeDocument/2006/relationships/tags" Target="../tags/tag225.xml"/><Relationship Id="rId105" Type="http://schemas.openxmlformats.org/officeDocument/2006/relationships/tags" Target="../tags/tag224.xml"/><Relationship Id="rId104" Type="http://schemas.openxmlformats.org/officeDocument/2006/relationships/tags" Target="../tags/tag223.xml"/><Relationship Id="rId103" Type="http://schemas.openxmlformats.org/officeDocument/2006/relationships/tags" Target="../tags/tag222.xml"/><Relationship Id="rId102" Type="http://schemas.openxmlformats.org/officeDocument/2006/relationships/tags" Target="../tags/tag221.xml"/><Relationship Id="rId101" Type="http://schemas.openxmlformats.org/officeDocument/2006/relationships/tags" Target="../tags/tag220.xml"/><Relationship Id="rId100" Type="http://schemas.openxmlformats.org/officeDocument/2006/relationships/image" Target="../media/image48.png"/><Relationship Id="rId10" Type="http://schemas.openxmlformats.org/officeDocument/2006/relationships/tags" Target="../tags/tag135.xml"/><Relationship Id="rId1" Type="http://schemas.openxmlformats.org/officeDocument/2006/relationships/tags" Target="../tags/tag1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33.xml.rels><?xml version="1.0" encoding="UTF-8" standalone="yes"?>
<Relationships xmlns="http://schemas.openxmlformats.org/package/2006/relationships"><Relationship Id="rId94" Type="http://schemas.openxmlformats.org/officeDocument/2006/relationships/notesSlide" Target="../notesSlides/notesSlide33.xml"/><Relationship Id="rId93" Type="http://schemas.openxmlformats.org/officeDocument/2006/relationships/slideLayout" Target="../slideLayouts/slideLayout4.xml"/><Relationship Id="rId92" Type="http://schemas.openxmlformats.org/officeDocument/2006/relationships/image" Target="../media/image69.png"/><Relationship Id="rId91" Type="http://schemas.openxmlformats.org/officeDocument/2006/relationships/tags" Target="../tags/tag298.xml"/><Relationship Id="rId90" Type="http://schemas.openxmlformats.org/officeDocument/2006/relationships/tags" Target="../tags/tag297.xml"/><Relationship Id="rId9" Type="http://schemas.openxmlformats.org/officeDocument/2006/relationships/tags" Target="../tags/tag236.xml"/><Relationship Id="rId89" Type="http://schemas.openxmlformats.org/officeDocument/2006/relationships/tags" Target="../tags/tag296.xml"/><Relationship Id="rId88" Type="http://schemas.openxmlformats.org/officeDocument/2006/relationships/image" Target="../media/image68.png"/><Relationship Id="rId87" Type="http://schemas.openxmlformats.org/officeDocument/2006/relationships/tags" Target="../tags/tag295.xml"/><Relationship Id="rId86" Type="http://schemas.openxmlformats.org/officeDocument/2006/relationships/tags" Target="../tags/tag294.xml"/><Relationship Id="rId85" Type="http://schemas.openxmlformats.org/officeDocument/2006/relationships/tags" Target="../tags/tag293.xml"/><Relationship Id="rId84" Type="http://schemas.openxmlformats.org/officeDocument/2006/relationships/tags" Target="../tags/tag292.xml"/><Relationship Id="rId83" Type="http://schemas.openxmlformats.org/officeDocument/2006/relationships/image" Target="../media/image67.png"/><Relationship Id="rId82" Type="http://schemas.openxmlformats.org/officeDocument/2006/relationships/tags" Target="../tags/tag291.xml"/><Relationship Id="rId81" Type="http://schemas.openxmlformats.org/officeDocument/2006/relationships/tags" Target="../tags/tag290.xml"/><Relationship Id="rId80" Type="http://schemas.openxmlformats.org/officeDocument/2006/relationships/tags" Target="../tags/tag289.xml"/><Relationship Id="rId8" Type="http://schemas.openxmlformats.org/officeDocument/2006/relationships/tags" Target="../tags/tag235.xml"/><Relationship Id="rId79" Type="http://schemas.openxmlformats.org/officeDocument/2006/relationships/tags" Target="../tags/tag288.xml"/><Relationship Id="rId78" Type="http://schemas.openxmlformats.org/officeDocument/2006/relationships/tags" Target="../tags/tag287.xml"/><Relationship Id="rId77" Type="http://schemas.openxmlformats.org/officeDocument/2006/relationships/image" Target="../media/image66.png"/><Relationship Id="rId76" Type="http://schemas.openxmlformats.org/officeDocument/2006/relationships/image" Target="../media/image65.png"/><Relationship Id="rId75" Type="http://schemas.openxmlformats.org/officeDocument/2006/relationships/image" Target="../media/image64.png"/><Relationship Id="rId74" Type="http://schemas.openxmlformats.org/officeDocument/2006/relationships/tags" Target="../tags/tag286.xml"/><Relationship Id="rId73" Type="http://schemas.openxmlformats.org/officeDocument/2006/relationships/tags" Target="../tags/tag285.xml"/><Relationship Id="rId72" Type="http://schemas.openxmlformats.org/officeDocument/2006/relationships/image" Target="../media/image63.png"/><Relationship Id="rId71" Type="http://schemas.openxmlformats.org/officeDocument/2006/relationships/image" Target="../media/image62.png"/><Relationship Id="rId70" Type="http://schemas.openxmlformats.org/officeDocument/2006/relationships/image" Target="../media/image61.png"/><Relationship Id="rId7" Type="http://schemas.openxmlformats.org/officeDocument/2006/relationships/tags" Target="../tags/tag234.xml"/><Relationship Id="rId69" Type="http://schemas.openxmlformats.org/officeDocument/2006/relationships/image" Target="../media/image60.png"/><Relationship Id="rId68" Type="http://schemas.openxmlformats.org/officeDocument/2006/relationships/tags" Target="../tags/tag284.xml"/><Relationship Id="rId67" Type="http://schemas.openxmlformats.org/officeDocument/2006/relationships/image" Target="../media/image59.png"/><Relationship Id="rId66" Type="http://schemas.openxmlformats.org/officeDocument/2006/relationships/tags" Target="../tags/tag283.xml"/><Relationship Id="rId65" Type="http://schemas.openxmlformats.org/officeDocument/2006/relationships/image" Target="../media/image58.png"/><Relationship Id="rId64" Type="http://schemas.openxmlformats.org/officeDocument/2006/relationships/tags" Target="../tags/tag282.xml"/><Relationship Id="rId63" Type="http://schemas.openxmlformats.org/officeDocument/2006/relationships/image" Target="../media/image57.png"/><Relationship Id="rId62" Type="http://schemas.openxmlformats.org/officeDocument/2006/relationships/tags" Target="../tags/tag281.xml"/><Relationship Id="rId61" Type="http://schemas.openxmlformats.org/officeDocument/2006/relationships/tags" Target="../tags/tag280.xml"/><Relationship Id="rId60" Type="http://schemas.openxmlformats.org/officeDocument/2006/relationships/image" Target="../media/image56.png"/><Relationship Id="rId6" Type="http://schemas.openxmlformats.org/officeDocument/2006/relationships/tags" Target="../tags/tag233.xml"/><Relationship Id="rId59" Type="http://schemas.openxmlformats.org/officeDocument/2006/relationships/tags" Target="../tags/tag279.xml"/><Relationship Id="rId58" Type="http://schemas.openxmlformats.org/officeDocument/2006/relationships/tags" Target="../tags/tag278.xml"/><Relationship Id="rId57" Type="http://schemas.openxmlformats.org/officeDocument/2006/relationships/image" Target="../media/image55.png"/><Relationship Id="rId56" Type="http://schemas.openxmlformats.org/officeDocument/2006/relationships/tags" Target="../tags/tag277.xml"/><Relationship Id="rId55" Type="http://schemas.openxmlformats.org/officeDocument/2006/relationships/image" Target="../media/image54.png"/><Relationship Id="rId54" Type="http://schemas.openxmlformats.org/officeDocument/2006/relationships/tags" Target="../tags/tag276.xml"/><Relationship Id="rId53" Type="http://schemas.openxmlformats.org/officeDocument/2006/relationships/image" Target="../media/image53.png"/><Relationship Id="rId52" Type="http://schemas.openxmlformats.org/officeDocument/2006/relationships/tags" Target="../tags/tag275.xml"/><Relationship Id="rId51" Type="http://schemas.openxmlformats.org/officeDocument/2006/relationships/image" Target="../media/image52.png"/><Relationship Id="rId50" Type="http://schemas.openxmlformats.org/officeDocument/2006/relationships/tags" Target="../tags/tag274.xml"/><Relationship Id="rId5" Type="http://schemas.openxmlformats.org/officeDocument/2006/relationships/tags" Target="../tags/tag232.xml"/><Relationship Id="rId49" Type="http://schemas.openxmlformats.org/officeDocument/2006/relationships/tags" Target="../tags/tag273.xml"/><Relationship Id="rId48" Type="http://schemas.openxmlformats.org/officeDocument/2006/relationships/tags" Target="../tags/tag272.xml"/><Relationship Id="rId47" Type="http://schemas.openxmlformats.org/officeDocument/2006/relationships/tags" Target="../tags/tag271.xml"/><Relationship Id="rId46" Type="http://schemas.openxmlformats.org/officeDocument/2006/relationships/tags" Target="../tags/tag270.xml"/><Relationship Id="rId45" Type="http://schemas.openxmlformats.org/officeDocument/2006/relationships/tags" Target="../tags/tag269.xml"/><Relationship Id="rId44" Type="http://schemas.openxmlformats.org/officeDocument/2006/relationships/tags" Target="../tags/tag268.xml"/><Relationship Id="rId43" Type="http://schemas.openxmlformats.org/officeDocument/2006/relationships/tags" Target="../tags/tag267.xml"/><Relationship Id="rId42" Type="http://schemas.openxmlformats.org/officeDocument/2006/relationships/image" Target="../media/image51.jpeg"/><Relationship Id="rId41" Type="http://schemas.openxmlformats.org/officeDocument/2006/relationships/image" Target="../media/image50.jpeg"/><Relationship Id="rId40" Type="http://schemas.openxmlformats.org/officeDocument/2006/relationships/tags" Target="../tags/tag266.xml"/><Relationship Id="rId4" Type="http://schemas.openxmlformats.org/officeDocument/2006/relationships/tags" Target="../tags/tag231.xml"/><Relationship Id="rId39" Type="http://schemas.openxmlformats.org/officeDocument/2006/relationships/tags" Target="../tags/tag265.xml"/><Relationship Id="rId38" Type="http://schemas.openxmlformats.org/officeDocument/2006/relationships/tags" Target="../tags/tag264.xml"/><Relationship Id="rId37" Type="http://schemas.openxmlformats.org/officeDocument/2006/relationships/tags" Target="../tags/tag263.xml"/><Relationship Id="rId36" Type="http://schemas.openxmlformats.org/officeDocument/2006/relationships/tags" Target="../tags/tag262.xml"/><Relationship Id="rId35" Type="http://schemas.openxmlformats.org/officeDocument/2006/relationships/tags" Target="../tags/tag261.xml"/><Relationship Id="rId34" Type="http://schemas.openxmlformats.org/officeDocument/2006/relationships/tags" Target="../tags/tag260.xml"/><Relationship Id="rId33" Type="http://schemas.openxmlformats.org/officeDocument/2006/relationships/tags" Target="../tags/tag259.xml"/><Relationship Id="rId32" Type="http://schemas.openxmlformats.org/officeDocument/2006/relationships/tags" Target="../tags/tag258.xml"/><Relationship Id="rId31" Type="http://schemas.openxmlformats.org/officeDocument/2006/relationships/tags" Target="../tags/tag257.xml"/><Relationship Id="rId30" Type="http://schemas.openxmlformats.org/officeDocument/2006/relationships/tags" Target="../tags/tag256.xml"/><Relationship Id="rId3" Type="http://schemas.openxmlformats.org/officeDocument/2006/relationships/tags" Target="../tags/tag230.xml"/><Relationship Id="rId29" Type="http://schemas.openxmlformats.org/officeDocument/2006/relationships/tags" Target="../tags/tag255.xml"/><Relationship Id="rId28" Type="http://schemas.openxmlformats.org/officeDocument/2006/relationships/tags" Target="../tags/tag254.xml"/><Relationship Id="rId27" Type="http://schemas.openxmlformats.org/officeDocument/2006/relationships/tags" Target="../tags/tag253.xml"/><Relationship Id="rId26" Type="http://schemas.openxmlformats.org/officeDocument/2006/relationships/tags" Target="../tags/tag252.xml"/><Relationship Id="rId25" Type="http://schemas.openxmlformats.org/officeDocument/2006/relationships/tags" Target="../tags/tag251.xml"/><Relationship Id="rId24" Type="http://schemas.openxmlformats.org/officeDocument/2006/relationships/tags" Target="../tags/tag250.xml"/><Relationship Id="rId23" Type="http://schemas.openxmlformats.org/officeDocument/2006/relationships/tags" Target="../tags/tag249.xml"/><Relationship Id="rId22" Type="http://schemas.openxmlformats.org/officeDocument/2006/relationships/tags" Target="../tags/tag248.xml"/><Relationship Id="rId21" Type="http://schemas.openxmlformats.org/officeDocument/2006/relationships/tags" Target="../tags/tag247.xml"/><Relationship Id="rId20" Type="http://schemas.openxmlformats.org/officeDocument/2006/relationships/image" Target="../media/image49.png"/><Relationship Id="rId2" Type="http://schemas.openxmlformats.org/officeDocument/2006/relationships/tags" Target="../tags/tag229.xml"/><Relationship Id="rId19" Type="http://schemas.openxmlformats.org/officeDocument/2006/relationships/tags" Target="../tags/tag246.xml"/><Relationship Id="rId18" Type="http://schemas.openxmlformats.org/officeDocument/2006/relationships/tags" Target="../tags/tag245.xml"/><Relationship Id="rId17" Type="http://schemas.openxmlformats.org/officeDocument/2006/relationships/tags" Target="../tags/tag244.xml"/><Relationship Id="rId16" Type="http://schemas.openxmlformats.org/officeDocument/2006/relationships/tags" Target="../tags/tag243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tags" Target="../tags/tag240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0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0.png"/><Relationship Id="rId1" Type="http://schemas.openxmlformats.org/officeDocument/2006/relationships/tags" Target="../tags/tag30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123770"/>
            <a:ext cx="12192000" cy="47342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3"/>
          <p:cNvSpPr txBox="1"/>
          <p:nvPr/>
        </p:nvSpPr>
        <p:spPr>
          <a:xfrm>
            <a:off x="4582830" y="2788446"/>
            <a:ext cx="2441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F0AC0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dhabi" panose="01000000000000000000" pitchFamily="2" charset="-78"/>
              </a:rPr>
              <a:t>2026</a:t>
            </a:r>
            <a:r>
              <a:rPr lang="zh-CN" altLang="en-US" sz="2000" b="1" kern="1200" dirty="0" smtClean="0">
                <a:solidFill>
                  <a:srgbClr val="F0AC0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dhabi" panose="01000000000000000000" pitchFamily="2" charset="-78"/>
              </a:rPr>
              <a:t>年</a:t>
            </a:r>
            <a:r>
              <a:rPr lang="en-US" altLang="zh-CN" sz="2000" b="1" kern="1200" dirty="0" smtClean="0">
                <a:solidFill>
                  <a:srgbClr val="F0AC0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dhabi" panose="01000000000000000000" pitchFamily="2" charset="-78"/>
              </a:rPr>
              <a:t>1</a:t>
            </a:r>
            <a:r>
              <a:rPr lang="zh-CN" altLang="en-US" sz="2000" b="1" kern="1200" dirty="0" smtClean="0">
                <a:solidFill>
                  <a:srgbClr val="F0AC0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dhabi" panose="01000000000000000000" pitchFamily="2" charset="-78"/>
              </a:rPr>
              <a:t>月</a:t>
            </a:r>
            <a:r>
              <a:rPr lang="en-US" altLang="zh-CN" sz="2000" b="1" kern="1200" dirty="0" smtClean="0">
                <a:solidFill>
                  <a:srgbClr val="F0AC0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dhabi" panose="01000000000000000000" pitchFamily="2" charset="-78"/>
              </a:rPr>
              <a:t>22</a:t>
            </a:r>
            <a:r>
              <a:rPr lang="zh-CN" altLang="en-US" sz="2000" b="1" kern="1200" dirty="0" smtClean="0">
                <a:solidFill>
                  <a:srgbClr val="F0AC0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dhabi" panose="01000000000000000000" pitchFamily="2" charset="-78"/>
              </a:rPr>
              <a:t>日</a:t>
            </a:r>
            <a:endParaRPr lang="zh-CN" altLang="en-US" sz="2000" b="1" kern="1200" dirty="0">
              <a:solidFill>
                <a:srgbClr val="F0AC0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dhabi" panose="01000000000000000000" pitchFamily="2" charset="-7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8870" y="1309370"/>
            <a:ext cx="66522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F5A2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华润怡宝</a:t>
            </a:r>
            <a:r>
              <a:rPr lang="en-US" altLang="zh-CN" sz="4000" b="1" dirty="0" smtClean="0">
                <a:solidFill>
                  <a:srgbClr val="F5A2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r>
              <a:rPr lang="zh-CN" altLang="en-US" sz="4000" b="1" dirty="0" smtClean="0">
                <a:solidFill>
                  <a:srgbClr val="F5A2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4000" b="1" dirty="0" smtClean="0">
                <a:solidFill>
                  <a:srgbClr val="F5A2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三期</a:t>
            </a:r>
            <a:endParaRPr lang="zh-CN" altLang="en-US" sz="4000" b="1" dirty="0" smtClean="0">
              <a:solidFill>
                <a:srgbClr val="F5A21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b="1" dirty="0">
                <a:solidFill>
                  <a:srgbClr val="F5A2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上线评审</a:t>
            </a:r>
            <a:r>
              <a:rPr lang="zh-CN" altLang="en-US" sz="4000" b="1" dirty="0">
                <a:solidFill>
                  <a:srgbClr val="F5A2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zh-CN" altLang="en-US" sz="4000" b="1" dirty="0">
              <a:solidFill>
                <a:srgbClr val="F5A21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矩形 2"/>
          <p:cNvSpPr/>
          <p:nvPr/>
        </p:nvSpPr>
        <p:spPr>
          <a:xfrm>
            <a:off x="2372678" y="4176028"/>
            <a:ext cx="7515225" cy="792162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6" name="矩形 3"/>
          <p:cNvSpPr/>
          <p:nvPr/>
        </p:nvSpPr>
        <p:spPr>
          <a:xfrm>
            <a:off x="2371090" y="2940050"/>
            <a:ext cx="7515225" cy="792480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7" name="矩形 4"/>
          <p:cNvSpPr/>
          <p:nvPr/>
        </p:nvSpPr>
        <p:spPr>
          <a:xfrm>
            <a:off x="2367915" y="4176028"/>
            <a:ext cx="868363" cy="792162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3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8" name="矩形 5"/>
          <p:cNvSpPr/>
          <p:nvPr/>
        </p:nvSpPr>
        <p:spPr>
          <a:xfrm>
            <a:off x="2367915" y="2940214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2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9" name="文本框 47"/>
          <p:cNvSpPr txBox="1">
            <a:spLocks noChangeArrowheads="1"/>
          </p:cNvSpPr>
          <p:nvPr/>
        </p:nvSpPr>
        <p:spPr bwMode="auto">
          <a:xfrm>
            <a:off x="3268028" y="4337416"/>
            <a:ext cx="645795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下一步工作计划与分工确认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文本框 48"/>
          <p:cNvSpPr txBox="1">
            <a:spLocks noChangeArrowheads="1"/>
          </p:cNvSpPr>
          <p:nvPr/>
        </p:nvSpPr>
        <p:spPr bwMode="auto">
          <a:xfrm>
            <a:off x="3268028" y="3125952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系统功能与流程介绍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1" name="矩形 10"/>
          <p:cNvSpPr/>
          <p:nvPr/>
        </p:nvSpPr>
        <p:spPr>
          <a:xfrm>
            <a:off x="3236278" y="1688943"/>
            <a:ext cx="6650037" cy="792163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schemeClr val="tx1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82" name="矩形 11"/>
          <p:cNvSpPr/>
          <p:nvPr/>
        </p:nvSpPr>
        <p:spPr>
          <a:xfrm>
            <a:off x="2367915" y="1688943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1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83" name="文本框 48"/>
          <p:cNvSpPr txBox="1">
            <a:spLocks noChangeArrowheads="1"/>
          </p:cNvSpPr>
          <p:nvPr/>
        </p:nvSpPr>
        <p:spPr bwMode="auto">
          <a:xfrm>
            <a:off x="3268028" y="1874681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系统上线准备情况汇报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8325" y="2706370"/>
            <a:ext cx="8680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TMS</a:t>
            </a:r>
            <a:r>
              <a:rPr lang="zh-CN" altLang="en-US" dirty="0">
                <a:sym typeface="+mn-ea"/>
              </a:rPr>
              <a:t>系统上线准备情况汇报：具备上线</a:t>
            </a:r>
            <a:r>
              <a:rPr lang="zh-CN" altLang="en-US" dirty="0">
                <a:sym typeface="+mn-ea"/>
              </a:rPr>
              <a:t>条件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0675" y="1053465"/>
            <a:ext cx="9571990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、上线前准备事项：权限点梳理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、上线前培训：针对地址修改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回单管理，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、上线后培训：针对三期计提结算管理，待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、三期上线前初始化：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4.1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、地址修改：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流程搭建，发版后搭建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4.2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、内领单地址维护，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4.3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、收货地电子围栏维护，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4.4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、费用相关初始化，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4.5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、回单管理白名单收集，进行中，预计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、培训手册，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、上线方案，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已完成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、上线评审，进行中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、历史数据备份，暂无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TMS</a:t>
            </a:r>
            <a:r>
              <a:rPr lang="zh-CN" altLang="en-US" dirty="0">
                <a:sym typeface="+mn-ea"/>
              </a:rPr>
              <a:t>系统上线准备情况汇报：上线事项跟进</a:t>
            </a:r>
            <a:r>
              <a:rPr lang="zh-CN" altLang="en-US" dirty="0">
                <a:sym typeface="+mn-ea"/>
              </a:rPr>
              <a:t>表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0" y="555625"/>
          <a:ext cx="12192635" cy="6302375"/>
        </p:xfrm>
        <a:graphic>
          <a:graphicData uri="http://schemas.openxmlformats.org/drawingml/2006/table">
            <a:tbl>
              <a:tblPr/>
              <a:tblGrid>
                <a:gridCol w="753110"/>
                <a:gridCol w="4216400"/>
                <a:gridCol w="1438275"/>
                <a:gridCol w="751840"/>
                <a:gridCol w="1703070"/>
                <a:gridCol w="1824990"/>
                <a:gridCol w="751840"/>
                <a:gridCol w="753110"/>
              </a:tblGrid>
              <a:tr h="167005">
                <a:tc gridSpan="8"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华润怡宝</a:t>
                      </a:r>
                      <a:r>
                        <a:rPr lang="en-US" altLang="zh-CN" sz="10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TMS</a:t>
                      </a:r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三期项目生产环境上线跟踪表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事项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开始日期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结束日期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主责人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配合人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上线前准备事项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新功能点确认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陈胜显、欧阳雯雯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王忠宝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创建新功能菜单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--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挂角色包下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角色包配置（内外部用户权限验证）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操作手册准备（总部、大区、财务、工厂、经销商、物流商、司机）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测试用例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冯佑甯、李佳豪、郭曼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陈胜显、欧阳雯雯、王忠宝、郭曼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上线评审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王忠宝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发版前培训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内容：地址修改、回单管理、对象：物流商、司机、形式：线上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陈胜显、欧阳雯雯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内容：回单管理、对象：经销商、形式：线上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舒超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1.6.3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上线邮件通知（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TMS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功能发布公告）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发版后培训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BA02"/>
                    </a:solidFill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内容：三期、地址修改、回单管理（白名单维护）、对象：大区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财务、形式：线下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线上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冯佑甯、郭曼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陈胜显、欧阳雯雯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第一批培训（山东）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黑吉辽、京津、晋冀、山东、发展、川云、渝贵、陕西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第二批培训（长沙）（沪浙、豫皖、江苏、湖南、湖北、赣闽）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第三批培训（深圳）（桂海、深莞、广佛、粤东、粤西、粤北）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内容：客租仓管理、对象：大区（大区对经销商转训）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工厂、形式：线上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罗雄、冯佑甯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三期费用管理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费率审核人员配置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费率导入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进行中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费率审核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进行中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费用科目映射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财务审批人员配置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基准油价配置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物流商收款账户配置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回单通知人员设置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车辆信息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司机档案更新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物流商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核心功能准备事项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地址修改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审批流程搭建（确定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发布生产）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发布后进行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内领单地址维护（维护缺少的详细地址）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完成收货地电子围栏维护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完成车辆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GPS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安装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核心功能准备事项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回单管理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、大区提供历史白名单客户名单；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、由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DMS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统一处理；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、新客户创建大区自行勾选；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郭思宽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进行中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预计</a:t>
                      </a:r>
                      <a:r>
                        <a:rPr 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</a:t>
                      </a:r>
                      <a:endParaRPr 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实际收货方联系人手机号检查（确保可以收到短信）</a:t>
                      </a:r>
                      <a:endParaRPr lang="zh-CN" altLang="en-US" sz="8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舒超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各大区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进行中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核心功能准备事项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客租仓管理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历史数据处理，整理出需要重新推送签收的在途运单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吴芳晓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TMS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中维护好客租仓电子围栏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罗雄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历史数据处理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暂无，做好历史数据备份即可（历史计提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结算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费率数据）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庞旅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完成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异常处理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若遇到对系统功能影响较大的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bug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，版本回滚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庞旅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上线支持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35890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微信运维群里响应物流商问题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上线当天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进行中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525">
                <a:tc>
                  <a:txBody>
                    <a:bodyPr/>
                    <a:p>
                      <a:pPr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拉专属群，润工作中响应大区问题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上线前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冯佑甯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陈胜显、郭曼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待进行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矩形 2"/>
          <p:cNvSpPr/>
          <p:nvPr/>
        </p:nvSpPr>
        <p:spPr>
          <a:xfrm>
            <a:off x="2372678" y="4176028"/>
            <a:ext cx="7515225" cy="792162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6" name="矩形 3"/>
          <p:cNvSpPr/>
          <p:nvPr/>
        </p:nvSpPr>
        <p:spPr>
          <a:xfrm>
            <a:off x="2371090" y="2940050"/>
            <a:ext cx="7515225" cy="792480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7" name="矩形 4"/>
          <p:cNvSpPr/>
          <p:nvPr/>
        </p:nvSpPr>
        <p:spPr>
          <a:xfrm>
            <a:off x="2367915" y="4176028"/>
            <a:ext cx="868363" cy="792162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3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8" name="矩形 5"/>
          <p:cNvSpPr/>
          <p:nvPr/>
        </p:nvSpPr>
        <p:spPr>
          <a:xfrm>
            <a:off x="2367915" y="2940214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2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9" name="文本框 47"/>
          <p:cNvSpPr txBox="1">
            <a:spLocks noChangeArrowheads="1"/>
          </p:cNvSpPr>
          <p:nvPr/>
        </p:nvSpPr>
        <p:spPr bwMode="auto">
          <a:xfrm>
            <a:off x="3268028" y="4337416"/>
            <a:ext cx="645795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下一步工作计划与分工确认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文本框 48"/>
          <p:cNvSpPr txBox="1">
            <a:spLocks noChangeArrowheads="1"/>
          </p:cNvSpPr>
          <p:nvPr/>
        </p:nvSpPr>
        <p:spPr bwMode="auto">
          <a:xfrm>
            <a:off x="3268028" y="3125952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系统功能与流程介绍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板块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1" name="矩形 10"/>
          <p:cNvSpPr/>
          <p:nvPr/>
        </p:nvSpPr>
        <p:spPr>
          <a:xfrm>
            <a:off x="3236278" y="1688943"/>
            <a:ext cx="6650037" cy="792163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schemeClr val="tx1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82" name="矩形 11"/>
          <p:cNvSpPr/>
          <p:nvPr/>
        </p:nvSpPr>
        <p:spPr>
          <a:xfrm>
            <a:off x="2367915" y="1688943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1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83" name="文本框 48"/>
          <p:cNvSpPr txBox="1">
            <a:spLocks noChangeArrowheads="1"/>
          </p:cNvSpPr>
          <p:nvPr/>
        </p:nvSpPr>
        <p:spPr bwMode="auto">
          <a:xfrm>
            <a:off x="3268028" y="1874681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系统上线准备情况汇报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8325" y="2706370"/>
            <a:ext cx="8680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项目背景及概述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195" name="圆角矩形 194"/>
          <p:cNvSpPr/>
          <p:nvPr>
            <p:custDataLst>
              <p:tags r:id="rId1"/>
            </p:custDataLst>
          </p:nvPr>
        </p:nvSpPr>
        <p:spPr>
          <a:xfrm>
            <a:off x="7170420" y="1975485"/>
            <a:ext cx="4364990" cy="40690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Arial" panose="020B0604020202020204" pitchFamily="34" charset="0"/>
            </a:pP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华润饮料（控股）有限公司是华润集团旗下专业即饮软饮企业，主营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怡寶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牌包装饮用水。公司是《瓶装饮用纯净水》国家标准的主要发起和起草单位之一，产品技术先进，质量超越国家标准。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  <a:cs typeface="宋体" panose="02010600030101010101" pitchFamily="2" charset="-122"/>
              <a:sym typeface="思源黑体 CN Normal" panose="020B0400000000000000" pitchFamily="34" charset="-122"/>
            </a:endParaRPr>
          </a:p>
          <a:p>
            <a:pPr algn="just">
              <a:buFont typeface="Arial" panose="020B0604020202020204" pitchFamily="34" charset="0"/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截至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2023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月，物流管理系统已在全国上线，覆盖排运、预约、轮候、发货、签收全流程。支持多式联运（汽运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海运、汽运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铁路）及跨组织、跨系统的业务协同，满足多元化业务场景需求</a:t>
            </a:r>
            <a:endParaRPr lang="zh-CN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2" name="任意多边形 1"/>
          <p:cNvSpPr/>
          <p:nvPr>
            <p:custDataLst>
              <p:tags r:id="rId2"/>
            </p:custDataLst>
          </p:nvPr>
        </p:nvSpPr>
        <p:spPr bwMode="auto">
          <a:xfrm>
            <a:off x="5065626" y="2541308"/>
            <a:ext cx="2060363" cy="780789"/>
          </a:xfrm>
          <a:custGeom>
            <a:avLst/>
            <a:gdLst>
              <a:gd name="connsiteX0" fmla="*/ 3140 w 3547"/>
              <a:gd name="connsiteY0" fmla="*/ 0 h 1343"/>
              <a:gd name="connsiteX1" fmla="*/ 3016 w 3547"/>
              <a:gd name="connsiteY1" fmla="*/ 0 h 1343"/>
              <a:gd name="connsiteX2" fmla="*/ 634 w 3547"/>
              <a:gd name="connsiteY2" fmla="*/ 0 h 1343"/>
              <a:gd name="connsiteX3" fmla="*/ 0 w 3547"/>
              <a:gd name="connsiteY3" fmla="*/ 607 h 1343"/>
              <a:gd name="connsiteX4" fmla="*/ 634 w 3547"/>
              <a:gd name="connsiteY4" fmla="*/ 1213 h 1343"/>
              <a:gd name="connsiteX5" fmla="*/ 3016 w 3547"/>
              <a:gd name="connsiteY5" fmla="*/ 1213 h 1343"/>
              <a:gd name="connsiteX6" fmla="*/ 3218 w 3547"/>
              <a:gd name="connsiteY6" fmla="*/ 1213 h 1343"/>
              <a:gd name="connsiteX7" fmla="*/ 3547 w 3547"/>
              <a:gd name="connsiteY7" fmla="*/ 1341 h 1343"/>
              <a:gd name="connsiteX8" fmla="*/ 3547 w 3547"/>
              <a:gd name="connsiteY8" fmla="*/ 177 h 1343"/>
              <a:gd name="connsiteX9" fmla="*/ 3140 w 3547"/>
              <a:gd name="connsiteY9" fmla="*/ 0 h 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547" h="1344">
                <a:moveTo>
                  <a:pt x="3140" y="0"/>
                </a:moveTo>
                <a:cubicBezTo>
                  <a:pt x="3016" y="0"/>
                  <a:pt x="3016" y="0"/>
                  <a:pt x="3016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0" y="607"/>
                  <a:pt x="0" y="607"/>
                  <a:pt x="0" y="607"/>
                </a:cubicBezTo>
                <a:cubicBezTo>
                  <a:pt x="634" y="1213"/>
                  <a:pt x="634" y="1213"/>
                  <a:pt x="634" y="1213"/>
                </a:cubicBezTo>
                <a:cubicBezTo>
                  <a:pt x="3016" y="1213"/>
                  <a:pt x="3016" y="1213"/>
                  <a:pt x="3016" y="1213"/>
                </a:cubicBezTo>
                <a:cubicBezTo>
                  <a:pt x="3218" y="1213"/>
                  <a:pt x="3218" y="1213"/>
                  <a:pt x="3218" y="1213"/>
                </a:cubicBezTo>
                <a:cubicBezTo>
                  <a:pt x="3399" y="1213"/>
                  <a:pt x="3547" y="1270"/>
                  <a:pt x="3547" y="1341"/>
                </a:cubicBezTo>
                <a:cubicBezTo>
                  <a:pt x="3547" y="1412"/>
                  <a:pt x="3547" y="177"/>
                  <a:pt x="3547" y="177"/>
                </a:cubicBezTo>
                <a:cubicBezTo>
                  <a:pt x="3547" y="79"/>
                  <a:pt x="3364" y="0"/>
                  <a:pt x="314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0" dist="127000" dir="5400000" algn="t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91440" bIns="71755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 dirty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01</a:t>
            </a:r>
            <a:endParaRPr lang="en-US" sz="2400" b="1" dirty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8" name="任意多边形 7"/>
          <p:cNvSpPr/>
          <p:nvPr>
            <p:custDataLst>
              <p:tags r:id="rId3"/>
            </p:custDataLst>
          </p:nvPr>
        </p:nvSpPr>
        <p:spPr bwMode="auto">
          <a:xfrm>
            <a:off x="4629804" y="4663595"/>
            <a:ext cx="2060363" cy="780789"/>
          </a:xfrm>
          <a:custGeom>
            <a:avLst/>
            <a:gdLst>
              <a:gd name="connsiteX0" fmla="*/ 407 w 3547"/>
              <a:gd name="connsiteY0" fmla="*/ 0 h 1343"/>
              <a:gd name="connsiteX1" fmla="*/ 532 w 3547"/>
              <a:gd name="connsiteY1" fmla="*/ 0 h 1343"/>
              <a:gd name="connsiteX2" fmla="*/ 2913 w 3547"/>
              <a:gd name="connsiteY2" fmla="*/ 0 h 1343"/>
              <a:gd name="connsiteX3" fmla="*/ 3547 w 3547"/>
              <a:gd name="connsiteY3" fmla="*/ 606 h 1343"/>
              <a:gd name="connsiteX4" fmla="*/ 2913 w 3547"/>
              <a:gd name="connsiteY4" fmla="*/ 1211 h 1343"/>
              <a:gd name="connsiteX5" fmla="*/ 532 w 3547"/>
              <a:gd name="connsiteY5" fmla="*/ 1211 h 1343"/>
              <a:gd name="connsiteX6" fmla="*/ 329 w 3547"/>
              <a:gd name="connsiteY6" fmla="*/ 1211 h 1343"/>
              <a:gd name="connsiteX7" fmla="*/ 0 w 3547"/>
              <a:gd name="connsiteY7" fmla="*/ 1341 h 1343"/>
              <a:gd name="connsiteX8" fmla="*/ 0 w 3547"/>
              <a:gd name="connsiteY8" fmla="*/ 177 h 1343"/>
              <a:gd name="connsiteX9" fmla="*/ 407 w 3547"/>
              <a:gd name="connsiteY9" fmla="*/ 0 h 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547" h="1344">
                <a:moveTo>
                  <a:pt x="407" y="0"/>
                </a:moveTo>
                <a:cubicBezTo>
                  <a:pt x="532" y="0"/>
                  <a:pt x="532" y="0"/>
                  <a:pt x="532" y="0"/>
                </a:cubicBezTo>
                <a:cubicBezTo>
                  <a:pt x="2913" y="0"/>
                  <a:pt x="2913" y="0"/>
                  <a:pt x="2913" y="0"/>
                </a:cubicBezTo>
                <a:cubicBezTo>
                  <a:pt x="3547" y="606"/>
                  <a:pt x="3547" y="606"/>
                  <a:pt x="3547" y="606"/>
                </a:cubicBezTo>
                <a:cubicBezTo>
                  <a:pt x="2913" y="1211"/>
                  <a:pt x="2913" y="1211"/>
                  <a:pt x="2913" y="1211"/>
                </a:cubicBezTo>
                <a:cubicBezTo>
                  <a:pt x="532" y="1211"/>
                  <a:pt x="532" y="1211"/>
                  <a:pt x="532" y="1211"/>
                </a:cubicBezTo>
                <a:cubicBezTo>
                  <a:pt x="329" y="1211"/>
                  <a:pt x="329" y="1211"/>
                  <a:pt x="329" y="1211"/>
                </a:cubicBezTo>
                <a:cubicBezTo>
                  <a:pt x="148" y="1211"/>
                  <a:pt x="0" y="1270"/>
                  <a:pt x="0" y="1341"/>
                </a:cubicBezTo>
                <a:cubicBezTo>
                  <a:pt x="0" y="1412"/>
                  <a:pt x="0" y="177"/>
                  <a:pt x="0" y="177"/>
                </a:cubicBezTo>
                <a:cubicBezTo>
                  <a:pt x="0" y="79"/>
                  <a:pt x="183" y="0"/>
                  <a:pt x="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444500" dist="127000" dir="5400000" algn="t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179705" bIns="71755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3" name="圆角矩形 192"/>
          <p:cNvSpPr/>
          <p:nvPr>
            <p:custDataLst>
              <p:tags r:id="rId4"/>
            </p:custDataLst>
          </p:nvPr>
        </p:nvSpPr>
        <p:spPr>
          <a:xfrm>
            <a:off x="441325" y="2355215"/>
            <a:ext cx="4030980" cy="330962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Arial" panose="020B0604020202020204" pitchFamily="34" charset="0"/>
            </a:pP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随着业务发展，识别出新场景需求，如库存与分配升级、物流费用线上化管理、电子围栏自动触发等各项业务需求。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  <a:cs typeface="宋体" panose="02010600030101010101" pitchFamily="2" charset="-122"/>
              <a:sym typeface="思源黑体 CN Normal" panose="020B0400000000000000" pitchFamily="34" charset="-122"/>
            </a:endParaRPr>
          </a:p>
          <a:p>
            <a:pPr algn="just">
              <a:buFont typeface="Arial" panose="020B0604020202020204" pitchFamily="34" charset="0"/>
            </a:pP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    TMS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三期核心需求：完善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运费对账与结算流程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宋体" panose="02010600030101010101" pitchFamily="2" charset="-122"/>
                <a:sym typeface="思源黑体 CN Normal" panose="020B0400000000000000" pitchFamily="34" charset="-122"/>
              </a:rPr>
              <a:t>，解决计提与对账脱节问题，规范物流运费管理。</a:t>
            </a:r>
            <a:endParaRPr lang="zh-CN" altLang="en-US" dirty="0">
              <a:solidFill>
                <a:schemeClr val="lt1"/>
              </a:solidFill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7852110" y="1268095"/>
            <a:ext cx="2360913" cy="5569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公司环境现状</a:t>
            </a:r>
            <a:endParaRPr lang="zh-CN" altLang="en-US" sz="2800" b="1" dirty="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32832" y="1158096"/>
            <a:ext cx="3338925" cy="5569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三期项目目标</a:t>
            </a:r>
            <a:endParaRPr lang="zh-CN" altLang="en-US" sz="2800" b="1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7683237" y="1158096"/>
            <a:ext cx="3338925" cy="55697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一二期项目成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果</a:t>
            </a:r>
            <a:endParaRPr lang="zh-CN" altLang="en-US" sz="28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业务组织视图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 useBgFill="1"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90563" y="1726775"/>
            <a:ext cx="3455035" cy="4559935"/>
          </a:xfrm>
          <a:prstGeom prst="rect">
            <a:avLst/>
          </a:prstGeom>
          <a:ln w="3175">
            <a:noFill/>
          </a:ln>
          <a:effectLst>
            <a:outerShdw blurRad="215900" dist="50800" dir="5400000" sx="102000" sy="102000" algn="ctr" rotWithShape="0">
              <a:schemeClr val="accent1">
                <a:alpha val="15000"/>
              </a:schemeClr>
            </a:outerShdw>
          </a:effectLst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ea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690563" y="1726775"/>
            <a:ext cx="3455035" cy="4559935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noFill/>
          </a:ln>
          <a:effectLst/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ea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1517968" y="6206065"/>
            <a:ext cx="1800225" cy="9017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943583" y="2968835"/>
            <a:ext cx="2840700" cy="2954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华润怡宝、华润怡宝附属公司（各区域分公司、自有工厂）、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OEM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工厂、华润怡宝合作物流商及经分销商。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949643" y="1561675"/>
            <a:ext cx="923290" cy="11861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3" h="1429">
                <a:moveTo>
                  <a:pt x="1113" y="201"/>
                </a:moveTo>
                <a:lnTo>
                  <a:pt x="996" y="201"/>
                </a:lnTo>
                <a:lnTo>
                  <a:pt x="1113" y="201"/>
                </a:lnTo>
                <a:close/>
                <a:moveTo>
                  <a:pt x="173" y="0"/>
                </a:moveTo>
                <a:lnTo>
                  <a:pt x="183" y="0"/>
                </a:lnTo>
                <a:lnTo>
                  <a:pt x="1113" y="0"/>
                </a:lnTo>
                <a:lnTo>
                  <a:pt x="1113" y="1"/>
                </a:lnTo>
                <a:lnTo>
                  <a:pt x="1108" y="1"/>
                </a:lnTo>
                <a:cubicBezTo>
                  <a:pt x="1045" y="6"/>
                  <a:pt x="995" y="82"/>
                  <a:pt x="995" y="174"/>
                </a:cubicBezTo>
                <a:cubicBezTo>
                  <a:pt x="995" y="183"/>
                  <a:pt x="995" y="192"/>
                  <a:pt x="996" y="200"/>
                </a:cubicBezTo>
                <a:lnTo>
                  <a:pt x="996" y="201"/>
                </a:lnTo>
                <a:lnTo>
                  <a:pt x="989" y="201"/>
                </a:lnTo>
                <a:lnTo>
                  <a:pt x="989" y="904"/>
                </a:lnTo>
                <a:lnTo>
                  <a:pt x="989" y="909"/>
                </a:lnTo>
                <a:cubicBezTo>
                  <a:pt x="990" y="917"/>
                  <a:pt x="990" y="925"/>
                  <a:pt x="990" y="934"/>
                </a:cubicBezTo>
                <a:cubicBezTo>
                  <a:pt x="990" y="943"/>
                  <a:pt x="990" y="951"/>
                  <a:pt x="989" y="959"/>
                </a:cubicBezTo>
                <a:lnTo>
                  <a:pt x="989" y="964"/>
                </a:lnTo>
                <a:lnTo>
                  <a:pt x="989" y="971"/>
                </a:lnTo>
                <a:lnTo>
                  <a:pt x="989" y="973"/>
                </a:lnTo>
                <a:cubicBezTo>
                  <a:pt x="988" y="999"/>
                  <a:pt x="984" y="1025"/>
                  <a:pt x="977" y="1050"/>
                </a:cubicBezTo>
                <a:lnTo>
                  <a:pt x="975" y="1055"/>
                </a:lnTo>
                <a:lnTo>
                  <a:pt x="974" y="1058"/>
                </a:lnTo>
                <a:cubicBezTo>
                  <a:pt x="919" y="1271"/>
                  <a:pt x="726" y="1429"/>
                  <a:pt x="495" y="1429"/>
                </a:cubicBezTo>
                <a:cubicBezTo>
                  <a:pt x="264" y="1429"/>
                  <a:pt x="71" y="1271"/>
                  <a:pt x="16" y="1058"/>
                </a:cubicBezTo>
                <a:lnTo>
                  <a:pt x="15" y="1055"/>
                </a:lnTo>
                <a:lnTo>
                  <a:pt x="13" y="1050"/>
                </a:lnTo>
                <a:cubicBezTo>
                  <a:pt x="6" y="1025"/>
                  <a:pt x="2" y="999"/>
                  <a:pt x="1" y="973"/>
                </a:cubicBezTo>
                <a:lnTo>
                  <a:pt x="1" y="971"/>
                </a:lnTo>
                <a:lnTo>
                  <a:pt x="1" y="964"/>
                </a:lnTo>
                <a:lnTo>
                  <a:pt x="1" y="959"/>
                </a:lnTo>
                <a:cubicBezTo>
                  <a:pt x="0" y="951"/>
                  <a:pt x="0" y="943"/>
                  <a:pt x="0" y="934"/>
                </a:cubicBezTo>
                <a:cubicBezTo>
                  <a:pt x="0" y="925"/>
                  <a:pt x="0" y="917"/>
                  <a:pt x="1" y="909"/>
                </a:cubicBezTo>
                <a:lnTo>
                  <a:pt x="1" y="904"/>
                </a:lnTo>
                <a:lnTo>
                  <a:pt x="1" y="185"/>
                </a:lnTo>
                <a:lnTo>
                  <a:pt x="1" y="185"/>
                </a:lnTo>
                <a:lnTo>
                  <a:pt x="1" y="183"/>
                </a:lnTo>
                <a:cubicBezTo>
                  <a:pt x="1" y="181"/>
                  <a:pt x="1" y="178"/>
                  <a:pt x="1" y="175"/>
                </a:cubicBezTo>
                <a:cubicBezTo>
                  <a:pt x="1" y="84"/>
                  <a:pt x="72" y="10"/>
                  <a:pt x="164" y="1"/>
                </a:cubicBezTo>
                <a:lnTo>
                  <a:pt x="164" y="1"/>
                </a:lnTo>
                <a:lnTo>
                  <a:pt x="167" y="0"/>
                </a:lnTo>
                <a:cubicBezTo>
                  <a:pt x="169" y="0"/>
                  <a:pt x="171" y="0"/>
                  <a:pt x="1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101600" dist="25400" dir="5400000" sx="103000" sy="103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rIns="17970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5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5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1764348" y="1561040"/>
            <a:ext cx="224155" cy="165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" h="253">
                <a:moveTo>
                  <a:pt x="170" y="0"/>
                </a:moveTo>
                <a:cubicBezTo>
                  <a:pt x="264" y="0"/>
                  <a:pt x="340" y="98"/>
                  <a:pt x="340" y="220"/>
                </a:cubicBezTo>
                <a:cubicBezTo>
                  <a:pt x="340" y="231"/>
                  <a:pt x="339" y="242"/>
                  <a:pt x="338" y="253"/>
                </a:cubicBezTo>
                <a:lnTo>
                  <a:pt x="338" y="253"/>
                </a:lnTo>
                <a:lnTo>
                  <a:pt x="2" y="253"/>
                </a:lnTo>
                <a:lnTo>
                  <a:pt x="2" y="253"/>
                </a:lnTo>
                <a:cubicBezTo>
                  <a:pt x="1" y="242"/>
                  <a:pt x="0" y="231"/>
                  <a:pt x="0" y="220"/>
                </a:cubicBezTo>
                <a:cubicBezTo>
                  <a:pt x="0" y="98"/>
                  <a:pt x="76" y="0"/>
                  <a:pt x="1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989138" y="1967440"/>
            <a:ext cx="1794510" cy="7797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ea typeface="+mn-ea"/>
                <a:cs typeface="+mn-ea"/>
                <a:sym typeface="+mn-ea"/>
              </a:rPr>
              <a:t>项目组织范围</a:t>
            </a:r>
            <a:endParaRPr lang="zh-CN" altLang="en-US" sz="2000" b="1" dirty="0">
              <a:latin typeface="+mn-ea"/>
              <a:ea typeface="+mn-ea"/>
              <a:cs typeface="+mn-ea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latin typeface="+mn-ea"/>
              <a:ea typeface="+mn-ea"/>
              <a:cs typeface="+mn-ea"/>
            </a:endParaRPr>
          </a:p>
        </p:txBody>
      </p:sp>
      <p:sp useBgFill="1"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4349433" y="1726775"/>
            <a:ext cx="3455035" cy="4559935"/>
          </a:xfrm>
          <a:prstGeom prst="rect">
            <a:avLst/>
          </a:prstGeom>
          <a:ln w="3175">
            <a:noFill/>
          </a:ln>
          <a:effectLst>
            <a:outerShdw blurRad="215900" dist="50800" dir="5400000" sx="102000" sy="102000" algn="ctr" rotWithShape="0">
              <a:schemeClr val="accent2">
                <a:alpha val="15000"/>
              </a:schemeClr>
            </a:outerShdw>
          </a:effectLst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ea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4349433" y="1726775"/>
            <a:ext cx="3455035" cy="4559935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noFill/>
          </a:ln>
          <a:effectLst/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ea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5176838" y="6206065"/>
            <a:ext cx="1800225" cy="9017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4601182" y="2968835"/>
            <a:ext cx="3054485" cy="2954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本项目计划完成全国（包括华润怡宝各区域分公司、所有工厂、所有华润怡宝合作物流商及经分销商）上线，分步实施。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4608513" y="1561675"/>
            <a:ext cx="923290" cy="11861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3" h="1429">
                <a:moveTo>
                  <a:pt x="1113" y="201"/>
                </a:moveTo>
                <a:lnTo>
                  <a:pt x="996" y="201"/>
                </a:lnTo>
                <a:lnTo>
                  <a:pt x="1113" y="201"/>
                </a:lnTo>
                <a:close/>
                <a:moveTo>
                  <a:pt x="173" y="0"/>
                </a:moveTo>
                <a:lnTo>
                  <a:pt x="183" y="0"/>
                </a:lnTo>
                <a:lnTo>
                  <a:pt x="1113" y="0"/>
                </a:lnTo>
                <a:lnTo>
                  <a:pt x="1113" y="1"/>
                </a:lnTo>
                <a:lnTo>
                  <a:pt x="1108" y="1"/>
                </a:lnTo>
                <a:cubicBezTo>
                  <a:pt x="1045" y="6"/>
                  <a:pt x="995" y="82"/>
                  <a:pt x="995" y="174"/>
                </a:cubicBezTo>
                <a:cubicBezTo>
                  <a:pt x="995" y="183"/>
                  <a:pt x="995" y="192"/>
                  <a:pt x="996" y="200"/>
                </a:cubicBezTo>
                <a:lnTo>
                  <a:pt x="996" y="201"/>
                </a:lnTo>
                <a:lnTo>
                  <a:pt x="989" y="201"/>
                </a:lnTo>
                <a:lnTo>
                  <a:pt x="989" y="904"/>
                </a:lnTo>
                <a:lnTo>
                  <a:pt x="989" y="909"/>
                </a:lnTo>
                <a:cubicBezTo>
                  <a:pt x="990" y="917"/>
                  <a:pt x="990" y="925"/>
                  <a:pt x="990" y="934"/>
                </a:cubicBezTo>
                <a:cubicBezTo>
                  <a:pt x="990" y="943"/>
                  <a:pt x="990" y="951"/>
                  <a:pt x="989" y="959"/>
                </a:cubicBezTo>
                <a:lnTo>
                  <a:pt x="989" y="964"/>
                </a:lnTo>
                <a:lnTo>
                  <a:pt x="989" y="971"/>
                </a:lnTo>
                <a:lnTo>
                  <a:pt x="989" y="973"/>
                </a:lnTo>
                <a:cubicBezTo>
                  <a:pt x="988" y="999"/>
                  <a:pt x="984" y="1025"/>
                  <a:pt x="977" y="1050"/>
                </a:cubicBezTo>
                <a:lnTo>
                  <a:pt x="975" y="1055"/>
                </a:lnTo>
                <a:lnTo>
                  <a:pt x="974" y="1058"/>
                </a:lnTo>
                <a:cubicBezTo>
                  <a:pt x="919" y="1271"/>
                  <a:pt x="726" y="1429"/>
                  <a:pt x="495" y="1429"/>
                </a:cubicBezTo>
                <a:cubicBezTo>
                  <a:pt x="264" y="1429"/>
                  <a:pt x="71" y="1271"/>
                  <a:pt x="16" y="1058"/>
                </a:cubicBezTo>
                <a:lnTo>
                  <a:pt x="15" y="1055"/>
                </a:lnTo>
                <a:lnTo>
                  <a:pt x="13" y="1050"/>
                </a:lnTo>
                <a:cubicBezTo>
                  <a:pt x="6" y="1025"/>
                  <a:pt x="2" y="999"/>
                  <a:pt x="1" y="973"/>
                </a:cubicBezTo>
                <a:lnTo>
                  <a:pt x="1" y="971"/>
                </a:lnTo>
                <a:lnTo>
                  <a:pt x="1" y="964"/>
                </a:lnTo>
                <a:lnTo>
                  <a:pt x="1" y="959"/>
                </a:lnTo>
                <a:cubicBezTo>
                  <a:pt x="0" y="951"/>
                  <a:pt x="0" y="943"/>
                  <a:pt x="0" y="934"/>
                </a:cubicBezTo>
                <a:cubicBezTo>
                  <a:pt x="0" y="925"/>
                  <a:pt x="0" y="917"/>
                  <a:pt x="1" y="909"/>
                </a:cubicBezTo>
                <a:lnTo>
                  <a:pt x="1" y="904"/>
                </a:lnTo>
                <a:lnTo>
                  <a:pt x="1" y="185"/>
                </a:lnTo>
                <a:lnTo>
                  <a:pt x="1" y="185"/>
                </a:lnTo>
                <a:lnTo>
                  <a:pt x="1" y="183"/>
                </a:lnTo>
                <a:cubicBezTo>
                  <a:pt x="1" y="181"/>
                  <a:pt x="1" y="178"/>
                  <a:pt x="1" y="175"/>
                </a:cubicBezTo>
                <a:cubicBezTo>
                  <a:pt x="1" y="84"/>
                  <a:pt x="72" y="10"/>
                  <a:pt x="164" y="1"/>
                </a:cubicBezTo>
                <a:lnTo>
                  <a:pt x="164" y="1"/>
                </a:lnTo>
                <a:lnTo>
                  <a:pt x="167" y="0"/>
                </a:lnTo>
                <a:cubicBezTo>
                  <a:pt x="169" y="0"/>
                  <a:pt x="171" y="0"/>
                  <a:pt x="1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101600" dist="25400" dir="5400000" sx="103000" sy="103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rIns="17970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500" b="1">
                <a:latin typeface="+mn-ea"/>
                <a:cs typeface="+mn-ea"/>
                <a:sym typeface="+mn-ea"/>
              </a:rPr>
              <a:t>02</a:t>
            </a:r>
            <a:endParaRPr lang="en-US" altLang="zh-CN" sz="2500" b="1">
              <a:latin typeface="+mn-ea"/>
              <a:cs typeface="+mn-ea"/>
              <a:sym typeface="+mn-ea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5423218" y="1561040"/>
            <a:ext cx="224155" cy="165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" h="253">
                <a:moveTo>
                  <a:pt x="170" y="0"/>
                </a:moveTo>
                <a:cubicBezTo>
                  <a:pt x="264" y="0"/>
                  <a:pt x="340" y="98"/>
                  <a:pt x="340" y="220"/>
                </a:cubicBezTo>
                <a:cubicBezTo>
                  <a:pt x="340" y="231"/>
                  <a:pt x="339" y="242"/>
                  <a:pt x="338" y="253"/>
                </a:cubicBezTo>
                <a:lnTo>
                  <a:pt x="338" y="253"/>
                </a:lnTo>
                <a:lnTo>
                  <a:pt x="2" y="253"/>
                </a:lnTo>
                <a:lnTo>
                  <a:pt x="2" y="253"/>
                </a:lnTo>
                <a:cubicBezTo>
                  <a:pt x="1" y="242"/>
                  <a:pt x="0" y="231"/>
                  <a:pt x="0" y="220"/>
                </a:cubicBezTo>
                <a:cubicBezTo>
                  <a:pt x="0" y="98"/>
                  <a:pt x="76" y="0"/>
                  <a:pt x="1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5648008" y="1967440"/>
            <a:ext cx="1794510" cy="7797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+mn-ea"/>
                <a:ea typeface="+mn-ea"/>
                <a:cs typeface="+mn-ea"/>
                <a:sym typeface="+mn-ea"/>
              </a:rPr>
              <a:t>项目工作范围</a:t>
            </a:r>
            <a:endParaRPr lang="zh-CN" altLang="en-US" sz="2000" b="1" dirty="0">
              <a:latin typeface="+mn-ea"/>
              <a:ea typeface="+mn-ea"/>
              <a:cs typeface="+mn-ea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latin typeface="+mn-ea"/>
              <a:ea typeface="+mn-ea"/>
              <a:cs typeface="+mn-ea"/>
              <a:sym typeface="+mn-ea"/>
            </a:endParaRPr>
          </a:p>
        </p:txBody>
      </p:sp>
      <p:sp useBgFill="1">
        <p:nvSpPr>
          <p:cNvPr id="18" name="矩形 17"/>
          <p:cNvSpPr/>
          <p:nvPr>
            <p:custDataLst>
              <p:tags r:id="rId15"/>
            </p:custDataLst>
          </p:nvPr>
        </p:nvSpPr>
        <p:spPr>
          <a:xfrm>
            <a:off x="8008303" y="1726775"/>
            <a:ext cx="3455035" cy="4559935"/>
          </a:xfrm>
          <a:prstGeom prst="rect">
            <a:avLst/>
          </a:prstGeom>
          <a:ln w="3175">
            <a:noFill/>
          </a:ln>
          <a:effectLst>
            <a:outerShdw blurRad="215900" dist="50800" dir="5400000" sx="102000" sy="102000" algn="ctr" rotWithShape="0">
              <a:schemeClr val="accent1">
                <a:alpha val="15000"/>
              </a:schemeClr>
            </a:outerShdw>
          </a:effectLst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ea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008303" y="1726775"/>
            <a:ext cx="3455035" cy="4559935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noFill/>
          </a:ln>
          <a:effectLst/>
        </p:spPr>
        <p:txBody>
          <a:bodyPr wrap="none" lIns="215900" tIns="935990" rIns="215900" bIns="36195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br>
              <a:rPr lang="zh-CN" altLang="en-US" sz="1400">
                <a:solidFill>
                  <a:srgbClr val="666666"/>
                </a:solidFill>
                <a:latin typeface="+mn-ea"/>
                <a:ea typeface="+mn-ea"/>
                <a:cs typeface="+mn-ea"/>
                <a:sym typeface="+mn-ea"/>
              </a:rPr>
            </a:br>
            <a:endParaRPr lang="zh-CN" altLang="en-US" sz="1400">
              <a:solidFill>
                <a:srgbClr val="666666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20" name="圆角矩形 19"/>
          <p:cNvSpPr/>
          <p:nvPr>
            <p:custDataLst>
              <p:tags r:id="rId17"/>
            </p:custDataLst>
          </p:nvPr>
        </p:nvSpPr>
        <p:spPr>
          <a:xfrm>
            <a:off x="8835708" y="6206065"/>
            <a:ext cx="1800225" cy="9017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8484552" y="2968835"/>
            <a:ext cx="2896809" cy="2954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、现有业务流程升级改造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、物流费用结算线上化管理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、物流运作报表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4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、其他需求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8267383" y="1561675"/>
            <a:ext cx="923290" cy="11861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3" h="1429">
                <a:moveTo>
                  <a:pt x="1113" y="201"/>
                </a:moveTo>
                <a:lnTo>
                  <a:pt x="996" y="201"/>
                </a:lnTo>
                <a:lnTo>
                  <a:pt x="1113" y="201"/>
                </a:lnTo>
                <a:close/>
                <a:moveTo>
                  <a:pt x="173" y="0"/>
                </a:moveTo>
                <a:lnTo>
                  <a:pt x="183" y="0"/>
                </a:lnTo>
                <a:lnTo>
                  <a:pt x="1113" y="0"/>
                </a:lnTo>
                <a:lnTo>
                  <a:pt x="1113" y="1"/>
                </a:lnTo>
                <a:lnTo>
                  <a:pt x="1108" y="1"/>
                </a:lnTo>
                <a:cubicBezTo>
                  <a:pt x="1045" y="6"/>
                  <a:pt x="995" y="82"/>
                  <a:pt x="995" y="174"/>
                </a:cubicBezTo>
                <a:cubicBezTo>
                  <a:pt x="995" y="183"/>
                  <a:pt x="995" y="192"/>
                  <a:pt x="996" y="200"/>
                </a:cubicBezTo>
                <a:lnTo>
                  <a:pt x="996" y="201"/>
                </a:lnTo>
                <a:lnTo>
                  <a:pt x="989" y="201"/>
                </a:lnTo>
                <a:lnTo>
                  <a:pt x="989" y="904"/>
                </a:lnTo>
                <a:lnTo>
                  <a:pt x="989" y="909"/>
                </a:lnTo>
                <a:cubicBezTo>
                  <a:pt x="990" y="917"/>
                  <a:pt x="990" y="925"/>
                  <a:pt x="990" y="934"/>
                </a:cubicBezTo>
                <a:cubicBezTo>
                  <a:pt x="990" y="943"/>
                  <a:pt x="990" y="951"/>
                  <a:pt x="989" y="959"/>
                </a:cubicBezTo>
                <a:lnTo>
                  <a:pt x="989" y="964"/>
                </a:lnTo>
                <a:lnTo>
                  <a:pt x="989" y="971"/>
                </a:lnTo>
                <a:lnTo>
                  <a:pt x="989" y="973"/>
                </a:lnTo>
                <a:cubicBezTo>
                  <a:pt x="988" y="999"/>
                  <a:pt x="984" y="1025"/>
                  <a:pt x="977" y="1050"/>
                </a:cubicBezTo>
                <a:lnTo>
                  <a:pt x="975" y="1055"/>
                </a:lnTo>
                <a:lnTo>
                  <a:pt x="974" y="1058"/>
                </a:lnTo>
                <a:cubicBezTo>
                  <a:pt x="919" y="1271"/>
                  <a:pt x="726" y="1429"/>
                  <a:pt x="495" y="1429"/>
                </a:cubicBezTo>
                <a:cubicBezTo>
                  <a:pt x="264" y="1429"/>
                  <a:pt x="71" y="1271"/>
                  <a:pt x="16" y="1058"/>
                </a:cubicBezTo>
                <a:lnTo>
                  <a:pt x="15" y="1055"/>
                </a:lnTo>
                <a:lnTo>
                  <a:pt x="13" y="1050"/>
                </a:lnTo>
                <a:cubicBezTo>
                  <a:pt x="6" y="1025"/>
                  <a:pt x="2" y="999"/>
                  <a:pt x="1" y="973"/>
                </a:cubicBezTo>
                <a:lnTo>
                  <a:pt x="1" y="971"/>
                </a:lnTo>
                <a:lnTo>
                  <a:pt x="1" y="964"/>
                </a:lnTo>
                <a:lnTo>
                  <a:pt x="1" y="959"/>
                </a:lnTo>
                <a:cubicBezTo>
                  <a:pt x="0" y="951"/>
                  <a:pt x="0" y="943"/>
                  <a:pt x="0" y="934"/>
                </a:cubicBezTo>
                <a:cubicBezTo>
                  <a:pt x="0" y="925"/>
                  <a:pt x="0" y="917"/>
                  <a:pt x="1" y="909"/>
                </a:cubicBezTo>
                <a:lnTo>
                  <a:pt x="1" y="904"/>
                </a:lnTo>
                <a:lnTo>
                  <a:pt x="1" y="185"/>
                </a:lnTo>
                <a:lnTo>
                  <a:pt x="1" y="185"/>
                </a:lnTo>
                <a:lnTo>
                  <a:pt x="1" y="183"/>
                </a:lnTo>
                <a:cubicBezTo>
                  <a:pt x="1" y="181"/>
                  <a:pt x="1" y="178"/>
                  <a:pt x="1" y="175"/>
                </a:cubicBezTo>
                <a:cubicBezTo>
                  <a:pt x="1" y="84"/>
                  <a:pt x="72" y="10"/>
                  <a:pt x="164" y="1"/>
                </a:cubicBezTo>
                <a:lnTo>
                  <a:pt x="164" y="1"/>
                </a:lnTo>
                <a:lnTo>
                  <a:pt x="167" y="0"/>
                </a:lnTo>
                <a:cubicBezTo>
                  <a:pt x="169" y="0"/>
                  <a:pt x="171" y="0"/>
                  <a:pt x="1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101600" dist="25400" dir="5400000" sx="103000" sy="103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rIns="17970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5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500" b="1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9082088" y="1561040"/>
            <a:ext cx="224155" cy="165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" h="253">
                <a:moveTo>
                  <a:pt x="170" y="0"/>
                </a:moveTo>
                <a:cubicBezTo>
                  <a:pt x="264" y="0"/>
                  <a:pt x="340" y="98"/>
                  <a:pt x="340" y="220"/>
                </a:cubicBezTo>
                <a:cubicBezTo>
                  <a:pt x="340" y="231"/>
                  <a:pt x="339" y="242"/>
                  <a:pt x="338" y="253"/>
                </a:cubicBezTo>
                <a:lnTo>
                  <a:pt x="338" y="253"/>
                </a:lnTo>
                <a:lnTo>
                  <a:pt x="2" y="253"/>
                </a:lnTo>
                <a:lnTo>
                  <a:pt x="2" y="253"/>
                </a:lnTo>
                <a:cubicBezTo>
                  <a:pt x="1" y="242"/>
                  <a:pt x="0" y="231"/>
                  <a:pt x="0" y="220"/>
                </a:cubicBezTo>
                <a:cubicBezTo>
                  <a:pt x="0" y="98"/>
                  <a:pt x="76" y="0"/>
                  <a:pt x="1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9306878" y="1967440"/>
            <a:ext cx="1794510" cy="7797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+mn-ea"/>
                <a:ea typeface="+mn-ea"/>
                <a:cs typeface="+mn-ea"/>
                <a:sym typeface="+mn-ea"/>
              </a:rPr>
              <a:t>项目建设范围</a:t>
            </a:r>
            <a:endParaRPr lang="zh-CN" altLang="en-US" sz="2000" b="1">
              <a:latin typeface="+mn-ea"/>
              <a:ea typeface="+mn-ea"/>
              <a:cs typeface="+mn-ea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latin typeface="+mn-ea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一、</a:t>
            </a:r>
            <a:r>
              <a:rPr lang="zh-CN" altLang="en-US" dirty="0" smtClean="0">
                <a:solidFill>
                  <a:prstClr val="black"/>
                </a:solidFill>
              </a:rPr>
              <a:t>二、三期业务</a:t>
            </a:r>
            <a:r>
              <a:rPr lang="zh-CN" altLang="en-US" dirty="0" smtClean="0">
                <a:solidFill>
                  <a:prstClr val="black"/>
                </a:solidFill>
              </a:rPr>
              <a:t>蓝图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621155"/>
            <a:ext cx="12043410" cy="5240655"/>
            <a:chOff x="0" y="390144"/>
            <a:chExt cx="12192000" cy="6471810"/>
          </a:xfrm>
        </p:grpSpPr>
        <p:sp>
          <p:nvSpPr>
            <p:cNvPr id="33" name="矩形 32"/>
            <p:cNvSpPr/>
            <p:nvPr/>
          </p:nvSpPr>
          <p:spPr>
            <a:xfrm>
              <a:off x="1402400" y="5572914"/>
              <a:ext cx="10763891" cy="59211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AutoShape 12"/>
            <p:cNvSpPr>
              <a:spLocks noChangeArrowheads="1"/>
            </p:cNvSpPr>
            <p:nvPr/>
          </p:nvSpPr>
          <p:spPr bwMode="auto">
            <a:xfrm>
              <a:off x="1510228" y="573293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ERP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AutoShape 12"/>
            <p:cNvSpPr>
              <a:spLocks noChangeArrowheads="1"/>
            </p:cNvSpPr>
            <p:nvPr/>
          </p:nvSpPr>
          <p:spPr bwMode="auto">
            <a:xfrm>
              <a:off x="2712116" y="573500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MDM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AutoShape 12"/>
            <p:cNvSpPr>
              <a:spLocks noChangeArrowheads="1"/>
            </p:cNvSpPr>
            <p:nvPr/>
          </p:nvSpPr>
          <p:spPr bwMode="auto">
            <a:xfrm>
              <a:off x="3807702" y="573500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报账系统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AutoShape 12"/>
            <p:cNvSpPr>
              <a:spLocks noChangeArrowheads="1"/>
            </p:cNvSpPr>
            <p:nvPr/>
          </p:nvSpPr>
          <p:spPr bwMode="auto">
            <a:xfrm>
              <a:off x="4879760" y="573500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合同系统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12"/>
            <p:cNvSpPr>
              <a:spLocks noChangeArrowheads="1"/>
            </p:cNvSpPr>
            <p:nvPr/>
          </p:nvSpPr>
          <p:spPr bwMode="auto">
            <a:xfrm>
              <a:off x="6056048" y="5740552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短信平台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utoShape 12"/>
            <p:cNvSpPr>
              <a:spLocks noChangeArrowheads="1"/>
            </p:cNvSpPr>
            <p:nvPr/>
          </p:nvSpPr>
          <p:spPr bwMode="auto">
            <a:xfrm>
              <a:off x="7267640" y="573500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智能门禁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AutoShape 12"/>
            <p:cNvSpPr>
              <a:spLocks noChangeArrowheads="1"/>
            </p:cNvSpPr>
            <p:nvPr/>
          </p:nvSpPr>
          <p:spPr bwMode="auto">
            <a:xfrm>
              <a:off x="10735986" y="5735007"/>
              <a:ext cx="1268137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供应商考评系统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428109" y="1467825"/>
              <a:ext cx="10763891" cy="7414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AutoShape 12"/>
            <p:cNvSpPr>
              <a:spLocks noChangeArrowheads="1"/>
            </p:cNvSpPr>
            <p:nvPr/>
          </p:nvSpPr>
          <p:spPr bwMode="auto">
            <a:xfrm>
              <a:off x="2796570" y="1733065"/>
              <a:ext cx="1036242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费用计提表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AutoShape 12"/>
            <p:cNvSpPr>
              <a:spLocks noChangeArrowheads="1"/>
            </p:cNvSpPr>
            <p:nvPr/>
          </p:nvSpPr>
          <p:spPr bwMode="auto">
            <a:xfrm>
              <a:off x="1647095" y="1735602"/>
              <a:ext cx="1036242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扩展损益表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AutoShape 12"/>
            <p:cNvSpPr>
              <a:spLocks noChangeArrowheads="1"/>
            </p:cNvSpPr>
            <p:nvPr/>
          </p:nvSpPr>
          <p:spPr bwMode="auto">
            <a:xfrm>
              <a:off x="5078248" y="1734781"/>
              <a:ext cx="1036242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物流费用分析表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AutoShape 12"/>
            <p:cNvSpPr>
              <a:spLocks noChangeArrowheads="1"/>
            </p:cNvSpPr>
            <p:nvPr/>
          </p:nvSpPr>
          <p:spPr bwMode="auto">
            <a:xfrm>
              <a:off x="3937409" y="1733065"/>
              <a:ext cx="1036242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物流费用结算进度表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0869" y="1457796"/>
              <a:ext cx="1272643" cy="751501"/>
            </a:xfrm>
            <a:prstGeom prst="rect">
              <a:avLst/>
            </a:prstGeom>
            <a:solidFill>
              <a:srgbClr val="2EA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赋能</a:t>
              </a:r>
              <a:endParaRPr lang="en-US" altLang="zh-CN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0869" y="2297544"/>
              <a:ext cx="1272642" cy="3214954"/>
            </a:xfrm>
            <a:prstGeom prst="rect">
              <a:avLst/>
            </a:prstGeom>
            <a:solidFill>
              <a:srgbClr val="2EA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平台升级</a:t>
              </a:r>
              <a:endParaRPr lang="en-US" altLang="zh-CN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7746" y="5575980"/>
              <a:ext cx="1268819" cy="589049"/>
            </a:xfrm>
            <a:prstGeom prst="rect">
              <a:avLst/>
            </a:prstGeom>
            <a:solidFill>
              <a:srgbClr val="2EA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基础数据</a:t>
              </a:r>
              <a:endParaRPr lang="en-US" altLang="zh-CN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AutoShape 12"/>
            <p:cNvSpPr>
              <a:spLocks noChangeArrowheads="1"/>
            </p:cNvSpPr>
            <p:nvPr/>
          </p:nvSpPr>
          <p:spPr bwMode="auto">
            <a:xfrm>
              <a:off x="6219087" y="1734781"/>
              <a:ext cx="1658694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物流日发运情况分析表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AutoShape 12"/>
            <p:cNvSpPr>
              <a:spLocks noChangeArrowheads="1"/>
            </p:cNvSpPr>
            <p:nvPr/>
          </p:nvSpPr>
          <p:spPr bwMode="auto">
            <a:xfrm>
              <a:off x="7982378" y="1729335"/>
              <a:ext cx="1252713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物流运输分析表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AutoShape 12"/>
            <p:cNvSpPr>
              <a:spLocks noChangeArrowheads="1"/>
            </p:cNvSpPr>
            <p:nvPr/>
          </p:nvSpPr>
          <p:spPr bwMode="auto">
            <a:xfrm>
              <a:off x="9287390" y="1709287"/>
              <a:ext cx="1332217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带板运输进度报表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上箭头 61"/>
            <p:cNvSpPr/>
            <p:nvPr/>
          </p:nvSpPr>
          <p:spPr>
            <a:xfrm>
              <a:off x="543923" y="5386505"/>
              <a:ext cx="256464" cy="315468"/>
            </a:xfrm>
            <a:prstGeom prst="up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上箭头 62"/>
            <p:cNvSpPr/>
            <p:nvPr/>
          </p:nvSpPr>
          <p:spPr>
            <a:xfrm>
              <a:off x="571448" y="2096923"/>
              <a:ext cx="256464" cy="435276"/>
            </a:xfrm>
            <a:prstGeom prst="up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AutoShape 12"/>
            <p:cNvSpPr>
              <a:spLocks noChangeArrowheads="1"/>
            </p:cNvSpPr>
            <p:nvPr/>
          </p:nvSpPr>
          <p:spPr bwMode="auto">
            <a:xfrm>
              <a:off x="8492648" y="573500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营销门户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AutoShape 12"/>
            <p:cNvSpPr>
              <a:spLocks noChangeArrowheads="1"/>
            </p:cNvSpPr>
            <p:nvPr/>
          </p:nvSpPr>
          <p:spPr bwMode="auto">
            <a:xfrm>
              <a:off x="9614317" y="5735007"/>
              <a:ext cx="905338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中交兴路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108"/>
            <p:cNvSpPr/>
            <p:nvPr/>
          </p:nvSpPr>
          <p:spPr>
            <a:xfrm>
              <a:off x="1414610" y="2722295"/>
              <a:ext cx="1322858" cy="2790203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订单接入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订单校验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订单分发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费率匹配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订单撤回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订单关闭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订单状态更新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客存订单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订单查询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关键信息修改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圆角矩形 148"/>
            <p:cNvSpPr/>
            <p:nvPr/>
          </p:nvSpPr>
          <p:spPr>
            <a:xfrm>
              <a:off x="3007895" y="2731471"/>
              <a:ext cx="1322858" cy="2790203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订单排运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批量排运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派车预约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派车调整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司机预约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预约作废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多式联运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配送单管理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预约管理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修改地址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圆角矩形 149"/>
            <p:cNvSpPr/>
            <p:nvPr/>
          </p:nvSpPr>
          <p:spPr>
            <a:xfrm>
              <a:off x="4567268" y="2741175"/>
              <a:ext cx="1384059" cy="2790203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库存维护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调拨结余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到达签到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轮候管理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排队叫号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扫码出入厂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装货确认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工厂预约总览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仓管评价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产品分配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圆角矩形 150"/>
            <p:cNvSpPr/>
            <p:nvPr/>
          </p:nvSpPr>
          <p:spPr>
            <a:xfrm>
              <a:off x="6160936" y="2741175"/>
              <a:ext cx="1322858" cy="2790203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车辆轨迹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在途节点追踪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异常检测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在途异常查询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物流跟踪反馈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抵达确认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完成配送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回单签收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客户签收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物流雷达图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圆角矩形 151"/>
            <p:cNvSpPr/>
            <p:nvPr/>
          </p:nvSpPr>
          <p:spPr>
            <a:xfrm>
              <a:off x="7720309" y="2742940"/>
              <a:ext cx="1322858" cy="2788438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物流合同管理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物流费率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油价联动费用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费用计提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费用结算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费用账单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对账确认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罚扣款管理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发票查验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费用查询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账单导出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圆角矩形 152"/>
            <p:cNvSpPr/>
            <p:nvPr/>
          </p:nvSpPr>
          <p:spPr>
            <a:xfrm>
              <a:off x="9279682" y="2742940"/>
              <a:ext cx="1322858" cy="2788438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司机管理（</a:t>
              </a:r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OCR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仓库权限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装车时长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月台发运能力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加号截止时间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渠道优先客户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电子围栏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电子路书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物理仓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子库映射关系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费用科目映射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圆角矩形 158"/>
            <p:cNvSpPr/>
            <p:nvPr/>
          </p:nvSpPr>
          <p:spPr>
            <a:xfrm>
              <a:off x="10829706" y="2722294"/>
              <a:ext cx="1322858" cy="2788438"/>
            </a:xfrm>
            <a:prstGeom prst="roundRect">
              <a:avLst>
                <a:gd name="adj" fmla="val 641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任务查询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司机预约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司机签到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节点确认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拍照上传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异常上报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卡板管理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预约确认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移动签收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运营看板</a:t>
              </a:r>
              <a:endPara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圆角矩形 98"/>
            <p:cNvSpPr/>
            <p:nvPr/>
          </p:nvSpPr>
          <p:spPr>
            <a:xfrm>
              <a:off x="1414610" y="2297544"/>
              <a:ext cx="1322858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订单管理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圆角矩形 99"/>
            <p:cNvSpPr/>
            <p:nvPr/>
          </p:nvSpPr>
          <p:spPr>
            <a:xfrm>
              <a:off x="2999323" y="2297544"/>
              <a:ext cx="1331430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发运管理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圆角矩形 100"/>
            <p:cNvSpPr/>
            <p:nvPr/>
          </p:nvSpPr>
          <p:spPr>
            <a:xfrm>
              <a:off x="4567268" y="2297544"/>
              <a:ext cx="1384059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工厂管理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圆角矩形 102"/>
            <p:cNvSpPr/>
            <p:nvPr/>
          </p:nvSpPr>
          <p:spPr>
            <a:xfrm>
              <a:off x="6133746" y="2297544"/>
              <a:ext cx="1350048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在途管理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圆角矩形 103"/>
            <p:cNvSpPr/>
            <p:nvPr/>
          </p:nvSpPr>
          <p:spPr>
            <a:xfrm>
              <a:off x="7720309" y="2297544"/>
              <a:ext cx="1322858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费用管理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圆角矩形 106"/>
            <p:cNvSpPr/>
            <p:nvPr/>
          </p:nvSpPr>
          <p:spPr>
            <a:xfrm>
              <a:off x="9279682" y="2297544"/>
              <a:ext cx="1322858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业务设置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圆角矩形 107"/>
            <p:cNvSpPr/>
            <p:nvPr/>
          </p:nvSpPr>
          <p:spPr>
            <a:xfrm>
              <a:off x="10801950" y="2297544"/>
              <a:ext cx="1322858" cy="3588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移动应用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AutoShape 12"/>
            <p:cNvSpPr>
              <a:spLocks noChangeArrowheads="1"/>
            </p:cNvSpPr>
            <p:nvPr/>
          </p:nvSpPr>
          <p:spPr bwMode="auto">
            <a:xfrm>
              <a:off x="10671906" y="1709287"/>
              <a:ext cx="1332217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物流看板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三角形 96"/>
            <p:cNvSpPr/>
            <p:nvPr/>
          </p:nvSpPr>
          <p:spPr>
            <a:xfrm>
              <a:off x="0" y="390144"/>
              <a:ext cx="12166565" cy="1007623"/>
            </a:xfrm>
            <a:prstGeom prst="triangle">
              <a:avLst>
                <a:gd name="adj" fmla="val 49900"/>
              </a:avLst>
            </a:prstGeom>
            <a:solidFill>
              <a:srgbClr val="2EA1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  <a:endPara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kumimoji="1"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优化业务流程、全场景订单覆盖、准确高效计提、自动协同结算</a:t>
              </a:r>
              <a:endPara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灯片编号占位符 1"/>
            <p:cNvSpPr txBox="1"/>
            <p:nvPr/>
          </p:nvSpPr>
          <p:spPr>
            <a:xfrm>
              <a:off x="9309571" y="6225976"/>
              <a:ext cx="2743200" cy="365125"/>
            </a:xfrm>
            <a:prstGeom prst="rect">
              <a:avLst/>
            </a:prstGeom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F370F071-055F-47C1-A42F-B01CE3C79981}" type="slidenum">
                <a:rPr lang="zh-CN" altLang="en-US" smtClean="0"/>
              </a:fld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1402400" y="6206566"/>
              <a:ext cx="10763891" cy="65538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AutoShape 12"/>
            <p:cNvSpPr>
              <a:spLocks noChangeArrowheads="1"/>
            </p:cNvSpPr>
            <p:nvPr/>
          </p:nvSpPr>
          <p:spPr bwMode="auto">
            <a:xfrm>
              <a:off x="1945122" y="6326209"/>
              <a:ext cx="1663837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销售合同条款优化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AutoShape 12"/>
            <p:cNvSpPr>
              <a:spLocks noChangeArrowheads="1"/>
            </p:cNvSpPr>
            <p:nvPr/>
          </p:nvSpPr>
          <p:spPr bwMode="auto">
            <a:xfrm>
              <a:off x="4476464" y="6326209"/>
              <a:ext cx="1568729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物流合同条款优化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37746" y="6206566"/>
              <a:ext cx="1268819" cy="655388"/>
            </a:xfrm>
            <a:prstGeom prst="rect">
              <a:avLst/>
            </a:prstGeom>
            <a:solidFill>
              <a:srgbClr val="2EA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制度流程</a:t>
              </a:r>
              <a:endParaRPr lang="en-US" altLang="zh-CN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AutoShape 12"/>
            <p:cNvSpPr>
              <a:spLocks noChangeArrowheads="1"/>
            </p:cNvSpPr>
            <p:nvPr/>
          </p:nvSpPr>
          <p:spPr bwMode="auto">
            <a:xfrm>
              <a:off x="7139641" y="6326209"/>
              <a:ext cx="1568729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TMS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应用规范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AutoShape 12"/>
            <p:cNvSpPr>
              <a:spLocks noChangeArrowheads="1"/>
            </p:cNvSpPr>
            <p:nvPr/>
          </p:nvSpPr>
          <p:spPr bwMode="auto">
            <a:xfrm>
              <a:off x="9837918" y="6326209"/>
              <a:ext cx="1568729" cy="3469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175" algn="ctr">
              <a:noFill/>
              <a:prstDash val="solid"/>
              <a:miter lim="800000"/>
            </a:ln>
          </p:spPr>
          <p:txBody>
            <a:bodyPr lIns="34278" tIns="17139" rIns="34278" bIns="17139" anchor="ctr"/>
            <a:lstStyle/>
            <a:p>
              <a:pPr algn="ctr" defTabSz="457200">
                <a:lnSpc>
                  <a:spcPct val="95000"/>
                </a:lnSpc>
                <a:spcBef>
                  <a:spcPct val="5000"/>
                </a:spcBef>
                <a:spcAft>
                  <a:spcPct val="30000"/>
                </a:spcAft>
                <a:buClr>
                  <a:srgbClr val="800080"/>
                </a:buClr>
                <a:buSzPct val="105000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物流费用管理规范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20675" y="795020"/>
            <a:ext cx="11655425" cy="1002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一、二、三期系统总体蓝图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覆盖</a:t>
            </a:r>
            <a:r>
              <a:rPr lang="zh-CN" altLang="en-US" sz="1400" b="1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订单管理、发运管理（预约提货）、仓库产品分配、在途管理（实时轨迹、签收、电子回单等）、物流费用计提结算管理</a:t>
            </a:r>
            <a:r>
              <a:rPr lang="zh-CN" altLang="en-US" sz="140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等核心功能，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实现运单由预约到分发、轮候、发货、运输轨迹、电子签收、物流费用、自动结算的高效管理；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三期重点</a:t>
            </a:r>
            <a:r>
              <a:rPr lang="zh-CN" altLang="en-US" sz="140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打造业财一体化及预防跨区的运输可视化等核心功能，包括修改地址、电子签收等支持业务多样化场景的功能</a:t>
            </a:r>
            <a:r>
              <a:rPr lang="zh-CN" altLang="en-US" sz="140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优化。</a:t>
            </a:r>
            <a:endParaRPr lang="zh-CN" altLang="en-US" sz="140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总体业务</a:t>
            </a:r>
            <a:r>
              <a:rPr lang="zh-CN" altLang="en-US" dirty="0" smtClean="0">
                <a:solidFill>
                  <a:prstClr val="black"/>
                </a:solidFill>
              </a:rPr>
              <a:t>流程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290541" y="1640274"/>
            <a:ext cx="11448000" cy="306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48995" y="1242060"/>
            <a:ext cx="1036320" cy="33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大区营运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91027" y="1242053"/>
            <a:ext cx="82800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物流商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119180" y="1242053"/>
            <a:ext cx="82800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司机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426954" y="1242053"/>
            <a:ext cx="82800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工厂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67742" y="1242053"/>
            <a:ext cx="82800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客户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93889" y="5079247"/>
            <a:ext cx="11104774" cy="15684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TMS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一期、二期已完成“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”主体全流程和多场景业务应用兼容和</a:t>
            </a:r>
            <a:r>
              <a:rPr lang="zh-CN" altLang="en-US" sz="1600" dirty="0"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管理，满足</a:t>
            </a:r>
            <a:r>
              <a:rPr lang="zh-CN" altLang="zh-CN" sz="1600" dirty="0"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跨组织、跨系统的业务协同</a:t>
            </a:r>
            <a:r>
              <a:rPr lang="zh-CN" altLang="en-US" sz="1600" dirty="0"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和各类现有</a:t>
            </a:r>
            <a:r>
              <a:rPr lang="zh-CN" altLang="zh-CN" sz="1600" dirty="0"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业务场景</a:t>
            </a:r>
            <a:r>
              <a:rPr lang="zh-CN" altLang="en-US" sz="1600" dirty="0"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的支持；</a:t>
            </a:r>
            <a:endParaRPr lang="en-US" altLang="zh-CN" sz="1600" dirty="0">
              <a:effectLst/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TMS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三期主要核心需求之一完善“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4-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运费对账与结算流程”，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解决计提与对账脱节问题，以及统一规范物流运费对账与结算流程管理；同时增加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“3”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运输过程的可视化（防窜货管理）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优化，助力运营高效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Normal" panose="020B0400000000000000" pitchFamily="34" charset="-122"/>
              </a:rPr>
              <a:t>发展。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8155" y="1800718"/>
            <a:ext cx="11171161" cy="3198764"/>
            <a:chOff x="744717" y="1989253"/>
            <a:chExt cx="11171161" cy="3198764"/>
          </a:xfrm>
        </p:grpSpPr>
        <p:sp>
          <p:nvSpPr>
            <p:cNvPr id="12" name="矩形 11"/>
            <p:cNvSpPr/>
            <p:nvPr/>
          </p:nvSpPr>
          <p:spPr>
            <a:xfrm>
              <a:off x="9461634" y="2187018"/>
              <a:ext cx="2454244" cy="129732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44720" y="3864990"/>
              <a:ext cx="4279470" cy="131340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033912" y="3864990"/>
              <a:ext cx="5712646" cy="132302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744717" y="2187019"/>
              <a:ext cx="8710368" cy="13008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878041" y="2641299"/>
              <a:ext cx="1090080" cy="644015"/>
              <a:chOff x="477345" y="1702426"/>
              <a:chExt cx="1090080" cy="473105"/>
            </a:xfrm>
          </p:grpSpPr>
          <p:sp>
            <p:nvSpPr>
              <p:cNvPr id="1744527921" name="矩形 1744527920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发运通知单分发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22" name="矩形 1744527921"/>
              <p:cNvSpPr/>
              <p:nvPr/>
            </p:nvSpPr>
            <p:spPr>
              <a:xfrm>
                <a:off x="1163317" y="170242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311292" y="2638676"/>
              <a:ext cx="1090080" cy="639783"/>
              <a:chOff x="477345" y="1705535"/>
              <a:chExt cx="1090080" cy="469996"/>
            </a:xfrm>
            <a:solidFill>
              <a:schemeClr val="accent2"/>
            </a:solidFill>
          </p:grpSpPr>
          <p:sp>
            <p:nvSpPr>
              <p:cNvPr id="1744527919" name="矩形 1744527918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发运量拆分及预约提货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20" name="矩形 1744527919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5583837" y="2647199"/>
              <a:ext cx="1090080" cy="639783"/>
              <a:chOff x="477345" y="1705535"/>
              <a:chExt cx="1090080" cy="469996"/>
            </a:xfrm>
          </p:grpSpPr>
          <p:sp>
            <p:nvSpPr>
              <p:cNvPr id="1744527917" name="矩形 1744527916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可收货信息确认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18" name="矩形 1744527917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8029650" y="2638676"/>
              <a:ext cx="1090080" cy="639783"/>
              <a:chOff x="477345" y="1705535"/>
              <a:chExt cx="1090080" cy="469996"/>
            </a:xfrm>
          </p:grpSpPr>
          <p:sp>
            <p:nvSpPr>
              <p:cNvPr id="1744527915" name="矩形 1744527914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预约提货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16" name="矩形 1744527915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0343049" y="2638676"/>
              <a:ext cx="1090080" cy="639783"/>
              <a:chOff x="477345" y="1705535"/>
              <a:chExt cx="1090080" cy="469996"/>
            </a:xfrm>
          </p:grpSpPr>
          <p:sp>
            <p:nvSpPr>
              <p:cNvPr id="1744527913" name="矩形 1744527912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现场轮候调度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14" name="矩形 1744527913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028051" y="4471804"/>
              <a:ext cx="1090080" cy="639783"/>
              <a:chOff x="477345" y="1705535"/>
              <a:chExt cx="1090080" cy="469996"/>
            </a:xfrm>
          </p:grpSpPr>
          <p:sp>
            <p:nvSpPr>
              <p:cNvPr id="1744527911" name="矩形 1744527910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物流运输及</a:t>
                </a:r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到货确认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12" name="矩形 1744527911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900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583837" y="4471804"/>
              <a:ext cx="1090080" cy="639783"/>
              <a:chOff x="477345" y="1705535"/>
              <a:chExt cx="1090080" cy="469996"/>
            </a:xfrm>
          </p:grpSpPr>
          <p:sp>
            <p:nvSpPr>
              <p:cNvPr id="1744527909" name="矩形 1744527908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收货确认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10" name="矩形 1744527909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2057328" y="4471804"/>
              <a:ext cx="1090080" cy="639783"/>
              <a:chOff x="477345" y="1705535"/>
              <a:chExt cx="1090080" cy="469996"/>
            </a:xfrm>
          </p:grpSpPr>
          <p:sp>
            <p:nvSpPr>
              <p:cNvPr id="1744527907" name="矩形 1744527906"/>
              <p:cNvSpPr/>
              <p:nvPr/>
            </p:nvSpPr>
            <p:spPr>
              <a:xfrm>
                <a:off x="477345" y="1705535"/>
                <a:ext cx="1090080" cy="46999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物流运费</a:t>
                </a:r>
                <a:endPara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对账与结算</a:t>
                </a:r>
                <a:endPara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4527908" name="矩形 1744527907"/>
              <p:cNvSpPr/>
              <p:nvPr/>
            </p:nvSpPr>
            <p:spPr>
              <a:xfrm>
                <a:off x="1163317" y="1716276"/>
                <a:ext cx="402509" cy="1266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dirty="0"/>
                  <a:t>TMS</a:t>
                </a:r>
                <a:endParaRPr kumimoji="1" lang="zh-CN" altLang="en-US" sz="800" dirty="0"/>
              </a:p>
            </p:txBody>
          </p:sp>
        </p:grpSp>
        <p:cxnSp>
          <p:nvCxnSpPr>
            <p:cNvPr id="24" name="直线箭头连接符 7"/>
            <p:cNvCxnSpPr>
              <a:stCxn id="1744527921" idx="3"/>
              <a:endCxn id="1744527919" idx="1"/>
            </p:cNvCxnSpPr>
            <p:nvPr/>
          </p:nvCxnSpPr>
          <p:spPr>
            <a:xfrm flipV="1">
              <a:off x="1968121" y="2958568"/>
              <a:ext cx="1343171" cy="6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9"/>
            <p:cNvCxnSpPr>
              <a:stCxn id="1744527919" idx="3"/>
              <a:endCxn id="1744527917" idx="1"/>
            </p:cNvCxnSpPr>
            <p:nvPr/>
          </p:nvCxnSpPr>
          <p:spPr>
            <a:xfrm>
              <a:off x="4401372" y="2958568"/>
              <a:ext cx="1182465" cy="8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11"/>
            <p:cNvCxnSpPr>
              <a:stCxn id="1744527917" idx="3"/>
              <a:endCxn id="1744527915" idx="1"/>
            </p:cNvCxnSpPr>
            <p:nvPr/>
          </p:nvCxnSpPr>
          <p:spPr>
            <a:xfrm flipV="1">
              <a:off x="6673917" y="2958568"/>
              <a:ext cx="1355733" cy="8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13"/>
            <p:cNvCxnSpPr>
              <a:stCxn id="1744527915" idx="3"/>
              <a:endCxn id="1744527913" idx="1"/>
            </p:cNvCxnSpPr>
            <p:nvPr/>
          </p:nvCxnSpPr>
          <p:spPr>
            <a:xfrm>
              <a:off x="9119730" y="2958568"/>
              <a:ext cx="12233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连接符 41"/>
            <p:cNvCxnSpPr>
              <a:stCxn id="1744527913" idx="2"/>
              <a:endCxn id="1744527911" idx="3"/>
            </p:cNvCxnSpPr>
            <p:nvPr/>
          </p:nvCxnSpPr>
          <p:spPr>
            <a:xfrm rot="5400000">
              <a:off x="9246492" y="3150098"/>
              <a:ext cx="1513237" cy="176995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7"/>
            <p:cNvCxnSpPr>
              <a:stCxn id="1744527909" idx="1"/>
              <a:endCxn id="1744527907" idx="3"/>
            </p:cNvCxnSpPr>
            <p:nvPr/>
          </p:nvCxnSpPr>
          <p:spPr>
            <a:xfrm flipH="1">
              <a:off x="3147408" y="4791696"/>
              <a:ext cx="24364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箭头连接符 29"/>
            <p:cNvCxnSpPr>
              <a:stCxn id="1744527911" idx="1"/>
              <a:endCxn id="1744527909" idx="3"/>
            </p:cNvCxnSpPr>
            <p:nvPr/>
          </p:nvCxnSpPr>
          <p:spPr>
            <a:xfrm flipH="1">
              <a:off x="6673917" y="4791696"/>
              <a:ext cx="13541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4157220" y="2017336"/>
              <a:ext cx="1659118" cy="37707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1-</a:t>
              </a:r>
              <a:r>
                <a:rPr lang="zh-CN" altLang="en-US" sz="1600" dirty="0"/>
                <a:t>发运调度流程</a:t>
              </a:r>
              <a:endParaRPr lang="zh-CN" altLang="en-US" sz="1600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6570482" y="3676454"/>
              <a:ext cx="2243580" cy="37707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3-</a:t>
              </a:r>
              <a:r>
                <a:rPr lang="zh-CN" altLang="en-US" sz="1600" dirty="0"/>
                <a:t>物流运输和收货流程</a:t>
              </a:r>
              <a:endParaRPr lang="zh-CN" altLang="en-US" sz="1600" dirty="0"/>
            </a:p>
          </p:txBody>
        </p:sp>
        <p:sp>
          <p:nvSpPr>
            <p:cNvPr id="1744527904" name="矩形 1744527903"/>
            <p:cNvSpPr/>
            <p:nvPr/>
          </p:nvSpPr>
          <p:spPr>
            <a:xfrm>
              <a:off x="9733819" y="1989253"/>
              <a:ext cx="2049686" cy="37707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2-</a:t>
              </a:r>
              <a:r>
                <a:rPr lang="zh-CN" altLang="en-US" sz="1600" dirty="0"/>
                <a:t>现场轮候调度流程</a:t>
              </a:r>
              <a:endParaRPr lang="zh-CN" altLang="en-US" sz="1600" dirty="0"/>
            </a:p>
          </p:txBody>
        </p:sp>
        <p:sp>
          <p:nvSpPr>
            <p:cNvPr id="1744527905" name="矩形 1744527904"/>
            <p:cNvSpPr/>
            <p:nvPr/>
          </p:nvSpPr>
          <p:spPr>
            <a:xfrm>
              <a:off x="2224725" y="3676455"/>
              <a:ext cx="2347274" cy="37707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4-</a:t>
              </a:r>
              <a:r>
                <a:rPr lang="zh-CN" altLang="en-US" sz="1600" dirty="0"/>
                <a:t>运费对账和结算流程</a:t>
              </a:r>
              <a:endParaRPr lang="zh-CN" altLang="en-US" sz="16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计提结算业务</a:t>
            </a:r>
            <a:r>
              <a:rPr lang="zh-CN" altLang="en-US" dirty="0" smtClean="0">
                <a:solidFill>
                  <a:prstClr val="black"/>
                </a:solidFill>
              </a:rPr>
              <a:t>流程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 rot="0">
            <a:off x="455295" y="3688080"/>
            <a:ext cx="4601845" cy="890905"/>
            <a:chOff x="455548" y="3489884"/>
            <a:chExt cx="4601989" cy="1237654"/>
          </a:xfrm>
          <a:solidFill>
            <a:schemeClr val="accent6"/>
          </a:solidFill>
        </p:grpSpPr>
        <p:sp>
          <p:nvSpPr>
            <p:cNvPr id="976103091" name="矩形 976103090"/>
            <p:cNvSpPr/>
            <p:nvPr/>
          </p:nvSpPr>
          <p:spPr>
            <a:xfrm>
              <a:off x="455548" y="3489884"/>
              <a:ext cx="773534" cy="464120"/>
            </a:xfrm>
            <a:prstGeom prst="rect">
              <a:avLst/>
            </a:prstGeom>
            <a:grpFill/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合同</a:t>
              </a:r>
              <a:endParaRPr lang="zh-CN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2" name="任意多边形: 形状 976103091"/>
            <p:cNvSpPr/>
            <p:nvPr/>
          </p:nvSpPr>
          <p:spPr>
            <a:xfrm>
              <a:off x="1398396" y="3626026"/>
              <a:ext cx="163989" cy="191836"/>
            </a:xfrm>
            <a:custGeom>
              <a:avLst/>
              <a:gdLst>
                <a:gd name="connsiteX0" fmla="*/ 0 w 163989"/>
                <a:gd name="connsiteY0" fmla="*/ 38367 h 191836"/>
                <a:gd name="connsiteX1" fmla="*/ 81995 w 163989"/>
                <a:gd name="connsiteY1" fmla="*/ 38367 h 191836"/>
                <a:gd name="connsiteX2" fmla="*/ 81995 w 163989"/>
                <a:gd name="connsiteY2" fmla="*/ 0 h 191836"/>
                <a:gd name="connsiteX3" fmla="*/ 163989 w 163989"/>
                <a:gd name="connsiteY3" fmla="*/ 95918 h 191836"/>
                <a:gd name="connsiteX4" fmla="*/ 81995 w 163989"/>
                <a:gd name="connsiteY4" fmla="*/ 191836 h 191836"/>
                <a:gd name="connsiteX5" fmla="*/ 81995 w 163989"/>
                <a:gd name="connsiteY5" fmla="*/ 153469 h 191836"/>
                <a:gd name="connsiteX6" fmla="*/ 0 w 163989"/>
                <a:gd name="connsiteY6" fmla="*/ 153469 h 191836"/>
                <a:gd name="connsiteX7" fmla="*/ 0 w 163989"/>
                <a:gd name="connsiteY7" fmla="*/ 38367 h 19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989" h="191836">
                  <a:moveTo>
                    <a:pt x="0" y="38367"/>
                  </a:moveTo>
                  <a:lnTo>
                    <a:pt x="81995" y="38367"/>
                  </a:lnTo>
                  <a:lnTo>
                    <a:pt x="81995" y="0"/>
                  </a:lnTo>
                  <a:lnTo>
                    <a:pt x="163989" y="95918"/>
                  </a:lnTo>
                  <a:lnTo>
                    <a:pt x="81995" y="191836"/>
                  </a:lnTo>
                  <a:lnTo>
                    <a:pt x="81995" y="153469"/>
                  </a:lnTo>
                  <a:lnTo>
                    <a:pt x="0" y="153469"/>
                  </a:lnTo>
                  <a:lnTo>
                    <a:pt x="0" y="38367"/>
                  </a:lnTo>
                  <a:close/>
                </a:path>
              </a:pathLst>
            </a:cu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38367" rIns="49197" bIns="3836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00" kern="12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3" name="矩形 976103092"/>
            <p:cNvSpPr/>
            <p:nvPr/>
          </p:nvSpPr>
          <p:spPr>
            <a:xfrm>
              <a:off x="1731699" y="3489884"/>
              <a:ext cx="773534" cy="464120"/>
            </a:xfrm>
            <a:prstGeom prst="rect">
              <a:avLst/>
            </a:prstGeom>
            <a:grpFill/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费率</a:t>
              </a:r>
              <a:endParaRPr lang="zh-CN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4" name="任意多边形: 形状 976103093"/>
            <p:cNvSpPr/>
            <p:nvPr/>
          </p:nvSpPr>
          <p:spPr>
            <a:xfrm>
              <a:off x="2674547" y="3626026"/>
              <a:ext cx="163989" cy="191836"/>
            </a:xfrm>
            <a:custGeom>
              <a:avLst/>
              <a:gdLst>
                <a:gd name="connsiteX0" fmla="*/ 0 w 163989"/>
                <a:gd name="connsiteY0" fmla="*/ 38367 h 191836"/>
                <a:gd name="connsiteX1" fmla="*/ 81995 w 163989"/>
                <a:gd name="connsiteY1" fmla="*/ 38367 h 191836"/>
                <a:gd name="connsiteX2" fmla="*/ 81995 w 163989"/>
                <a:gd name="connsiteY2" fmla="*/ 0 h 191836"/>
                <a:gd name="connsiteX3" fmla="*/ 163989 w 163989"/>
                <a:gd name="connsiteY3" fmla="*/ 95918 h 191836"/>
                <a:gd name="connsiteX4" fmla="*/ 81995 w 163989"/>
                <a:gd name="connsiteY4" fmla="*/ 191836 h 191836"/>
                <a:gd name="connsiteX5" fmla="*/ 81995 w 163989"/>
                <a:gd name="connsiteY5" fmla="*/ 153469 h 191836"/>
                <a:gd name="connsiteX6" fmla="*/ 0 w 163989"/>
                <a:gd name="connsiteY6" fmla="*/ 153469 h 191836"/>
                <a:gd name="connsiteX7" fmla="*/ 0 w 163989"/>
                <a:gd name="connsiteY7" fmla="*/ 38367 h 19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989" h="191836">
                  <a:moveTo>
                    <a:pt x="0" y="38367"/>
                  </a:moveTo>
                  <a:lnTo>
                    <a:pt x="81995" y="38367"/>
                  </a:lnTo>
                  <a:lnTo>
                    <a:pt x="81995" y="0"/>
                  </a:lnTo>
                  <a:lnTo>
                    <a:pt x="163989" y="95918"/>
                  </a:lnTo>
                  <a:lnTo>
                    <a:pt x="81995" y="191836"/>
                  </a:lnTo>
                  <a:lnTo>
                    <a:pt x="81995" y="153469"/>
                  </a:lnTo>
                  <a:lnTo>
                    <a:pt x="0" y="153469"/>
                  </a:lnTo>
                  <a:lnTo>
                    <a:pt x="0" y="38367"/>
                  </a:lnTo>
                  <a:close/>
                </a:path>
              </a:pathLst>
            </a:cu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38367" rIns="49197" bIns="3836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00" kern="12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5" name="矩形 976103094"/>
            <p:cNvSpPr/>
            <p:nvPr/>
          </p:nvSpPr>
          <p:spPr>
            <a:xfrm>
              <a:off x="3007850" y="3489884"/>
              <a:ext cx="773534" cy="464120"/>
            </a:xfrm>
            <a:prstGeom prst="rect">
              <a:avLst/>
            </a:prstGeom>
            <a:grpFill/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计费</a:t>
              </a:r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规则</a:t>
              </a:r>
              <a:endParaRPr lang="zh-CN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6" name="任意多边形: 形状 976103095"/>
            <p:cNvSpPr/>
            <p:nvPr/>
          </p:nvSpPr>
          <p:spPr>
            <a:xfrm>
              <a:off x="3950698" y="3626026"/>
              <a:ext cx="163989" cy="191836"/>
            </a:xfrm>
            <a:custGeom>
              <a:avLst/>
              <a:gdLst>
                <a:gd name="connsiteX0" fmla="*/ 0 w 163989"/>
                <a:gd name="connsiteY0" fmla="*/ 38367 h 191836"/>
                <a:gd name="connsiteX1" fmla="*/ 81995 w 163989"/>
                <a:gd name="connsiteY1" fmla="*/ 38367 h 191836"/>
                <a:gd name="connsiteX2" fmla="*/ 81995 w 163989"/>
                <a:gd name="connsiteY2" fmla="*/ 0 h 191836"/>
                <a:gd name="connsiteX3" fmla="*/ 163989 w 163989"/>
                <a:gd name="connsiteY3" fmla="*/ 95918 h 191836"/>
                <a:gd name="connsiteX4" fmla="*/ 81995 w 163989"/>
                <a:gd name="connsiteY4" fmla="*/ 191836 h 191836"/>
                <a:gd name="connsiteX5" fmla="*/ 81995 w 163989"/>
                <a:gd name="connsiteY5" fmla="*/ 153469 h 191836"/>
                <a:gd name="connsiteX6" fmla="*/ 0 w 163989"/>
                <a:gd name="connsiteY6" fmla="*/ 153469 h 191836"/>
                <a:gd name="connsiteX7" fmla="*/ 0 w 163989"/>
                <a:gd name="connsiteY7" fmla="*/ 38367 h 19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989" h="191836">
                  <a:moveTo>
                    <a:pt x="0" y="38367"/>
                  </a:moveTo>
                  <a:lnTo>
                    <a:pt x="81995" y="38367"/>
                  </a:lnTo>
                  <a:lnTo>
                    <a:pt x="81995" y="0"/>
                  </a:lnTo>
                  <a:lnTo>
                    <a:pt x="163989" y="95918"/>
                  </a:lnTo>
                  <a:lnTo>
                    <a:pt x="81995" y="191836"/>
                  </a:lnTo>
                  <a:lnTo>
                    <a:pt x="81995" y="153469"/>
                  </a:lnTo>
                  <a:lnTo>
                    <a:pt x="0" y="153469"/>
                  </a:lnTo>
                  <a:lnTo>
                    <a:pt x="0" y="38367"/>
                  </a:lnTo>
                  <a:close/>
                </a:path>
              </a:pathLst>
            </a:cu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38367" rIns="49197" bIns="3836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00" kern="12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7" name="矩形 976103096"/>
            <p:cNvSpPr/>
            <p:nvPr/>
          </p:nvSpPr>
          <p:spPr>
            <a:xfrm>
              <a:off x="4284003" y="3489884"/>
              <a:ext cx="773534" cy="464120"/>
            </a:xfrm>
            <a:prstGeom prst="rect">
              <a:avLst/>
            </a:prstGeom>
            <a:grpFill/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业务</a:t>
              </a:r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操作</a:t>
              </a:r>
              <a:endParaRPr lang="zh-CN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8" name="任意多边形: 形状 976103097"/>
            <p:cNvSpPr/>
            <p:nvPr/>
          </p:nvSpPr>
          <p:spPr>
            <a:xfrm>
              <a:off x="4574852" y="4022075"/>
              <a:ext cx="191837" cy="163990"/>
            </a:xfrm>
            <a:custGeom>
              <a:avLst/>
              <a:gdLst>
                <a:gd name="connsiteX0" fmla="*/ 0 w 163989"/>
                <a:gd name="connsiteY0" fmla="*/ 38367 h 191836"/>
                <a:gd name="connsiteX1" fmla="*/ 81995 w 163989"/>
                <a:gd name="connsiteY1" fmla="*/ 38367 h 191836"/>
                <a:gd name="connsiteX2" fmla="*/ 81995 w 163989"/>
                <a:gd name="connsiteY2" fmla="*/ 0 h 191836"/>
                <a:gd name="connsiteX3" fmla="*/ 163989 w 163989"/>
                <a:gd name="connsiteY3" fmla="*/ 95918 h 191836"/>
                <a:gd name="connsiteX4" fmla="*/ 81995 w 163989"/>
                <a:gd name="connsiteY4" fmla="*/ 191836 h 191836"/>
                <a:gd name="connsiteX5" fmla="*/ 81995 w 163989"/>
                <a:gd name="connsiteY5" fmla="*/ 153469 h 191836"/>
                <a:gd name="connsiteX6" fmla="*/ 0 w 163989"/>
                <a:gd name="connsiteY6" fmla="*/ 153469 h 191836"/>
                <a:gd name="connsiteX7" fmla="*/ 0 w 163989"/>
                <a:gd name="connsiteY7" fmla="*/ 38367 h 19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989" h="191836">
                  <a:moveTo>
                    <a:pt x="131191" y="1"/>
                  </a:moveTo>
                  <a:lnTo>
                    <a:pt x="131191" y="95919"/>
                  </a:lnTo>
                  <a:lnTo>
                    <a:pt x="163989" y="95919"/>
                  </a:lnTo>
                  <a:lnTo>
                    <a:pt x="81995" y="191835"/>
                  </a:lnTo>
                  <a:lnTo>
                    <a:pt x="0" y="95919"/>
                  </a:lnTo>
                  <a:lnTo>
                    <a:pt x="32798" y="95919"/>
                  </a:lnTo>
                  <a:lnTo>
                    <a:pt x="32798" y="1"/>
                  </a:lnTo>
                  <a:lnTo>
                    <a:pt x="131191" y="1"/>
                  </a:lnTo>
                  <a:close/>
                </a:path>
              </a:pathLst>
            </a:cu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368" tIns="1" rIns="38367" bIns="4919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00" kern="12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99" name="矩形 976103098"/>
            <p:cNvSpPr/>
            <p:nvPr/>
          </p:nvSpPr>
          <p:spPr>
            <a:xfrm>
              <a:off x="4284003" y="4263418"/>
              <a:ext cx="773534" cy="464120"/>
            </a:xfrm>
            <a:prstGeom prst="rect">
              <a:avLst/>
            </a:prstGeom>
            <a:grpFill/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费用</a:t>
              </a:r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计提</a:t>
              </a:r>
              <a:endParaRPr lang="zh-CN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100" name="任意多边形: 形状 976103099"/>
            <p:cNvSpPr/>
            <p:nvPr/>
          </p:nvSpPr>
          <p:spPr>
            <a:xfrm>
              <a:off x="3950699" y="4399560"/>
              <a:ext cx="163989" cy="191836"/>
            </a:xfrm>
            <a:custGeom>
              <a:avLst/>
              <a:gdLst>
                <a:gd name="connsiteX0" fmla="*/ 0 w 163989"/>
                <a:gd name="connsiteY0" fmla="*/ 38367 h 191836"/>
                <a:gd name="connsiteX1" fmla="*/ 81995 w 163989"/>
                <a:gd name="connsiteY1" fmla="*/ 38367 h 191836"/>
                <a:gd name="connsiteX2" fmla="*/ 81995 w 163989"/>
                <a:gd name="connsiteY2" fmla="*/ 0 h 191836"/>
                <a:gd name="connsiteX3" fmla="*/ 163989 w 163989"/>
                <a:gd name="connsiteY3" fmla="*/ 95918 h 191836"/>
                <a:gd name="connsiteX4" fmla="*/ 81995 w 163989"/>
                <a:gd name="connsiteY4" fmla="*/ 191836 h 191836"/>
                <a:gd name="connsiteX5" fmla="*/ 81995 w 163989"/>
                <a:gd name="connsiteY5" fmla="*/ 153469 h 191836"/>
                <a:gd name="connsiteX6" fmla="*/ 0 w 163989"/>
                <a:gd name="connsiteY6" fmla="*/ 153469 h 191836"/>
                <a:gd name="connsiteX7" fmla="*/ 0 w 163989"/>
                <a:gd name="connsiteY7" fmla="*/ 38367 h 19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989" h="191836">
                  <a:moveTo>
                    <a:pt x="163989" y="153469"/>
                  </a:moveTo>
                  <a:lnTo>
                    <a:pt x="81994" y="153469"/>
                  </a:lnTo>
                  <a:lnTo>
                    <a:pt x="81994" y="191836"/>
                  </a:lnTo>
                  <a:lnTo>
                    <a:pt x="0" y="95918"/>
                  </a:lnTo>
                  <a:lnTo>
                    <a:pt x="81994" y="0"/>
                  </a:lnTo>
                  <a:lnTo>
                    <a:pt x="81994" y="38367"/>
                  </a:lnTo>
                  <a:lnTo>
                    <a:pt x="163989" y="38367"/>
                  </a:lnTo>
                  <a:lnTo>
                    <a:pt x="163989" y="153469"/>
                  </a:lnTo>
                  <a:close/>
                </a:path>
              </a:pathLst>
            </a:cu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197" tIns="38367" rIns="0" bIns="38367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00" kern="12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101" name="矩形 976103100"/>
            <p:cNvSpPr/>
            <p:nvPr/>
          </p:nvSpPr>
          <p:spPr>
            <a:xfrm>
              <a:off x="3007850" y="4263418"/>
              <a:ext cx="773534" cy="464120"/>
            </a:xfrm>
            <a:prstGeom prst="rect">
              <a:avLst/>
            </a:prstGeom>
            <a:grpFill/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运输</a:t>
              </a:r>
              <a:r>
                <a:rPr lang="zh-CN" altLang="en-US" sz="1100" b="1" dirty="0">
                  <a:solidFill>
                    <a:schemeClr val="bg1"/>
                  </a:solidFill>
                  <a:latin typeface="+mn-ea"/>
                </a:rPr>
                <a:t>签收</a:t>
              </a:r>
              <a:endParaRPr lang="zh-CN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5" name="矩形: 圆顶角 4"/>
          <p:cNvSpPr/>
          <p:nvPr/>
        </p:nvSpPr>
        <p:spPr bwMode="auto">
          <a:xfrm rot="16200000">
            <a:off x="28575" y="5236210"/>
            <a:ext cx="1905000" cy="1143000"/>
          </a:xfrm>
          <a:prstGeom prst="round2SameRect">
            <a:avLst/>
          </a:prstGeom>
          <a:solidFill>
            <a:schemeClr val="accent1"/>
          </a:solidFill>
          <a:ln w="9525" cap="flat" cmpd="sng" algn="ctr">
            <a:solidFill>
              <a:srgbClr val="A874FB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hangingPunct="0"/>
            <a:endParaRPr lang="zh-CN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矩形: 圆顶角 5"/>
          <p:cNvSpPr/>
          <p:nvPr/>
        </p:nvSpPr>
        <p:spPr bwMode="auto">
          <a:xfrm rot="5400000">
            <a:off x="2594610" y="3826510"/>
            <a:ext cx="1891665" cy="3976370"/>
          </a:xfrm>
          <a:prstGeom prst="round2Same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defTabSz="913765" eaLnBrk="0" hangingPunct="0"/>
            <a:endParaRPr lang="zh-CN" altLang="en-US">
              <a:latin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09575" y="5510530"/>
            <a:ext cx="1143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高灵活度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规则配置</a:t>
            </a:r>
            <a:endParaRPr lang="zh-CN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529080" y="4921885"/>
            <a:ext cx="4042410" cy="1706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阶梯</a:t>
            </a:r>
            <a:r>
              <a:rPr lang="en-US" altLang="zh-CN" sz="1400" b="1" dirty="0">
                <a:latin typeface="Arial Bold" panose="020B0604020202090204" charset="0"/>
                <a:cs typeface="Arial Bold" panose="020B0604020202090204" charset="0"/>
              </a:rPr>
              <a:t>/</a:t>
            </a: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一口价等多种计费模式；</a:t>
            </a:r>
            <a:endParaRPr lang="en-US" altLang="zh-CN" sz="14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费率灵活配置模式，支持不含税费率录入，结算计费时自动计算不含税价</a:t>
            </a:r>
            <a:r>
              <a:rPr lang="en-US" altLang="zh-CN" sz="1400" b="1" dirty="0">
                <a:latin typeface="Arial Bold" panose="020B0604020202090204" charset="0"/>
                <a:cs typeface="Arial Bold" panose="020B0604020202090204" charset="0"/>
              </a:rPr>
              <a:t>/</a:t>
            </a: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含税价。</a:t>
            </a:r>
            <a:endParaRPr lang="en-US" altLang="zh-CN" sz="14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自由条件匹配设置</a:t>
            </a:r>
            <a:r>
              <a:rPr lang="en-US" altLang="zh-CN" sz="1400" b="1" dirty="0">
                <a:latin typeface="Arial Bold" panose="020B0604020202090204" charset="0"/>
                <a:cs typeface="Arial Bold" panose="020B0604020202090204" charset="0"/>
              </a:rPr>
              <a:t>/</a:t>
            </a: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自定义表达式计费规则</a:t>
            </a:r>
            <a:r>
              <a:rPr lang="en-US" altLang="zh-CN" sz="1400" b="1" dirty="0">
                <a:latin typeface="Arial Bold" panose="020B0604020202090204" charset="0"/>
                <a:cs typeface="Arial Bold" panose="020B0604020202090204" charset="0"/>
              </a:rPr>
              <a:t>.</a:t>
            </a:r>
            <a:endParaRPr lang="en-US" altLang="zh-CN" sz="1400" b="1" dirty="0">
              <a:latin typeface="Arial Bold" panose="020B0604020202090204" charset="0"/>
              <a:cs typeface="Arial Bold" panose="020B060402020209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Arial Bold" panose="020B0604020202090204" charset="0"/>
                <a:cs typeface="Arial Bold" panose="020B0604020202090204" charset="0"/>
              </a:rPr>
              <a:t>费用科目支持自定义，支持一、二级费用管理。</a:t>
            </a:r>
            <a:endParaRPr lang="en-US" altLang="zh-CN" sz="140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 rot="0">
            <a:off x="1857375" y="2045335"/>
            <a:ext cx="3200400" cy="1344295"/>
            <a:chOff x="6451600" y="833991"/>
            <a:chExt cx="3200400" cy="1344252"/>
          </a:xfrm>
          <a:solidFill>
            <a:schemeClr val="accent6"/>
          </a:solidFill>
        </p:grpSpPr>
        <p:sp>
          <p:nvSpPr>
            <p:cNvPr id="976103084" name="任意多边形: 形状 976103083"/>
            <p:cNvSpPr/>
            <p:nvPr/>
          </p:nvSpPr>
          <p:spPr>
            <a:xfrm>
              <a:off x="7518400" y="1734938"/>
              <a:ext cx="1105457" cy="443305"/>
            </a:xfrm>
            <a:custGeom>
              <a:avLst/>
              <a:gdLst>
                <a:gd name="connsiteX0" fmla="*/ 0 w 915513"/>
                <a:gd name="connsiteY0" fmla="*/ 221653 h 443305"/>
                <a:gd name="connsiteX1" fmla="*/ 457757 w 915513"/>
                <a:gd name="connsiteY1" fmla="*/ 0 h 443305"/>
                <a:gd name="connsiteX2" fmla="*/ 915514 w 915513"/>
                <a:gd name="connsiteY2" fmla="*/ 221653 h 443305"/>
                <a:gd name="connsiteX3" fmla="*/ 457757 w 915513"/>
                <a:gd name="connsiteY3" fmla="*/ 443306 h 443305"/>
                <a:gd name="connsiteX4" fmla="*/ 0 w 915513"/>
                <a:gd name="connsiteY4" fmla="*/ 221653 h 4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513" h="443305">
                  <a:moveTo>
                    <a:pt x="0" y="221653"/>
                  </a:moveTo>
                  <a:cubicBezTo>
                    <a:pt x="0" y="99237"/>
                    <a:pt x="204945" y="0"/>
                    <a:pt x="457757" y="0"/>
                  </a:cubicBezTo>
                  <a:cubicBezTo>
                    <a:pt x="710569" y="0"/>
                    <a:pt x="915514" y="99237"/>
                    <a:pt x="915514" y="221653"/>
                  </a:cubicBezTo>
                  <a:cubicBezTo>
                    <a:pt x="915514" y="344069"/>
                    <a:pt x="710569" y="443306"/>
                    <a:pt x="457757" y="443306"/>
                  </a:cubicBezTo>
                  <a:cubicBezTo>
                    <a:pt x="204945" y="443306"/>
                    <a:pt x="0" y="344069"/>
                    <a:pt x="0" y="22165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074" tIns="169115" rIns="170074" bIns="169115" numCol="1" spcCol="1270" rtlCol="0" anchor="ctr" anchorCtr="0">
              <a:noAutofit/>
            </a:bodyPr>
            <a:lstStyle/>
            <a:p>
              <a:pPr marL="0" lvl="0" indent="0" algn="ctr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400" b="1" kern="1200" dirty="0">
                  <a:solidFill>
                    <a:schemeClr val="tx1"/>
                  </a:solidFill>
                  <a:latin typeface="+mn-ea"/>
                </a:rPr>
                <a:t>计费逻辑</a:t>
              </a:r>
              <a:endParaRPr lang="zh-CN" altLang="en-US" sz="1400" b="1" kern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76103085" name="箭头: 左 976103084"/>
            <p:cNvSpPr/>
            <p:nvPr/>
          </p:nvSpPr>
          <p:spPr>
            <a:xfrm rot="12390708">
              <a:off x="6834325" y="1526458"/>
              <a:ext cx="708495" cy="189100"/>
            </a:xfrm>
            <a:prstGeom prst="lef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76103086" name="任意多边形: 形状 976103085"/>
            <p:cNvSpPr/>
            <p:nvPr/>
          </p:nvSpPr>
          <p:spPr>
            <a:xfrm>
              <a:off x="6451600" y="1210744"/>
              <a:ext cx="828000" cy="504268"/>
            </a:xfrm>
            <a:custGeom>
              <a:avLst/>
              <a:gdLst>
                <a:gd name="connsiteX0" fmla="*/ 0 w 630335"/>
                <a:gd name="connsiteY0" fmla="*/ 50427 h 504268"/>
                <a:gd name="connsiteX1" fmla="*/ 50427 w 630335"/>
                <a:gd name="connsiteY1" fmla="*/ 0 h 504268"/>
                <a:gd name="connsiteX2" fmla="*/ 579908 w 630335"/>
                <a:gd name="connsiteY2" fmla="*/ 0 h 504268"/>
                <a:gd name="connsiteX3" fmla="*/ 630335 w 630335"/>
                <a:gd name="connsiteY3" fmla="*/ 50427 h 504268"/>
                <a:gd name="connsiteX4" fmla="*/ 630335 w 630335"/>
                <a:gd name="connsiteY4" fmla="*/ 453841 h 504268"/>
                <a:gd name="connsiteX5" fmla="*/ 579908 w 630335"/>
                <a:gd name="connsiteY5" fmla="*/ 504268 h 504268"/>
                <a:gd name="connsiteX6" fmla="*/ 50427 w 630335"/>
                <a:gd name="connsiteY6" fmla="*/ 504268 h 504268"/>
                <a:gd name="connsiteX7" fmla="*/ 0 w 630335"/>
                <a:gd name="connsiteY7" fmla="*/ 453841 h 504268"/>
                <a:gd name="connsiteX8" fmla="*/ 0 w 630335"/>
                <a:gd name="connsiteY8" fmla="*/ 50427 h 50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0335" h="504268">
                  <a:moveTo>
                    <a:pt x="0" y="50427"/>
                  </a:moveTo>
                  <a:cubicBezTo>
                    <a:pt x="0" y="22577"/>
                    <a:pt x="22577" y="0"/>
                    <a:pt x="50427" y="0"/>
                  </a:cubicBezTo>
                  <a:lnTo>
                    <a:pt x="579908" y="0"/>
                  </a:lnTo>
                  <a:cubicBezTo>
                    <a:pt x="607758" y="0"/>
                    <a:pt x="630335" y="22577"/>
                    <a:pt x="630335" y="50427"/>
                  </a:cubicBezTo>
                  <a:lnTo>
                    <a:pt x="630335" y="453841"/>
                  </a:lnTo>
                  <a:cubicBezTo>
                    <a:pt x="630335" y="481691"/>
                    <a:pt x="607758" y="504268"/>
                    <a:pt x="579908" y="504268"/>
                  </a:cubicBezTo>
                  <a:lnTo>
                    <a:pt x="50427" y="504268"/>
                  </a:lnTo>
                  <a:cubicBezTo>
                    <a:pt x="22577" y="504268"/>
                    <a:pt x="0" y="481691"/>
                    <a:pt x="0" y="453841"/>
                  </a:cubicBezTo>
                  <a:lnTo>
                    <a:pt x="0" y="50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770" tIns="118964" rIns="50770" bIns="118964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solidFill>
                    <a:schemeClr val="tx1"/>
                  </a:solidFill>
                  <a:latin typeface="+mn-ea"/>
                </a:rPr>
                <a:t>自有运力</a:t>
              </a:r>
              <a:endParaRPr lang="zh-CN" altLang="en-US" sz="1200" b="1" kern="1200" dirty="0">
                <a:solidFill>
                  <a:schemeClr val="tx1"/>
                </a:solidFill>
                <a:latin typeface="+mn-ea"/>
              </a:endParaRPr>
            </a:p>
            <a:p>
              <a:pPr marL="57150" lvl="1" indent="-57150" algn="l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1000" kern="1200" dirty="0">
                  <a:solidFill>
                    <a:schemeClr val="tx1"/>
                  </a:solidFill>
                  <a:latin typeface="+mn-ea"/>
                </a:rPr>
                <a:t>成本</a:t>
              </a:r>
              <a:r>
                <a:rPr lang="en-US" altLang="zh-CN" sz="1000" kern="1200" dirty="0">
                  <a:solidFill>
                    <a:schemeClr val="tx1"/>
                  </a:solidFill>
                  <a:latin typeface="+mn-ea"/>
                </a:rPr>
                <a:t>&amp;</a:t>
              </a:r>
              <a:r>
                <a:rPr lang="zh-CN" altLang="en-US" sz="1000" kern="1200" dirty="0">
                  <a:solidFill>
                    <a:schemeClr val="tx1"/>
                  </a:solidFill>
                  <a:latin typeface="+mn-ea"/>
                </a:rPr>
                <a:t>津贴</a:t>
              </a:r>
              <a:endParaRPr lang="zh-CN" altLang="en-US" sz="1000" kern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76103087" name="箭头: 左 976103086"/>
            <p:cNvSpPr/>
            <p:nvPr/>
          </p:nvSpPr>
          <p:spPr>
            <a:xfrm rot="16200000">
              <a:off x="7745237" y="1298139"/>
              <a:ext cx="613127" cy="189100"/>
            </a:xfrm>
            <a:prstGeom prst="lef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76103088" name="任意多边形: 形状 976103087"/>
            <p:cNvSpPr/>
            <p:nvPr/>
          </p:nvSpPr>
          <p:spPr>
            <a:xfrm>
              <a:off x="7637800" y="833991"/>
              <a:ext cx="828000" cy="504268"/>
            </a:xfrm>
            <a:custGeom>
              <a:avLst/>
              <a:gdLst>
                <a:gd name="connsiteX0" fmla="*/ 0 w 630335"/>
                <a:gd name="connsiteY0" fmla="*/ 50427 h 504268"/>
                <a:gd name="connsiteX1" fmla="*/ 50427 w 630335"/>
                <a:gd name="connsiteY1" fmla="*/ 0 h 504268"/>
                <a:gd name="connsiteX2" fmla="*/ 579908 w 630335"/>
                <a:gd name="connsiteY2" fmla="*/ 0 h 504268"/>
                <a:gd name="connsiteX3" fmla="*/ 630335 w 630335"/>
                <a:gd name="connsiteY3" fmla="*/ 50427 h 504268"/>
                <a:gd name="connsiteX4" fmla="*/ 630335 w 630335"/>
                <a:gd name="connsiteY4" fmla="*/ 453841 h 504268"/>
                <a:gd name="connsiteX5" fmla="*/ 579908 w 630335"/>
                <a:gd name="connsiteY5" fmla="*/ 504268 h 504268"/>
                <a:gd name="connsiteX6" fmla="*/ 50427 w 630335"/>
                <a:gd name="connsiteY6" fmla="*/ 504268 h 504268"/>
                <a:gd name="connsiteX7" fmla="*/ 0 w 630335"/>
                <a:gd name="connsiteY7" fmla="*/ 453841 h 504268"/>
                <a:gd name="connsiteX8" fmla="*/ 0 w 630335"/>
                <a:gd name="connsiteY8" fmla="*/ 50427 h 50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0335" h="504268">
                  <a:moveTo>
                    <a:pt x="0" y="50427"/>
                  </a:moveTo>
                  <a:cubicBezTo>
                    <a:pt x="0" y="22577"/>
                    <a:pt x="22577" y="0"/>
                    <a:pt x="50427" y="0"/>
                  </a:cubicBezTo>
                  <a:lnTo>
                    <a:pt x="579908" y="0"/>
                  </a:lnTo>
                  <a:cubicBezTo>
                    <a:pt x="607758" y="0"/>
                    <a:pt x="630335" y="22577"/>
                    <a:pt x="630335" y="50427"/>
                  </a:cubicBezTo>
                  <a:lnTo>
                    <a:pt x="630335" y="453841"/>
                  </a:lnTo>
                  <a:cubicBezTo>
                    <a:pt x="630335" y="481691"/>
                    <a:pt x="607758" y="504268"/>
                    <a:pt x="579908" y="504268"/>
                  </a:cubicBezTo>
                  <a:lnTo>
                    <a:pt x="50427" y="504268"/>
                  </a:lnTo>
                  <a:cubicBezTo>
                    <a:pt x="22577" y="504268"/>
                    <a:pt x="0" y="481691"/>
                    <a:pt x="0" y="453841"/>
                  </a:cubicBezTo>
                  <a:lnTo>
                    <a:pt x="0" y="50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770" tIns="118964" rIns="50770" bIns="118964" numCol="1" spcCol="1270" anchor="ctr" anchorCtr="0">
              <a:noAutofit/>
            </a:bodyPr>
            <a:lstStyle/>
            <a:p>
              <a:pPr marL="0" lvl="0" indent="0" algn="l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solidFill>
                    <a:schemeClr val="bg1"/>
                  </a:solidFill>
                  <a:latin typeface="+mn-ea"/>
                </a:rPr>
                <a:t>合同运力</a:t>
              </a:r>
              <a:endParaRPr lang="zh-CN" altLang="en-US" sz="1200" b="1" kern="1200" dirty="0">
                <a:solidFill>
                  <a:schemeClr val="bg1"/>
                </a:solidFill>
                <a:latin typeface="+mn-ea"/>
              </a:endParaRPr>
            </a:p>
            <a:p>
              <a:pPr marL="57150" lvl="1" indent="-57150" algn="l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har char="•"/>
              </a:pPr>
              <a:r>
                <a:rPr lang="zh-CN" altLang="en-US" sz="1000" kern="1200" dirty="0">
                  <a:solidFill>
                    <a:schemeClr val="bg1"/>
                  </a:solidFill>
                  <a:latin typeface="+mn-ea"/>
                </a:rPr>
                <a:t>合同</a:t>
              </a:r>
              <a:r>
                <a:rPr lang="en-US" altLang="zh-CN" sz="1000" kern="1200" dirty="0">
                  <a:solidFill>
                    <a:schemeClr val="bg1"/>
                  </a:solidFill>
                  <a:latin typeface="+mn-ea"/>
                </a:rPr>
                <a:t>&amp;</a:t>
              </a:r>
              <a:r>
                <a:rPr lang="zh-CN" altLang="en-US" sz="1000" kern="1200" dirty="0">
                  <a:solidFill>
                    <a:schemeClr val="bg1"/>
                  </a:solidFill>
                  <a:latin typeface="+mn-ea"/>
                </a:rPr>
                <a:t>对账</a:t>
              </a:r>
              <a:endParaRPr lang="zh-CN" altLang="en-US" sz="1000" kern="12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76103089" name="箭头: 左 976103088"/>
            <p:cNvSpPr/>
            <p:nvPr/>
          </p:nvSpPr>
          <p:spPr>
            <a:xfrm rot="20194044">
              <a:off x="8597783" y="1594667"/>
              <a:ext cx="504000" cy="189100"/>
            </a:xfrm>
            <a:prstGeom prst="lef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76103090" name="任意多边形: 形状 976103089"/>
            <p:cNvSpPr/>
            <p:nvPr/>
          </p:nvSpPr>
          <p:spPr>
            <a:xfrm>
              <a:off x="8824000" y="1210744"/>
              <a:ext cx="828000" cy="504268"/>
            </a:xfrm>
            <a:custGeom>
              <a:avLst/>
              <a:gdLst>
                <a:gd name="connsiteX0" fmla="*/ 0 w 630335"/>
                <a:gd name="connsiteY0" fmla="*/ 50427 h 504268"/>
                <a:gd name="connsiteX1" fmla="*/ 50427 w 630335"/>
                <a:gd name="connsiteY1" fmla="*/ 0 h 504268"/>
                <a:gd name="connsiteX2" fmla="*/ 579908 w 630335"/>
                <a:gd name="connsiteY2" fmla="*/ 0 h 504268"/>
                <a:gd name="connsiteX3" fmla="*/ 630335 w 630335"/>
                <a:gd name="connsiteY3" fmla="*/ 50427 h 504268"/>
                <a:gd name="connsiteX4" fmla="*/ 630335 w 630335"/>
                <a:gd name="connsiteY4" fmla="*/ 453841 h 504268"/>
                <a:gd name="connsiteX5" fmla="*/ 579908 w 630335"/>
                <a:gd name="connsiteY5" fmla="*/ 504268 h 504268"/>
                <a:gd name="connsiteX6" fmla="*/ 50427 w 630335"/>
                <a:gd name="connsiteY6" fmla="*/ 504268 h 504268"/>
                <a:gd name="connsiteX7" fmla="*/ 0 w 630335"/>
                <a:gd name="connsiteY7" fmla="*/ 453841 h 504268"/>
                <a:gd name="connsiteX8" fmla="*/ 0 w 630335"/>
                <a:gd name="connsiteY8" fmla="*/ 50427 h 50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0335" h="504268">
                  <a:moveTo>
                    <a:pt x="0" y="50427"/>
                  </a:moveTo>
                  <a:cubicBezTo>
                    <a:pt x="0" y="22577"/>
                    <a:pt x="22577" y="0"/>
                    <a:pt x="50427" y="0"/>
                  </a:cubicBezTo>
                  <a:lnTo>
                    <a:pt x="579908" y="0"/>
                  </a:lnTo>
                  <a:cubicBezTo>
                    <a:pt x="607758" y="0"/>
                    <a:pt x="630335" y="22577"/>
                    <a:pt x="630335" y="50427"/>
                  </a:cubicBezTo>
                  <a:lnTo>
                    <a:pt x="630335" y="453841"/>
                  </a:lnTo>
                  <a:cubicBezTo>
                    <a:pt x="630335" y="481691"/>
                    <a:pt x="607758" y="504268"/>
                    <a:pt x="579908" y="504268"/>
                  </a:cubicBezTo>
                  <a:lnTo>
                    <a:pt x="50427" y="504268"/>
                  </a:lnTo>
                  <a:cubicBezTo>
                    <a:pt x="22577" y="504268"/>
                    <a:pt x="0" y="481691"/>
                    <a:pt x="0" y="453841"/>
                  </a:cubicBezTo>
                  <a:lnTo>
                    <a:pt x="0" y="50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770" tIns="118964" rIns="50770" bIns="118964" numCol="1" spcCol="1270" anchor="ctr" anchorCtr="0">
              <a:noAutofit/>
            </a:bodyPr>
            <a:lstStyle/>
            <a:p>
              <a:pPr marL="0" lvl="0" indent="0" algn="l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solidFill>
                    <a:schemeClr val="tx1"/>
                  </a:solidFill>
                  <a:latin typeface="+mn-ea"/>
                </a:rPr>
                <a:t>临调运力</a:t>
              </a:r>
              <a:endParaRPr lang="zh-CN" altLang="en-US" sz="1200" b="1" kern="1200" dirty="0">
                <a:solidFill>
                  <a:schemeClr val="tx1"/>
                </a:solidFill>
                <a:latin typeface="+mn-ea"/>
              </a:endParaRPr>
            </a:p>
            <a:p>
              <a:pPr marL="57150" lvl="1" indent="-57150" algn="l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har char="•"/>
              </a:pPr>
              <a:r>
                <a:rPr lang="zh-CN" altLang="en-US" sz="1000" kern="1200" dirty="0">
                  <a:solidFill>
                    <a:schemeClr val="tx1"/>
                  </a:solidFill>
                  <a:latin typeface="+mn-ea"/>
                </a:rPr>
                <a:t>询价</a:t>
              </a:r>
              <a:r>
                <a:rPr lang="en-US" altLang="zh-CN" sz="1000" kern="1200" dirty="0">
                  <a:solidFill>
                    <a:schemeClr val="tx1"/>
                  </a:solidFill>
                  <a:latin typeface="+mn-ea"/>
                </a:rPr>
                <a:t>&amp;</a:t>
              </a:r>
              <a:r>
                <a:rPr lang="zh-CN" altLang="en-US" sz="1000" kern="1200" dirty="0">
                  <a:solidFill>
                    <a:schemeClr val="tx1"/>
                  </a:solidFill>
                  <a:latin typeface="+mn-ea"/>
                </a:rPr>
                <a:t>竞价</a:t>
              </a:r>
              <a:endParaRPr lang="zh-CN" altLang="en-US" sz="1000" kern="12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396875" y="2182495"/>
            <a:ext cx="1168400" cy="1021080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zh-CN"/>
            </a:defPPr>
            <a:lvl1pPr lvl="0" algn="ctr" eaLnBrk="0" hangingPunct="0">
              <a:buClrTx/>
              <a:buSzTx/>
              <a:buFontTx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计费场景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1208405" y="3535680"/>
            <a:ext cx="4319905" cy="0"/>
          </a:xfrm>
          <a:prstGeom prst="line">
            <a:avLst/>
          </a:prstGeom>
          <a:ln w="19050">
            <a:gradFill flip="none" rotWithShape="1">
              <a:gsLst>
                <a:gs pos="33000">
                  <a:srgbClr val="E1E1E2"/>
                </a:gs>
                <a:gs pos="9000">
                  <a:schemeClr val="bg1">
                    <a:lumMod val="6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8000">
                  <a:schemeClr val="bg1">
                    <a:lumMod val="65000"/>
                  </a:schemeClr>
                </a:gs>
                <a:gs pos="77000">
                  <a:schemeClr val="bg1">
                    <a:lumMod val="75000"/>
                  </a:schemeClr>
                </a:gs>
                <a:gs pos="54000">
                  <a:schemeClr val="bg1"/>
                </a:gs>
                <a:gs pos="16824">
                  <a:srgbClr val="B9B9BA"/>
                </a:gs>
                <a:gs pos="0">
                  <a:schemeClr val="bg1">
                    <a:alpha val="0"/>
                    <a:lumMod val="0"/>
                  </a:schemeClr>
                </a:gs>
                <a:gs pos="99000">
                  <a:schemeClr val="tx1">
                    <a:alpha val="13000"/>
                    <a:lumMod val="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812800" y="4722495"/>
            <a:ext cx="4319905" cy="0"/>
          </a:xfrm>
          <a:prstGeom prst="line">
            <a:avLst/>
          </a:prstGeom>
          <a:ln w="19050">
            <a:gradFill flip="none" rotWithShape="1">
              <a:gsLst>
                <a:gs pos="33000">
                  <a:srgbClr val="E1E1E2"/>
                </a:gs>
                <a:gs pos="9000">
                  <a:schemeClr val="bg1">
                    <a:lumMod val="6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8000">
                  <a:schemeClr val="bg1">
                    <a:lumMod val="65000"/>
                  </a:schemeClr>
                </a:gs>
                <a:gs pos="77000">
                  <a:schemeClr val="bg1">
                    <a:lumMod val="75000"/>
                  </a:schemeClr>
                </a:gs>
                <a:gs pos="54000">
                  <a:schemeClr val="bg1"/>
                </a:gs>
                <a:gs pos="16824">
                  <a:srgbClr val="B9B9BA"/>
                </a:gs>
                <a:gs pos="0">
                  <a:schemeClr val="bg1">
                    <a:alpha val="0"/>
                    <a:lumMod val="0"/>
                  </a:schemeClr>
                </a:gs>
                <a:gs pos="99000">
                  <a:schemeClr val="tx1">
                    <a:alpha val="13000"/>
                    <a:lumMod val="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7130415" y="3474720"/>
            <a:ext cx="18478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44" name="圆角矩形 2"/>
          <p:cNvSpPr>
            <a:spLocks noChangeArrowheads="1"/>
          </p:cNvSpPr>
          <p:nvPr/>
        </p:nvSpPr>
        <p:spPr bwMode="auto">
          <a:xfrm>
            <a:off x="5807710" y="1501775"/>
            <a:ext cx="6189980" cy="5258435"/>
          </a:xfrm>
          <a:prstGeom prst="roundRect">
            <a:avLst>
              <a:gd name="adj" fmla="val 8528"/>
            </a:avLst>
          </a:prstGeom>
          <a:solidFill>
            <a:schemeClr val="bg1"/>
          </a:solidFill>
          <a:ln w="3175">
            <a:solidFill>
              <a:schemeClr val="accent2"/>
            </a:solidFill>
            <a:prstDash val="sysDot"/>
            <a:round/>
          </a:ln>
        </p:spPr>
        <p:txBody>
          <a:bodyPr/>
          <a:lstStyle/>
          <a:p>
            <a:endParaRPr lang="zh-CN" altLang="en-US" sz="160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6" name="Title 6"/>
          <p:cNvSpPr txBox="1"/>
          <p:nvPr>
            <p:custDataLst>
              <p:tags r:id="rId1"/>
            </p:custDataLst>
          </p:nvPr>
        </p:nvSpPr>
        <p:spPr>
          <a:xfrm>
            <a:off x="7756525" y="3956685"/>
            <a:ext cx="2648585" cy="37973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b="1" kern="0" spc="0" noProof="1">
                <a:ln w="3175">
                  <a:noFill/>
                  <a:prstDash val="dash"/>
                </a:ln>
                <a:solidFill>
                  <a:schemeClr val="accent1"/>
                </a:solidFill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支持发送账单给运输商账号、并且支持线上对账单，打印盖章后上传附件。</a:t>
            </a:r>
            <a:endParaRPr lang="zh-CN" altLang="en-US" sz="1000" b="1" kern="0" spc="0" noProof="1">
              <a:ln w="3175">
                <a:noFill/>
                <a:prstDash val="dash"/>
              </a:ln>
              <a:solidFill>
                <a:schemeClr val="accent1"/>
              </a:solidFill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7" name="Title 6"/>
          <p:cNvSpPr txBox="1"/>
          <p:nvPr>
            <p:custDataLst>
              <p:tags r:id="rId2"/>
            </p:custDataLst>
          </p:nvPr>
        </p:nvSpPr>
        <p:spPr>
          <a:xfrm>
            <a:off x="7804150" y="4837430"/>
            <a:ext cx="2298700" cy="22606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kern="0" spc="0" noProof="1">
                <a:ln w="3175">
                  <a:noFill/>
                  <a:prstDash val="dash"/>
                </a:ln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承运商在平台查看需要确认的账单</a:t>
            </a:r>
            <a:endParaRPr lang="zh-CN" altLang="en-US" sz="1000" kern="0" spc="0" noProof="1">
              <a:ln w="3175">
                <a:noFill/>
                <a:prstDash val="dash"/>
              </a:ln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8" name="Title 6"/>
          <p:cNvSpPr txBox="1"/>
          <p:nvPr>
            <p:custDataLst>
              <p:tags r:id="rId3"/>
            </p:custDataLst>
          </p:nvPr>
        </p:nvSpPr>
        <p:spPr>
          <a:xfrm>
            <a:off x="7728585" y="5539740"/>
            <a:ext cx="1963420" cy="22606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kern="0" spc="0" noProof="1">
                <a:ln w="3175">
                  <a:noFill/>
                  <a:prstDash val="dash"/>
                </a:ln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支持在平台进行发票</a:t>
            </a:r>
            <a:r>
              <a:rPr lang="zh-CN" altLang="en-US" sz="1000" kern="0" spc="0" noProof="1">
                <a:ln w="3175">
                  <a:noFill/>
                  <a:prstDash val="dash"/>
                </a:ln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识别</a:t>
            </a:r>
            <a:endParaRPr lang="zh-CN" altLang="en-US" sz="1000" kern="0" spc="0" noProof="1">
              <a:ln w="3175">
                <a:noFill/>
                <a:prstDash val="dash"/>
              </a:ln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7067550" y="3586480"/>
            <a:ext cx="1905" cy="378460"/>
          </a:xfrm>
          <a:prstGeom prst="straightConnector1">
            <a:avLst/>
          </a:prstGeom>
          <a:ln w="12700">
            <a:solidFill>
              <a:srgbClr val="A874F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7067550" y="5103495"/>
            <a:ext cx="1905" cy="378460"/>
          </a:xfrm>
          <a:prstGeom prst="straightConnector1">
            <a:avLst/>
          </a:prstGeom>
          <a:ln w="12700">
            <a:solidFill>
              <a:srgbClr val="A874F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>
            <a:off x="7067550" y="5862320"/>
            <a:ext cx="1905" cy="378460"/>
          </a:xfrm>
          <a:prstGeom prst="straightConnector1">
            <a:avLst/>
          </a:prstGeom>
          <a:ln w="12700">
            <a:solidFill>
              <a:srgbClr val="A874F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7069455" y="2829560"/>
            <a:ext cx="0" cy="378460"/>
          </a:xfrm>
          <a:prstGeom prst="straightConnector1">
            <a:avLst/>
          </a:prstGeom>
          <a:ln w="12700">
            <a:solidFill>
              <a:srgbClr val="A874FB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7069455" y="4345940"/>
            <a:ext cx="0" cy="378460"/>
          </a:xfrm>
          <a:prstGeom prst="straightConnector1">
            <a:avLst/>
          </a:prstGeom>
          <a:ln w="12700">
            <a:solidFill>
              <a:srgbClr val="A874FB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6"/>
          <p:cNvSpPr txBox="1"/>
          <p:nvPr>
            <p:custDataLst>
              <p:tags r:id="rId4"/>
            </p:custDataLst>
          </p:nvPr>
        </p:nvSpPr>
        <p:spPr>
          <a:xfrm>
            <a:off x="7728585" y="3265805"/>
            <a:ext cx="1836420" cy="22669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b="1" kern="0" spc="0" noProof="1">
                <a:solidFill>
                  <a:schemeClr val="accent1"/>
                </a:solidFill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支持生成费用调整、重算</a:t>
            </a:r>
            <a:endParaRPr lang="zh-CN" altLang="en-US" sz="1000" b="1" kern="0" spc="0" noProof="1">
              <a:ln w="3175">
                <a:noFill/>
                <a:prstDash val="dash"/>
              </a:ln>
              <a:solidFill>
                <a:schemeClr val="accent1"/>
              </a:solidFill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 bwMode="auto">
          <a:xfrm rot="0">
            <a:off x="6414135" y="2469515"/>
            <a:ext cx="1309370" cy="341630"/>
            <a:chOff x="10601" y="3068"/>
            <a:chExt cx="4167" cy="924"/>
          </a:xfrm>
        </p:grpSpPr>
        <p:sp>
          <p:nvSpPr>
            <p:cNvPr id="976103081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1100">
                <a:solidFill>
                  <a:schemeClr val="tx1"/>
                </a:solidFill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82" name="圆角矩形 148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83" name="文本框 115"/>
            <p:cNvSpPr txBox="1">
              <a:spLocks noChangeArrowheads="1"/>
            </p:cNvSpPr>
            <p:nvPr/>
          </p:nvSpPr>
          <p:spPr bwMode="auto">
            <a:xfrm>
              <a:off x="10939" y="3256"/>
              <a:ext cx="3492" cy="545"/>
            </a:xfrm>
            <a:prstGeom prst="rect">
              <a:avLst/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44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100" b="1" dirty="0">
                  <a:solidFill>
                    <a:schemeClr val="tx1"/>
                  </a:solidFill>
                  <a:latin typeface="+mn-ea"/>
                  <a:ea typeface="+mn-ea"/>
                  <a:sym typeface="Calibri" panose="020F0502020204030204" pitchFamily="34" charset="0"/>
                </a:rPr>
                <a:t>生成结算账单</a:t>
              </a:r>
              <a:endParaRPr lang="zh-CN" altLang="en-US" sz="1100" b="1" dirty="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56" name="组合 116"/>
          <p:cNvGrpSpPr/>
          <p:nvPr/>
        </p:nvGrpSpPr>
        <p:grpSpPr bwMode="auto">
          <a:xfrm rot="0">
            <a:off x="6414135" y="3226435"/>
            <a:ext cx="1309370" cy="341630"/>
            <a:chOff x="10601" y="3068"/>
            <a:chExt cx="4167" cy="924"/>
          </a:xfrm>
        </p:grpSpPr>
        <p:sp>
          <p:nvSpPr>
            <p:cNvPr id="976103078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9" name="圆角矩形 118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80" name="文本框 119"/>
            <p:cNvSpPr txBox="1">
              <a:spLocks noChangeArrowheads="1"/>
            </p:cNvSpPr>
            <p:nvPr/>
          </p:nvSpPr>
          <p:spPr bwMode="auto">
            <a:xfrm>
              <a:off x="10939" y="3256"/>
              <a:ext cx="3492" cy="545"/>
            </a:xfrm>
            <a:prstGeom prst="rect">
              <a:avLst/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1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latin typeface="+mn-ea"/>
                  <a:ea typeface="+mn-ea"/>
                  <a:sym typeface="Calibri" panose="020F0502020204030204" pitchFamily="34" charset="0"/>
                </a:rPr>
                <a:t>调整账单</a:t>
              </a:r>
              <a:endParaRPr lang="zh-CN" altLang="en-US" dirty="0"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57" name="组合 120"/>
          <p:cNvGrpSpPr/>
          <p:nvPr/>
        </p:nvGrpSpPr>
        <p:grpSpPr bwMode="auto">
          <a:xfrm rot="0">
            <a:off x="6414135" y="3983990"/>
            <a:ext cx="1309370" cy="343535"/>
            <a:chOff x="10601" y="3068"/>
            <a:chExt cx="4167" cy="924"/>
          </a:xfrm>
        </p:grpSpPr>
        <p:sp>
          <p:nvSpPr>
            <p:cNvPr id="976103075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6" name="圆角矩形 122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7" name="文本框 123"/>
            <p:cNvSpPr txBox="1">
              <a:spLocks noChangeArrowheads="1"/>
            </p:cNvSpPr>
            <p:nvPr/>
          </p:nvSpPr>
          <p:spPr bwMode="auto">
            <a:xfrm>
              <a:off x="10939" y="3256"/>
              <a:ext cx="3492" cy="545"/>
            </a:xfrm>
            <a:prstGeom prst="rect">
              <a:avLst/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1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latin typeface="+mn-ea"/>
                  <a:ea typeface="+mn-ea"/>
                  <a:sym typeface="Calibri" panose="020F0502020204030204" pitchFamily="34" charset="0"/>
                </a:rPr>
                <a:t>发送账单</a:t>
              </a:r>
              <a:endParaRPr lang="zh-CN" altLang="en-US" dirty="0"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58" name="组合 124"/>
          <p:cNvGrpSpPr/>
          <p:nvPr/>
        </p:nvGrpSpPr>
        <p:grpSpPr bwMode="auto">
          <a:xfrm rot="0">
            <a:off x="6414135" y="4743450"/>
            <a:ext cx="1309370" cy="341630"/>
            <a:chOff x="10601" y="3068"/>
            <a:chExt cx="4167" cy="924"/>
          </a:xfrm>
        </p:grpSpPr>
        <p:sp>
          <p:nvSpPr>
            <p:cNvPr id="976103072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3" name="圆角矩形 126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4" name="文本框 127"/>
            <p:cNvSpPr txBox="1">
              <a:spLocks noChangeArrowheads="1"/>
            </p:cNvSpPr>
            <p:nvPr/>
          </p:nvSpPr>
          <p:spPr bwMode="auto">
            <a:xfrm>
              <a:off x="10939" y="3256"/>
              <a:ext cx="3492" cy="545"/>
            </a:xfrm>
            <a:prstGeom prst="rect">
              <a:avLst/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1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latin typeface="+mn-ea"/>
                  <a:ea typeface="+mn-ea"/>
                  <a:sym typeface="Calibri" panose="020F0502020204030204" pitchFamily="34" charset="0"/>
                </a:rPr>
                <a:t>确认账单</a:t>
              </a:r>
              <a:endParaRPr lang="zh-CN" altLang="en-US" dirty="0"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59" name="组合 128"/>
          <p:cNvGrpSpPr/>
          <p:nvPr/>
        </p:nvGrpSpPr>
        <p:grpSpPr bwMode="auto">
          <a:xfrm rot="0">
            <a:off x="6414135" y="5500370"/>
            <a:ext cx="1309370" cy="343535"/>
            <a:chOff x="10601" y="3068"/>
            <a:chExt cx="4167" cy="924"/>
          </a:xfrm>
        </p:grpSpPr>
        <p:sp>
          <p:nvSpPr>
            <p:cNvPr id="976103069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0" name="圆角矩形 130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71" name="文本框 131"/>
            <p:cNvSpPr txBox="1">
              <a:spLocks noChangeArrowheads="1"/>
            </p:cNvSpPr>
            <p:nvPr/>
          </p:nvSpPr>
          <p:spPr bwMode="auto">
            <a:xfrm>
              <a:off x="10939" y="3256"/>
              <a:ext cx="3492" cy="545"/>
            </a:xfrm>
            <a:prstGeom prst="rect">
              <a:avLst/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1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latin typeface="+mn-ea"/>
                  <a:ea typeface="+mn-ea"/>
                  <a:sym typeface="Calibri" panose="020F0502020204030204" pitchFamily="34" charset="0"/>
                </a:rPr>
                <a:t>发票</a:t>
              </a:r>
              <a:r>
                <a:rPr lang="zh-CN" altLang="en-US" dirty="0">
                  <a:latin typeface="+mn-ea"/>
                  <a:ea typeface="+mn-ea"/>
                  <a:sym typeface="Calibri" panose="020F0502020204030204" pitchFamily="34" charset="0"/>
                </a:rPr>
                <a:t>识别</a:t>
              </a:r>
              <a:endParaRPr lang="zh-CN" altLang="en-US" dirty="0"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60" name="组合 132"/>
          <p:cNvGrpSpPr/>
          <p:nvPr/>
        </p:nvGrpSpPr>
        <p:grpSpPr bwMode="auto">
          <a:xfrm rot="0">
            <a:off x="6414135" y="6259830"/>
            <a:ext cx="1309370" cy="341630"/>
            <a:chOff x="10601" y="3068"/>
            <a:chExt cx="4167" cy="924"/>
          </a:xfrm>
        </p:grpSpPr>
        <p:sp>
          <p:nvSpPr>
            <p:cNvPr id="976103066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67" name="圆角矩形 134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40"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68" name="文本框 135"/>
            <p:cNvSpPr txBox="1">
              <a:spLocks noChangeArrowheads="1"/>
            </p:cNvSpPr>
            <p:nvPr/>
          </p:nvSpPr>
          <p:spPr bwMode="auto">
            <a:xfrm>
              <a:off x="10939" y="3256"/>
              <a:ext cx="3492" cy="545"/>
            </a:xfrm>
            <a:prstGeom prst="rect">
              <a:avLst/>
            </a:prstGeom>
            <a:solidFill>
              <a:srgbClr val="DDDDE9"/>
            </a:solidFill>
            <a:ln w="63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 sz="11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latin typeface="+mn-ea"/>
                  <a:ea typeface="+mn-ea"/>
                  <a:sym typeface="Calibri" panose="020F0502020204030204" pitchFamily="34" charset="0"/>
                </a:rPr>
                <a:t>支付确认</a:t>
              </a:r>
              <a:endParaRPr lang="zh-CN" altLang="en-US" dirty="0"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grpSp>
        <p:nvGrpSpPr>
          <p:cNvPr id="976103040" name="组合 150"/>
          <p:cNvGrpSpPr/>
          <p:nvPr/>
        </p:nvGrpSpPr>
        <p:grpSpPr bwMode="auto">
          <a:xfrm rot="0">
            <a:off x="7534275" y="1339850"/>
            <a:ext cx="2664460" cy="343535"/>
            <a:chOff x="10601" y="3068"/>
            <a:chExt cx="4167" cy="924"/>
          </a:xfrm>
          <a:solidFill>
            <a:schemeClr val="accent1"/>
          </a:solidFill>
        </p:grpSpPr>
        <p:sp>
          <p:nvSpPr>
            <p:cNvPr id="976103060" name="圆角矩形 4"/>
            <p:cNvSpPr>
              <a:spLocks noChangeArrowheads="1"/>
            </p:cNvSpPr>
            <p:nvPr/>
          </p:nvSpPr>
          <p:spPr bwMode="auto">
            <a:xfrm>
              <a:off x="10644" y="3123"/>
              <a:ext cx="4079" cy="811"/>
            </a:xfrm>
            <a:prstGeom prst="roundRect">
              <a:avLst>
                <a:gd name="adj" fmla="val 50000"/>
              </a:avLst>
            </a:prstGeom>
            <a:grpFill/>
            <a:ln w="9525" cap="flat" cmpd="sng" algn="ctr">
              <a:noFill/>
              <a:prstDash val="sysDot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eaLnBrk="0" hangingPunct="0"/>
              <a:endParaRPr lang="en-US" altLang="en-US" sz="1200" b="1">
                <a:solidFill>
                  <a:schemeClr val="bg1"/>
                </a:solidFill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61" name="圆角矩形 152"/>
            <p:cNvSpPr>
              <a:spLocks noChangeArrowheads="1"/>
            </p:cNvSpPr>
            <p:nvPr/>
          </p:nvSpPr>
          <p:spPr bwMode="auto">
            <a:xfrm>
              <a:off x="10601" y="3068"/>
              <a:ext cx="4167" cy="924"/>
            </a:xfrm>
            <a:prstGeom prst="roundRect">
              <a:avLst>
                <a:gd name="adj" fmla="val 50000"/>
              </a:avLst>
            </a:prstGeom>
            <a:grpFill/>
            <a:ln w="9525" cap="flat" cmpd="sng" algn="ctr">
              <a:noFill/>
              <a:prstDash val="sysDot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eaLnBrk="0" hangingPunct="0"/>
              <a:endParaRPr lang="zh-CN" altLang="en-US" sz="1200" b="1">
                <a:solidFill>
                  <a:schemeClr val="bg1"/>
                </a:solidFill>
                <a:latin typeface="+mn-ea"/>
                <a:sym typeface="Calibri" panose="020F0502020204030204" pitchFamily="34" charset="0"/>
              </a:endParaRPr>
            </a:p>
          </p:txBody>
        </p:sp>
        <p:sp>
          <p:nvSpPr>
            <p:cNvPr id="976103062" name="文本框 153"/>
            <p:cNvSpPr txBox="1">
              <a:spLocks noChangeArrowheads="1"/>
            </p:cNvSpPr>
            <p:nvPr/>
          </p:nvSpPr>
          <p:spPr bwMode="auto">
            <a:xfrm>
              <a:off x="10814" y="3226"/>
              <a:ext cx="3741" cy="605"/>
            </a:xfrm>
            <a:prstGeom prst="rect">
              <a:avLst/>
            </a:prstGeom>
            <a:grpFill/>
            <a:ln w="9525" cap="flat" cmpd="sng" algn="ctr">
              <a:noFill/>
              <a:prstDash val="sysDot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>
              <a:defPPr>
                <a:defRPr lang="zh-CN"/>
              </a:defPPr>
              <a:lvl1pPr lvl="0" algn="ctr" eaLnBrk="0" hangingPunct="0">
                <a:buClrTx/>
                <a:buSzTx/>
                <a:buFontTx/>
                <a:defRPr sz="12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1400" dirty="0">
                  <a:solidFill>
                    <a:schemeClr val="bg1"/>
                  </a:solidFill>
                  <a:latin typeface="+mn-ea"/>
                  <a:ea typeface="+mn-ea"/>
                  <a:sym typeface="Calibri" panose="020F0502020204030204" pitchFamily="34" charset="0"/>
                </a:rPr>
                <a:t>全流程线上对账</a:t>
              </a:r>
              <a:endParaRPr lang="zh-CN" altLang="en-US" sz="1400" dirty="0">
                <a:solidFill>
                  <a:schemeClr val="bg1"/>
                </a:solidFill>
                <a:latin typeface="+mn-ea"/>
                <a:ea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976103041" name="圆角矩形 148"/>
          <p:cNvSpPr>
            <a:spLocks noChangeArrowheads="1"/>
          </p:cNvSpPr>
          <p:nvPr/>
        </p:nvSpPr>
        <p:spPr bwMode="auto">
          <a:xfrm>
            <a:off x="6416040" y="1772285"/>
            <a:ext cx="1309370" cy="341630"/>
          </a:xfrm>
          <a:prstGeom prst="roundRect">
            <a:avLst>
              <a:gd name="adj" fmla="val 50000"/>
            </a:avLst>
          </a:prstGeom>
          <a:solidFill>
            <a:srgbClr val="DDDDE9"/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+mn-ea"/>
                <a:sym typeface="Calibri" panose="020F0502020204030204" pitchFamily="34" charset="0"/>
              </a:rPr>
              <a:t>设置计费规则</a:t>
            </a:r>
            <a:endParaRPr lang="en-US" altLang="zh-CN" sz="1100" b="1" dirty="0">
              <a:solidFill>
                <a:schemeClr val="tx1"/>
              </a:solidFill>
              <a:latin typeface="+mn-ea"/>
              <a:sym typeface="Calibri" panose="020F0502020204030204" pitchFamily="34" charset="0"/>
            </a:endParaRPr>
          </a:p>
        </p:txBody>
      </p:sp>
      <p:cxnSp>
        <p:nvCxnSpPr>
          <p:cNvPr id="976103042" name="直接箭头连接符 976103041"/>
          <p:cNvCxnSpPr>
            <a:stCxn id="976103041" idx="2"/>
          </p:cNvCxnSpPr>
          <p:nvPr/>
        </p:nvCxnSpPr>
        <p:spPr>
          <a:xfrm flipH="1">
            <a:off x="7068820" y="2113915"/>
            <a:ext cx="2540" cy="355600"/>
          </a:xfrm>
          <a:prstGeom prst="straightConnector1">
            <a:avLst/>
          </a:prstGeom>
          <a:ln w="12700">
            <a:solidFill>
              <a:srgbClr val="A874FB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6103044" name="Title 6"/>
          <p:cNvSpPr txBox="1"/>
          <p:nvPr>
            <p:custDataLst>
              <p:tags r:id="rId5"/>
            </p:custDataLst>
          </p:nvPr>
        </p:nvSpPr>
        <p:spPr>
          <a:xfrm>
            <a:off x="7739380" y="1835785"/>
            <a:ext cx="2661920" cy="22669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kern="0" spc="0" noProof="1"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根据运力结构、业务场景配置计费规则</a:t>
            </a:r>
            <a:endParaRPr lang="zh-CN" altLang="en-US" sz="1000" kern="0" spc="0" noProof="1">
              <a:ln w="3175">
                <a:noFill/>
                <a:prstDash val="dash"/>
              </a:ln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grpSp>
        <p:nvGrpSpPr>
          <p:cNvPr id="976103045" name="组合 976103044"/>
          <p:cNvGrpSpPr/>
          <p:nvPr/>
        </p:nvGrpSpPr>
        <p:grpSpPr>
          <a:xfrm rot="0">
            <a:off x="455295" y="1456055"/>
            <a:ext cx="1833880" cy="542925"/>
            <a:chOff x="1828089" y="1114592"/>
            <a:chExt cx="1833920" cy="542925"/>
          </a:xfrm>
        </p:grpSpPr>
        <p:grpSp>
          <p:nvGrpSpPr>
            <p:cNvPr id="976103048" name="组合 164"/>
            <p:cNvGrpSpPr/>
            <p:nvPr/>
          </p:nvGrpSpPr>
          <p:grpSpPr bwMode="auto">
            <a:xfrm>
              <a:off x="3072689" y="1114592"/>
              <a:ext cx="544512" cy="542925"/>
              <a:chOff x="3408" y="3388"/>
              <a:chExt cx="736" cy="736"/>
            </a:xfrm>
          </p:grpSpPr>
          <p:sp>
            <p:nvSpPr>
              <p:cNvPr id="976103058" name="圆角矩形 4"/>
              <p:cNvSpPr>
                <a:spLocks noChangeArrowheads="1"/>
              </p:cNvSpPr>
              <p:nvPr/>
            </p:nvSpPr>
            <p:spPr bwMode="auto">
              <a:xfrm>
                <a:off x="3436" y="3416"/>
                <a:ext cx="680" cy="68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prstDash val="sysDot"/>
                <a:round/>
              </a:ln>
            </p:spPr>
            <p:txBody>
              <a:bodyPr/>
              <a:lstStyle/>
              <a:p>
                <a:pPr eaLnBrk="0" hangingPunct="0"/>
                <a:endParaRPr lang="en-US" altLang="en-US" sz="1400">
                  <a:latin typeface="+mn-ea"/>
                  <a:sym typeface="Calibri" panose="020F0502020204030204" pitchFamily="34" charset="0"/>
                </a:endParaRPr>
              </a:p>
            </p:txBody>
          </p:sp>
          <p:sp>
            <p:nvSpPr>
              <p:cNvPr id="976103059" name="椭圆 166"/>
              <p:cNvSpPr>
                <a:spLocks noChangeArrowheads="1"/>
              </p:cNvSpPr>
              <p:nvPr/>
            </p:nvSpPr>
            <p:spPr bwMode="auto">
              <a:xfrm>
                <a:off x="3408" y="3388"/>
                <a:ext cx="737" cy="737"/>
              </a:xfrm>
              <a:prstGeom prst="ellipse">
                <a:avLst/>
              </a:prstGeom>
              <a:noFill/>
              <a:ln w="6350">
                <a:solidFill>
                  <a:srgbClr val="3F23AA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9" tIns="34295" rIns="68589" bIns="34295" anchor="ctr"/>
              <a:lstStyle/>
              <a:p>
                <a:pPr algn="ctr"/>
                <a:endParaRPr lang="zh-CN" altLang="en-US" sz="1400">
                  <a:solidFill>
                    <a:srgbClr val="FFFFFF"/>
                  </a:solidFill>
                  <a:latin typeface="+mn-ea"/>
                  <a:sym typeface="Calibri" panose="020F0502020204030204" pitchFamily="34" charset="0"/>
                </a:endParaRPr>
              </a:p>
            </p:txBody>
          </p:sp>
        </p:grpSp>
        <p:sp>
          <p:nvSpPr>
            <p:cNvPr id="976103049" name="文本框 19"/>
            <p:cNvSpPr txBox="1">
              <a:spLocks noChangeArrowheads="1"/>
            </p:cNvSpPr>
            <p:nvPr/>
          </p:nvSpPr>
          <p:spPr bwMode="auto">
            <a:xfrm>
              <a:off x="3044472" y="1391951"/>
              <a:ext cx="617537" cy="211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900" b="1" dirty="0">
                  <a:solidFill>
                    <a:srgbClr val="FFFFFF"/>
                  </a:solidFill>
                  <a:latin typeface="+mn-ea"/>
                  <a:cs typeface="阿里巴巴普惠体 2.0 55 Regular" panose="00020600040101010101" pitchFamily="18" charset="-122"/>
                  <a:sym typeface="Arial" panose="020B0604020202020204" pitchFamily="34" charset="0"/>
                </a:rPr>
                <a:t>承运商</a:t>
              </a:r>
              <a:endParaRPr lang="zh-CN" altLang="en-US" sz="900" b="1" dirty="0">
                <a:solidFill>
                  <a:srgbClr val="FFFFFF"/>
                </a:solidFill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976103050" name="文本框 20"/>
            <p:cNvSpPr txBox="1">
              <a:spLocks noChangeArrowheads="1"/>
            </p:cNvSpPr>
            <p:nvPr/>
          </p:nvSpPr>
          <p:spPr bwMode="auto">
            <a:xfrm>
              <a:off x="2244014" y="1257467"/>
              <a:ext cx="919162" cy="153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zh-CN" altLang="en-US" sz="1000" b="1">
                  <a:latin typeface="+mn-ea"/>
                  <a:cs typeface="阿里巴巴普惠体 2.0 55 Regular" panose="00020600040101010101" pitchFamily="18" charset="-122"/>
                  <a:sym typeface="Arial" panose="020B0604020202020204" pitchFamily="34" charset="0"/>
                </a:rPr>
                <a:t>应付合同</a:t>
              </a:r>
              <a:endParaRPr lang="zh-CN" altLang="en-US" sz="1000" b="1"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endParaRPr>
            </a:p>
          </p:txBody>
        </p:sp>
        <p:pic>
          <p:nvPicPr>
            <p:cNvPr id="976103051" name="图片 154" descr="承运商管理"/>
            <p:cNvPicPr>
              <a:picLocks noChangeAspect="1" noChangeArrowheads="1"/>
            </p:cNvPicPr>
            <p:nvPr/>
          </p:nvPicPr>
          <p:blipFill>
            <a:blip r:embed="rId6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3176" y="1117767"/>
              <a:ext cx="360363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76103052" name="直接箭头连接符 171"/>
            <p:cNvCxnSpPr>
              <a:cxnSpLocks noChangeShapeType="1"/>
            </p:cNvCxnSpPr>
            <p:nvPr/>
          </p:nvCxnSpPr>
          <p:spPr bwMode="auto">
            <a:xfrm rot="10800000" flipH="1">
              <a:off x="2363076" y="1417805"/>
              <a:ext cx="720725" cy="0"/>
            </a:xfrm>
            <a:prstGeom prst="straightConnector1">
              <a:avLst/>
            </a:prstGeom>
            <a:noFill/>
            <a:ln w="9525">
              <a:solidFill>
                <a:srgbClr val="1995DA"/>
              </a:solidFill>
              <a:prstDash val="sysDash"/>
              <a:round/>
              <a:tailEnd type="triangle" w="med" len="med"/>
            </a:ln>
          </p:spPr>
        </p:cxnSp>
        <p:grpSp>
          <p:nvGrpSpPr>
            <p:cNvPr id="976103053" name="组合 174"/>
            <p:cNvGrpSpPr/>
            <p:nvPr/>
          </p:nvGrpSpPr>
          <p:grpSpPr bwMode="auto">
            <a:xfrm>
              <a:off x="1828089" y="1114592"/>
              <a:ext cx="544512" cy="542925"/>
              <a:chOff x="2918" y="2620"/>
              <a:chExt cx="856" cy="856"/>
            </a:xfrm>
          </p:grpSpPr>
          <p:grpSp>
            <p:nvGrpSpPr>
              <p:cNvPr id="976103054" name="组合 160"/>
              <p:cNvGrpSpPr/>
              <p:nvPr/>
            </p:nvGrpSpPr>
            <p:grpSpPr bwMode="auto">
              <a:xfrm>
                <a:off x="2918" y="2620"/>
                <a:ext cx="856" cy="856"/>
                <a:chOff x="3408" y="3388"/>
                <a:chExt cx="736" cy="736"/>
              </a:xfrm>
            </p:grpSpPr>
            <p:sp>
              <p:nvSpPr>
                <p:cNvPr id="976103056" name="圆角矩形 4"/>
                <p:cNvSpPr>
                  <a:spLocks noChangeArrowheads="1"/>
                </p:cNvSpPr>
                <p:nvPr/>
              </p:nvSpPr>
              <p:spPr bwMode="auto">
                <a:xfrm>
                  <a:off x="3436" y="3416"/>
                  <a:ext cx="680" cy="6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ysDot"/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en-US" altLang="en-US" sz="1400">
                    <a:latin typeface="+mn-ea"/>
                    <a:sym typeface="Calibri" panose="020F0502020204030204" pitchFamily="34" charset="0"/>
                  </a:endParaRPr>
                </a:p>
              </p:txBody>
            </p:sp>
            <p:sp>
              <p:nvSpPr>
                <p:cNvPr id="976103057" name="椭圆 158"/>
                <p:cNvSpPr>
                  <a:spLocks noChangeArrowheads="1"/>
                </p:cNvSpPr>
                <p:nvPr/>
              </p:nvSpPr>
              <p:spPr bwMode="auto">
                <a:xfrm>
                  <a:off x="3408" y="3388"/>
                  <a:ext cx="737" cy="737"/>
                </a:xfrm>
                <a:prstGeom prst="ellipse">
                  <a:avLst/>
                </a:prstGeom>
                <a:noFill/>
                <a:ln w="6350">
                  <a:solidFill>
                    <a:srgbClr val="3F23AA"/>
                  </a:solidFill>
                  <a:prstDash val="sysDash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68589" tIns="34295" rIns="68589" bIns="34295" anchor="ctr"/>
                <a:lstStyle/>
                <a:p>
                  <a:pPr algn="ctr"/>
                  <a:endParaRPr lang="zh-CN" altLang="en-US" sz="1400">
                    <a:solidFill>
                      <a:srgbClr val="FFFFFF"/>
                    </a:solidFill>
                    <a:latin typeface="+mn-ea"/>
                    <a:sym typeface="Calibri" panose="020F0502020204030204" pitchFamily="34" charset="0"/>
                  </a:endParaRPr>
                </a:p>
              </p:txBody>
            </p:sp>
          </p:grpSp>
          <p:pic>
            <p:nvPicPr>
              <p:cNvPr id="976103055" name="图片 173" descr="我"/>
              <p:cNvPicPr>
                <a:picLocks noChangeAspect="1" noChangeArrowheads="1"/>
              </p:cNvPicPr>
              <p:nvPr/>
            </p:nvPicPr>
            <p:blipFill>
              <a:blip r:embed="rId7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1" y="2774"/>
                <a:ext cx="454" cy="4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976103046" name="Title 6"/>
          <p:cNvSpPr txBox="1"/>
          <p:nvPr>
            <p:custDataLst>
              <p:tags r:id="rId8"/>
            </p:custDataLst>
          </p:nvPr>
        </p:nvSpPr>
        <p:spPr>
          <a:xfrm>
            <a:off x="7737475" y="2503805"/>
            <a:ext cx="2158365" cy="22669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kern="0" spc="0" noProof="1"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支持按订单、运单生成账单</a:t>
            </a:r>
            <a:endParaRPr lang="zh-CN" altLang="en-US" sz="1000" kern="0" spc="0" noProof="1">
              <a:ln w="3175">
                <a:noFill/>
                <a:prstDash val="dash"/>
              </a:ln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976103047" name="Title 6"/>
          <p:cNvSpPr txBox="1"/>
          <p:nvPr>
            <p:custDataLst>
              <p:tags r:id="rId9"/>
            </p:custDataLst>
          </p:nvPr>
        </p:nvSpPr>
        <p:spPr>
          <a:xfrm>
            <a:off x="7804150" y="6280150"/>
            <a:ext cx="2744470" cy="38100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72000" tIns="36195" rIns="72000" bIns="36195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171450" indent="-171450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b="1" kern="0" spc="0" noProof="1">
                <a:ln w="3175">
                  <a:noFill/>
                  <a:prstDash val="dash"/>
                </a:ln>
                <a:solidFill>
                  <a:schemeClr val="accent1"/>
                </a:solidFill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财务支付完成后，支持短信通知承运商</a:t>
            </a:r>
            <a:r>
              <a:rPr lang="en-US" altLang="zh-CN" sz="1000" b="1" kern="0" spc="0" noProof="1">
                <a:ln w="3175">
                  <a:noFill/>
                  <a:prstDash val="dash"/>
                </a:ln>
                <a:solidFill>
                  <a:schemeClr val="accent1"/>
                </a:solidFill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/</a:t>
            </a:r>
            <a:r>
              <a:rPr lang="zh-CN" altLang="en-US" sz="1000" b="1" kern="0" spc="0" noProof="1">
                <a:ln w="3175">
                  <a:noFill/>
                  <a:prstDash val="dash"/>
                </a:ln>
                <a:solidFill>
                  <a:schemeClr val="accent1"/>
                </a:solidFill>
                <a:latin typeface="+mn-ea"/>
                <a:cs typeface="阿里巴巴普惠体 2.0 55 Regular" panose="00020600040101010101" pitchFamily="18" charset="-122"/>
                <a:sym typeface="Arial" panose="020B0604020202020204" pitchFamily="34" charset="0"/>
              </a:rPr>
              <a:t>支持在平台进行支付确认。</a:t>
            </a:r>
            <a:endParaRPr lang="zh-CN" altLang="en-US" sz="1000" b="1" kern="0" spc="0" noProof="1">
              <a:ln w="3175">
                <a:noFill/>
                <a:prstDash val="dash"/>
              </a:ln>
              <a:solidFill>
                <a:schemeClr val="accent1"/>
              </a:solidFill>
              <a:latin typeface="+mn-ea"/>
              <a:cs typeface="阿里巴巴普惠体 2.0 55 Regular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31303" y="4244913"/>
            <a:ext cx="773534" cy="334024"/>
          </a:xfrm>
          <a:prstGeom prst="rect">
            <a:avLst/>
          </a:prstGeom>
          <a:solidFill>
            <a:schemeClr val="accent6"/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+mn-ea"/>
              </a:rPr>
              <a:t>费用</a:t>
            </a:r>
            <a:r>
              <a:rPr lang="zh-CN" altLang="en-US" sz="1100" b="1" dirty="0">
                <a:solidFill>
                  <a:schemeClr val="bg1"/>
                </a:solidFill>
                <a:latin typeface="+mn-ea"/>
              </a:rPr>
              <a:t>结算</a:t>
            </a:r>
            <a:endParaRPr lang="zh-CN" altLang="en-US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任意多边形: 形状 976103099"/>
          <p:cNvSpPr/>
          <p:nvPr/>
        </p:nvSpPr>
        <p:spPr>
          <a:xfrm>
            <a:off x="2674349" y="4342894"/>
            <a:ext cx="163989" cy="138063"/>
          </a:xfrm>
          <a:custGeom>
            <a:avLst/>
            <a:gdLst>
              <a:gd name="connsiteX0" fmla="*/ 0 w 163989"/>
              <a:gd name="connsiteY0" fmla="*/ 38367 h 191836"/>
              <a:gd name="connsiteX1" fmla="*/ 81995 w 163989"/>
              <a:gd name="connsiteY1" fmla="*/ 38367 h 191836"/>
              <a:gd name="connsiteX2" fmla="*/ 81995 w 163989"/>
              <a:gd name="connsiteY2" fmla="*/ 0 h 191836"/>
              <a:gd name="connsiteX3" fmla="*/ 163989 w 163989"/>
              <a:gd name="connsiteY3" fmla="*/ 95918 h 191836"/>
              <a:gd name="connsiteX4" fmla="*/ 81995 w 163989"/>
              <a:gd name="connsiteY4" fmla="*/ 191836 h 191836"/>
              <a:gd name="connsiteX5" fmla="*/ 81995 w 163989"/>
              <a:gd name="connsiteY5" fmla="*/ 153469 h 191836"/>
              <a:gd name="connsiteX6" fmla="*/ 0 w 163989"/>
              <a:gd name="connsiteY6" fmla="*/ 153469 h 191836"/>
              <a:gd name="connsiteX7" fmla="*/ 0 w 163989"/>
              <a:gd name="connsiteY7" fmla="*/ 38367 h 19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3989" h="191836">
                <a:moveTo>
                  <a:pt x="163989" y="153469"/>
                </a:moveTo>
                <a:lnTo>
                  <a:pt x="81994" y="153469"/>
                </a:lnTo>
                <a:lnTo>
                  <a:pt x="81994" y="191836"/>
                </a:lnTo>
                <a:lnTo>
                  <a:pt x="0" y="95918"/>
                </a:lnTo>
                <a:lnTo>
                  <a:pt x="81994" y="0"/>
                </a:lnTo>
                <a:lnTo>
                  <a:pt x="81994" y="38367"/>
                </a:lnTo>
                <a:lnTo>
                  <a:pt x="163989" y="38367"/>
                </a:lnTo>
                <a:lnTo>
                  <a:pt x="163989" y="153469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197" tIns="38367" rIns="0" bIns="3836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00" kern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875" y="921385"/>
            <a:ext cx="8611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满足多种场景计费，从源头获取费率，让每笔计费有据可依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计提结算业务</a:t>
            </a:r>
            <a:r>
              <a:rPr lang="zh-CN" altLang="en-US" dirty="0" smtClean="0">
                <a:solidFill>
                  <a:prstClr val="black"/>
                </a:solidFill>
              </a:rPr>
              <a:t>流程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0675" y="918210"/>
            <a:ext cx="114757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计提业务：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从传统的线下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导出已记账订单，手工核对匹配费率进行费用计提方式，转变为线上管理：由订单分发至物流提货，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记账后，自动流转至待计提环节，全程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无需人工干预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；且过程中自动匹配费率，仅需一键计提即可完成，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并且计提后可自动生成计提明细表，减少主观干预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结算业务：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电子签收功能，基于已完成计提的订单，在实际订单完成配送及电子签收后，生成待结算的明细（支持对订单明细进行调整，重新匹配费率）。调整完成后生成账单可进行核对扣款等，真正实现一单（配送单）一结，不同于传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ERP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整单全部发运后统一结算，该功能更加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贴合实际业务需求，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大幅提升结算效率。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0">
            <a:off x="162560" y="4291965"/>
            <a:ext cx="3200400" cy="1344295"/>
            <a:chOff x="6451600" y="833991"/>
            <a:chExt cx="3200400" cy="1344252"/>
          </a:xfrm>
          <a:solidFill>
            <a:schemeClr val="accent6"/>
          </a:solidFill>
        </p:grpSpPr>
        <p:sp>
          <p:nvSpPr>
            <p:cNvPr id="8" name="任意多边形: 形状 976103083"/>
            <p:cNvSpPr/>
            <p:nvPr/>
          </p:nvSpPr>
          <p:spPr>
            <a:xfrm>
              <a:off x="7518400" y="1734938"/>
              <a:ext cx="1105457" cy="443305"/>
            </a:xfrm>
            <a:custGeom>
              <a:avLst/>
              <a:gdLst>
                <a:gd name="connsiteX0" fmla="*/ 0 w 915513"/>
                <a:gd name="connsiteY0" fmla="*/ 221653 h 443305"/>
                <a:gd name="connsiteX1" fmla="*/ 457757 w 915513"/>
                <a:gd name="connsiteY1" fmla="*/ 0 h 443305"/>
                <a:gd name="connsiteX2" fmla="*/ 915514 w 915513"/>
                <a:gd name="connsiteY2" fmla="*/ 221653 h 443305"/>
                <a:gd name="connsiteX3" fmla="*/ 457757 w 915513"/>
                <a:gd name="connsiteY3" fmla="*/ 443306 h 443305"/>
                <a:gd name="connsiteX4" fmla="*/ 0 w 915513"/>
                <a:gd name="connsiteY4" fmla="*/ 221653 h 4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513" h="443305">
                  <a:moveTo>
                    <a:pt x="0" y="221653"/>
                  </a:moveTo>
                  <a:cubicBezTo>
                    <a:pt x="0" y="99237"/>
                    <a:pt x="204945" y="0"/>
                    <a:pt x="457757" y="0"/>
                  </a:cubicBezTo>
                  <a:cubicBezTo>
                    <a:pt x="710569" y="0"/>
                    <a:pt x="915514" y="99237"/>
                    <a:pt x="915514" y="221653"/>
                  </a:cubicBezTo>
                  <a:cubicBezTo>
                    <a:pt x="915514" y="344069"/>
                    <a:pt x="710569" y="443306"/>
                    <a:pt x="457757" y="443306"/>
                  </a:cubicBezTo>
                  <a:cubicBezTo>
                    <a:pt x="204945" y="443306"/>
                    <a:pt x="0" y="344069"/>
                    <a:pt x="0" y="22165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074" tIns="169115" rIns="170074" bIns="169115" numCol="1" spcCol="1270" rtlCol="0" anchor="ctr" anchorCtr="0">
              <a:noAutofit/>
            </a:bodyPr>
            <a:lstStyle/>
            <a:p>
              <a:pPr marL="0" lvl="0" indent="0" algn="ctr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4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计费</a:t>
              </a:r>
              <a:r>
                <a:rPr lang="zh-CN" altLang="en-US" sz="14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endParaRPr lang="zh-CN" altLang="en-US" sz="1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箭头: 左 976103084"/>
            <p:cNvSpPr/>
            <p:nvPr/>
          </p:nvSpPr>
          <p:spPr>
            <a:xfrm rot="12390708">
              <a:off x="6834325" y="1526458"/>
              <a:ext cx="708495" cy="189100"/>
            </a:xfrm>
            <a:prstGeom prst="lef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任意多边形: 形状 976103085"/>
            <p:cNvSpPr/>
            <p:nvPr/>
          </p:nvSpPr>
          <p:spPr>
            <a:xfrm>
              <a:off x="6451600" y="1210744"/>
              <a:ext cx="828000" cy="504268"/>
            </a:xfrm>
            <a:custGeom>
              <a:avLst/>
              <a:gdLst>
                <a:gd name="connsiteX0" fmla="*/ 0 w 630335"/>
                <a:gd name="connsiteY0" fmla="*/ 50427 h 504268"/>
                <a:gd name="connsiteX1" fmla="*/ 50427 w 630335"/>
                <a:gd name="connsiteY1" fmla="*/ 0 h 504268"/>
                <a:gd name="connsiteX2" fmla="*/ 579908 w 630335"/>
                <a:gd name="connsiteY2" fmla="*/ 0 h 504268"/>
                <a:gd name="connsiteX3" fmla="*/ 630335 w 630335"/>
                <a:gd name="connsiteY3" fmla="*/ 50427 h 504268"/>
                <a:gd name="connsiteX4" fmla="*/ 630335 w 630335"/>
                <a:gd name="connsiteY4" fmla="*/ 453841 h 504268"/>
                <a:gd name="connsiteX5" fmla="*/ 579908 w 630335"/>
                <a:gd name="connsiteY5" fmla="*/ 504268 h 504268"/>
                <a:gd name="connsiteX6" fmla="*/ 50427 w 630335"/>
                <a:gd name="connsiteY6" fmla="*/ 504268 h 504268"/>
                <a:gd name="connsiteX7" fmla="*/ 0 w 630335"/>
                <a:gd name="connsiteY7" fmla="*/ 453841 h 504268"/>
                <a:gd name="connsiteX8" fmla="*/ 0 w 630335"/>
                <a:gd name="connsiteY8" fmla="*/ 50427 h 50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0335" h="504268">
                  <a:moveTo>
                    <a:pt x="0" y="50427"/>
                  </a:moveTo>
                  <a:cubicBezTo>
                    <a:pt x="0" y="22577"/>
                    <a:pt x="22577" y="0"/>
                    <a:pt x="50427" y="0"/>
                  </a:cubicBezTo>
                  <a:lnTo>
                    <a:pt x="579908" y="0"/>
                  </a:lnTo>
                  <a:cubicBezTo>
                    <a:pt x="607758" y="0"/>
                    <a:pt x="630335" y="22577"/>
                    <a:pt x="630335" y="50427"/>
                  </a:cubicBezTo>
                  <a:lnTo>
                    <a:pt x="630335" y="453841"/>
                  </a:lnTo>
                  <a:cubicBezTo>
                    <a:pt x="630335" y="481691"/>
                    <a:pt x="607758" y="504268"/>
                    <a:pt x="579908" y="504268"/>
                  </a:cubicBezTo>
                  <a:lnTo>
                    <a:pt x="50427" y="504268"/>
                  </a:lnTo>
                  <a:cubicBezTo>
                    <a:pt x="22577" y="504268"/>
                    <a:pt x="0" y="481691"/>
                    <a:pt x="0" y="453841"/>
                  </a:cubicBezTo>
                  <a:lnTo>
                    <a:pt x="0" y="50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770" tIns="118964" rIns="50770" bIns="118964" numCol="1" spcCol="1270" anchor="ctr" anchorCtr="0">
              <a:noAutofit/>
            </a:bodyPr>
            <a:lstStyle/>
            <a:p>
              <a:pPr marL="0" lvl="1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zh-CN" altLang="en-US" sz="1200" b="1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自提</a:t>
              </a:r>
              <a:endParaRPr lang="zh-CN" altLang="en-US" sz="12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57150" lvl="1" indent="-57150" algn="l" defTabSz="311150">
                <a:lnSpc>
                  <a:spcPct val="11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成本</a:t>
              </a:r>
              <a:r>
                <a:rPr lang="en-US" altLang="zh-CN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&amp;</a:t>
              </a:r>
              <a:r>
                <a:rPr lang="zh-CN" altLang="en-US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补贴</a:t>
              </a:r>
              <a:endParaRPr lang="zh-CN" altLang="en-US" sz="10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箭头: 左 976103086"/>
            <p:cNvSpPr/>
            <p:nvPr/>
          </p:nvSpPr>
          <p:spPr>
            <a:xfrm rot="16200000">
              <a:off x="7745237" y="1298139"/>
              <a:ext cx="613127" cy="189100"/>
            </a:xfrm>
            <a:prstGeom prst="lef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任意多边形: 形状 976103087"/>
            <p:cNvSpPr/>
            <p:nvPr/>
          </p:nvSpPr>
          <p:spPr>
            <a:xfrm>
              <a:off x="7637800" y="833991"/>
              <a:ext cx="828000" cy="504268"/>
            </a:xfrm>
            <a:custGeom>
              <a:avLst/>
              <a:gdLst>
                <a:gd name="connsiteX0" fmla="*/ 0 w 630335"/>
                <a:gd name="connsiteY0" fmla="*/ 50427 h 504268"/>
                <a:gd name="connsiteX1" fmla="*/ 50427 w 630335"/>
                <a:gd name="connsiteY1" fmla="*/ 0 h 504268"/>
                <a:gd name="connsiteX2" fmla="*/ 579908 w 630335"/>
                <a:gd name="connsiteY2" fmla="*/ 0 h 504268"/>
                <a:gd name="connsiteX3" fmla="*/ 630335 w 630335"/>
                <a:gd name="connsiteY3" fmla="*/ 50427 h 504268"/>
                <a:gd name="connsiteX4" fmla="*/ 630335 w 630335"/>
                <a:gd name="connsiteY4" fmla="*/ 453841 h 504268"/>
                <a:gd name="connsiteX5" fmla="*/ 579908 w 630335"/>
                <a:gd name="connsiteY5" fmla="*/ 504268 h 504268"/>
                <a:gd name="connsiteX6" fmla="*/ 50427 w 630335"/>
                <a:gd name="connsiteY6" fmla="*/ 504268 h 504268"/>
                <a:gd name="connsiteX7" fmla="*/ 0 w 630335"/>
                <a:gd name="connsiteY7" fmla="*/ 453841 h 504268"/>
                <a:gd name="connsiteX8" fmla="*/ 0 w 630335"/>
                <a:gd name="connsiteY8" fmla="*/ 50427 h 50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0335" h="504268">
                  <a:moveTo>
                    <a:pt x="0" y="50427"/>
                  </a:moveTo>
                  <a:cubicBezTo>
                    <a:pt x="0" y="22577"/>
                    <a:pt x="22577" y="0"/>
                    <a:pt x="50427" y="0"/>
                  </a:cubicBezTo>
                  <a:lnTo>
                    <a:pt x="579908" y="0"/>
                  </a:lnTo>
                  <a:cubicBezTo>
                    <a:pt x="607758" y="0"/>
                    <a:pt x="630335" y="22577"/>
                    <a:pt x="630335" y="50427"/>
                  </a:cubicBezTo>
                  <a:lnTo>
                    <a:pt x="630335" y="453841"/>
                  </a:lnTo>
                  <a:cubicBezTo>
                    <a:pt x="630335" y="481691"/>
                    <a:pt x="607758" y="504268"/>
                    <a:pt x="579908" y="504268"/>
                  </a:cubicBezTo>
                  <a:lnTo>
                    <a:pt x="50427" y="504268"/>
                  </a:lnTo>
                  <a:cubicBezTo>
                    <a:pt x="22577" y="504268"/>
                    <a:pt x="0" y="481691"/>
                    <a:pt x="0" y="453841"/>
                  </a:cubicBezTo>
                  <a:lnTo>
                    <a:pt x="0" y="50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770" tIns="118964" rIns="50770" bIns="118964" numCol="1" spcCol="1270" anchor="ctr" anchorCtr="0">
              <a:noAutofit/>
            </a:bodyPr>
            <a:lstStyle/>
            <a:p>
              <a:pPr marL="0" lvl="1" indent="0" algn="ctr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第三方</a:t>
              </a:r>
              <a:endParaRPr lang="zh-CN" altLang="en-US" sz="12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57150" lvl="1" indent="-57150" algn="l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har char="•"/>
              </a:pPr>
              <a:r>
                <a:rPr lang="zh-CN" altLang="en-US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合同</a:t>
              </a:r>
              <a:r>
                <a:rPr lang="en-US" altLang="zh-CN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&amp;</a:t>
              </a:r>
              <a:r>
                <a:rPr lang="zh-CN" altLang="en-US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对账</a:t>
              </a:r>
              <a:endParaRPr lang="zh-CN" altLang="en-US" sz="10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箭头: 左 976103088"/>
            <p:cNvSpPr/>
            <p:nvPr/>
          </p:nvSpPr>
          <p:spPr>
            <a:xfrm rot="20194044">
              <a:off x="8597783" y="1594667"/>
              <a:ext cx="504000" cy="189100"/>
            </a:xfrm>
            <a:prstGeom prst="lef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任意多边形: 形状 976103089"/>
            <p:cNvSpPr/>
            <p:nvPr/>
          </p:nvSpPr>
          <p:spPr>
            <a:xfrm>
              <a:off x="8824000" y="1210744"/>
              <a:ext cx="828000" cy="504268"/>
            </a:xfrm>
            <a:custGeom>
              <a:avLst/>
              <a:gdLst>
                <a:gd name="connsiteX0" fmla="*/ 0 w 630335"/>
                <a:gd name="connsiteY0" fmla="*/ 50427 h 504268"/>
                <a:gd name="connsiteX1" fmla="*/ 50427 w 630335"/>
                <a:gd name="connsiteY1" fmla="*/ 0 h 504268"/>
                <a:gd name="connsiteX2" fmla="*/ 579908 w 630335"/>
                <a:gd name="connsiteY2" fmla="*/ 0 h 504268"/>
                <a:gd name="connsiteX3" fmla="*/ 630335 w 630335"/>
                <a:gd name="connsiteY3" fmla="*/ 50427 h 504268"/>
                <a:gd name="connsiteX4" fmla="*/ 630335 w 630335"/>
                <a:gd name="connsiteY4" fmla="*/ 453841 h 504268"/>
                <a:gd name="connsiteX5" fmla="*/ 579908 w 630335"/>
                <a:gd name="connsiteY5" fmla="*/ 504268 h 504268"/>
                <a:gd name="connsiteX6" fmla="*/ 50427 w 630335"/>
                <a:gd name="connsiteY6" fmla="*/ 504268 h 504268"/>
                <a:gd name="connsiteX7" fmla="*/ 0 w 630335"/>
                <a:gd name="connsiteY7" fmla="*/ 453841 h 504268"/>
                <a:gd name="connsiteX8" fmla="*/ 0 w 630335"/>
                <a:gd name="connsiteY8" fmla="*/ 50427 h 50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0335" h="504268">
                  <a:moveTo>
                    <a:pt x="0" y="50427"/>
                  </a:moveTo>
                  <a:cubicBezTo>
                    <a:pt x="0" y="22577"/>
                    <a:pt x="22577" y="0"/>
                    <a:pt x="50427" y="0"/>
                  </a:cubicBezTo>
                  <a:lnTo>
                    <a:pt x="579908" y="0"/>
                  </a:lnTo>
                  <a:cubicBezTo>
                    <a:pt x="607758" y="0"/>
                    <a:pt x="630335" y="22577"/>
                    <a:pt x="630335" y="50427"/>
                  </a:cubicBezTo>
                  <a:lnTo>
                    <a:pt x="630335" y="453841"/>
                  </a:lnTo>
                  <a:cubicBezTo>
                    <a:pt x="630335" y="481691"/>
                    <a:pt x="607758" y="504268"/>
                    <a:pt x="579908" y="504268"/>
                  </a:cubicBezTo>
                  <a:lnTo>
                    <a:pt x="50427" y="504268"/>
                  </a:lnTo>
                  <a:cubicBezTo>
                    <a:pt x="22577" y="504268"/>
                    <a:pt x="0" y="481691"/>
                    <a:pt x="0" y="453841"/>
                  </a:cubicBezTo>
                  <a:lnTo>
                    <a:pt x="0" y="5042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770" tIns="118964" rIns="50770" bIns="118964" numCol="1" spcCol="1270" anchor="ctr" anchorCtr="0">
              <a:noAutofit/>
            </a:bodyPr>
            <a:lstStyle/>
            <a:p>
              <a:pPr marL="0" lvl="0" indent="0" algn="ctr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200" b="1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临时运力</a:t>
              </a:r>
              <a:endParaRPr lang="zh-CN" altLang="en-US" sz="12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57150" lvl="1" indent="-57150" algn="l" defTabSz="400050" rtl="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har char="•"/>
              </a:pPr>
              <a:r>
                <a:rPr lang="zh-CN" altLang="en-US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询价</a:t>
              </a:r>
              <a:r>
                <a:rPr lang="en-US" altLang="zh-CN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&amp;</a:t>
              </a:r>
              <a:r>
                <a:rPr lang="zh-CN" altLang="en-US" sz="1000" b="1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竞价</a:t>
              </a:r>
              <a:endParaRPr lang="zh-CN" altLang="en-US" sz="10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61925" y="3072130"/>
            <a:ext cx="3201670" cy="807085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zh-CN"/>
            </a:defPPr>
            <a:lvl1pPr lvl="0" algn="ctr" eaLnBrk="0" hangingPunct="0">
              <a:buClrTx/>
              <a:buSzTx/>
              <a:buFontTx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>
                <a:solidFill>
                  <a:schemeClr val="bg1"/>
                </a:solidFill>
              </a:rPr>
              <a:t>计费场景</a:t>
            </a:r>
            <a:r>
              <a:rPr lang="zh-CN" altLang="en-US" sz="1400" dirty="0">
                <a:solidFill>
                  <a:schemeClr val="bg1"/>
                </a:solidFill>
              </a:rPr>
              <a:t>全覆盖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224655" y="3072130"/>
            <a:ext cx="3201670" cy="807085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zh-CN"/>
            </a:defPPr>
            <a:lvl1pPr lvl="0" algn="ctr" eaLnBrk="0" hangingPunct="0">
              <a:buClrTx/>
              <a:buSzTx/>
              <a:buFontTx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>
                <a:solidFill>
                  <a:schemeClr val="bg1"/>
                </a:solidFill>
              </a:rPr>
              <a:t>高灵活度配置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24655" y="4291965"/>
            <a:ext cx="3201670" cy="20300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一口价等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多种计费模式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费率灵活配置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模式，支持不含税费率录入，结算计费时自动计算不含税价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含税价。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费用科目支持自定义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，支持一、二级费用管理。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1385" y="3072130"/>
            <a:ext cx="3201670" cy="807085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zh-CN"/>
            </a:defPPr>
            <a:lvl1pPr lvl="0" algn="ctr" eaLnBrk="0" hangingPunct="0">
              <a:buClrTx/>
              <a:buSzTx/>
              <a:buFontTx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>
                <a:solidFill>
                  <a:schemeClr val="bg1"/>
                </a:solidFill>
              </a:rPr>
              <a:t>全程线上</a:t>
            </a:r>
            <a:r>
              <a:rPr lang="zh-CN" altLang="en-US" sz="1400" dirty="0">
                <a:solidFill>
                  <a:schemeClr val="bg1"/>
                </a:solidFill>
              </a:rPr>
              <a:t>化对账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53755" y="4070350"/>
            <a:ext cx="1743075" cy="2322830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zh-CN"/>
            </a:defPPr>
            <a:lvl1pPr lvl="0" algn="ctr" eaLnBrk="0" hangingPunct="0">
              <a:buClrTx/>
              <a:buSzTx/>
              <a:buFontTx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</a:rPr>
              <a:t>传统</a:t>
            </a:r>
            <a:r>
              <a:rPr lang="zh-CN" altLang="en-US" dirty="0">
                <a:solidFill>
                  <a:schemeClr val="tx1"/>
                </a:solidFill>
              </a:rPr>
              <a:t>模式</a:t>
            </a:r>
            <a:endParaRPr lang="zh-CN" altLang="en-US" dirty="0">
              <a:solidFill>
                <a:schemeClr val="tx1"/>
              </a:solidFill>
            </a:endParaRPr>
          </a:p>
          <a:p>
            <a:pPr algn="l"/>
            <a:endParaRPr lang="zh-CN" altLang="en-US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1</a:t>
            </a:r>
            <a:r>
              <a:rPr lang="zh-CN" altLang="en-US" b="0" dirty="0">
                <a:solidFill>
                  <a:schemeClr val="tx1"/>
                </a:solidFill>
              </a:rPr>
              <a:t>）对账流程复杂，需要多次线下沟通与纸质账单邮寄；</a:t>
            </a:r>
            <a:endParaRPr lang="zh-CN" altLang="en-US" b="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2</a:t>
            </a:r>
            <a:r>
              <a:rPr lang="zh-CN" altLang="en-US" b="0" dirty="0">
                <a:solidFill>
                  <a:schemeClr val="tx1"/>
                </a:solidFill>
              </a:rPr>
              <a:t>）结算条件不统一；</a:t>
            </a:r>
            <a:endParaRPr lang="zh-CN" altLang="en-US" b="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3</a:t>
            </a:r>
            <a:r>
              <a:rPr lang="zh-CN" altLang="en-US" b="0" dirty="0">
                <a:solidFill>
                  <a:schemeClr val="tx1"/>
                </a:solidFill>
              </a:rPr>
              <a:t>）扣款管理需要线下往返沟通等；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272395" y="4070350"/>
            <a:ext cx="1655445" cy="2322830"/>
          </a:xfrm>
          <a:prstGeom prst="roundRect">
            <a:avLst/>
          </a:prstGeom>
          <a:solidFill>
            <a:schemeClr val="accent6"/>
          </a:solidFill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zh-CN"/>
            </a:defPPr>
            <a:lvl1pPr lvl="0" algn="ctr" eaLnBrk="0" hangingPunct="0">
              <a:buClrTx/>
              <a:buSzTx/>
              <a:buFontTx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</a:rPr>
              <a:t>功能</a:t>
            </a:r>
            <a:r>
              <a:rPr lang="zh-CN" altLang="en-US" dirty="0">
                <a:solidFill>
                  <a:schemeClr val="tx1"/>
                </a:solidFill>
              </a:rPr>
              <a:t>上线</a:t>
            </a:r>
            <a:endParaRPr lang="zh-CN" altLang="en-US" dirty="0">
              <a:solidFill>
                <a:schemeClr val="tx1"/>
              </a:solidFill>
            </a:endParaRPr>
          </a:p>
          <a:p>
            <a:pPr algn="l"/>
            <a:endParaRPr lang="zh-CN" altLang="en-US" dirty="0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1</a:t>
            </a:r>
            <a:r>
              <a:rPr lang="zh-CN" altLang="en-US" b="0" dirty="0">
                <a:solidFill>
                  <a:schemeClr val="tx1"/>
                </a:solidFill>
              </a:rPr>
              <a:t>）线上电子签收，无需纸质回单；</a:t>
            </a:r>
            <a:endParaRPr lang="zh-CN" altLang="en-US" b="0" dirty="0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2</a:t>
            </a:r>
            <a:r>
              <a:rPr lang="zh-CN" altLang="en-US" b="0" dirty="0">
                <a:solidFill>
                  <a:schemeClr val="tx1"/>
                </a:solidFill>
              </a:rPr>
              <a:t>）统一结算条件，系统自动匹配；</a:t>
            </a:r>
            <a:endParaRPr lang="zh-CN" altLang="en-US" b="0" dirty="0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b="0" dirty="0">
                <a:solidFill>
                  <a:schemeClr val="tx1"/>
                </a:solidFill>
              </a:rPr>
              <a:t>3</a:t>
            </a:r>
            <a:r>
              <a:rPr lang="zh-CN" altLang="en-US" b="0" dirty="0">
                <a:solidFill>
                  <a:schemeClr val="tx1"/>
                </a:solidFill>
              </a:rPr>
              <a:t>）线上管理扣款，无需线下邮寄，大幅度提升结算效率；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185" y="5756275"/>
            <a:ext cx="3042285" cy="901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1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）自提经销商：不结算物流费用，支持自提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物流费用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还原；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）第三方物流：实际物流费用计提、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结算；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10000"/>
              </a:lnSpc>
              <a:buClrTx/>
              <a:buSzTx/>
              <a:buFontTx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）临时运力：紧急运力补充的费用。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计提业务（订单</a:t>
            </a:r>
            <a:r>
              <a:rPr lang="zh-CN" altLang="en-US" dirty="0" smtClean="0">
                <a:solidFill>
                  <a:prstClr val="black"/>
                </a:solidFill>
              </a:rPr>
              <a:t>全覆盖）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955" y="1586865"/>
            <a:ext cx="9748520" cy="499300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76555" y="1586865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标准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6555" y="3867150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手工单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6555" y="6094730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其他支付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98025" y="4006850"/>
            <a:ext cx="2220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支持多种类订单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计提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6555" y="2339340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内领订单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6555" y="3091815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调拨订单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6555" y="4590415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退货订单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6555" y="5342255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还板订单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15" y="3867150"/>
            <a:ext cx="3009900" cy="18415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5400675" y="4133850"/>
            <a:ext cx="2738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滚动计提，实现账实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相符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74610" y="2876550"/>
            <a:ext cx="577215" cy="4857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598025" y="3208655"/>
            <a:ext cx="981075" cy="5473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74610" y="2440305"/>
            <a:ext cx="4144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按照不同配送模式，计算不同的费用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类型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675" y="871220"/>
            <a:ext cx="1122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上线前：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订单覆盖不完整（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仅支持标准订单、内领订单、调拨单）；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上线后：覆盖所有订单类型，全线上化管理，改变传统模式部分订单靠线下管理。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结算业务（费用类型</a:t>
            </a:r>
            <a:r>
              <a:rPr lang="zh-CN" altLang="en-US" dirty="0" smtClean="0">
                <a:solidFill>
                  <a:prstClr val="black"/>
                </a:solidFill>
              </a:rPr>
              <a:t>全覆盖）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6555" y="1630045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物流费</a:t>
            </a:r>
            <a:endParaRPr lang="en-US" altLang="zh-CN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6555" y="474916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油补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费用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6555" y="243014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装卸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驳运费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6555" y="327088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仓储租赁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6555" y="401002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托盘租赁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6555" y="6338570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缠绕膜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985" y="1630045"/>
            <a:ext cx="10200640" cy="5227955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2257425" y="2306955"/>
            <a:ext cx="1513205" cy="14490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874770" y="2306955"/>
            <a:ext cx="2220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支持全品类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费用覆盖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035" y="3661410"/>
            <a:ext cx="2220595" cy="27724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1" name="文本框 30"/>
          <p:cNvSpPr txBox="1"/>
          <p:nvPr/>
        </p:nvSpPr>
        <p:spPr>
          <a:xfrm>
            <a:off x="8863965" y="5819775"/>
            <a:ext cx="3121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业务数据调整，重新匹配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费率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32" name="肘形连接符 31"/>
          <p:cNvCxnSpPr/>
          <p:nvPr/>
        </p:nvCxnSpPr>
        <p:spPr>
          <a:xfrm rot="10800000">
            <a:off x="8723630" y="4582795"/>
            <a:ext cx="2547620" cy="517525"/>
          </a:xfrm>
          <a:prstGeom prst="bentConnector3">
            <a:avLst>
              <a:gd name="adj1" fmla="val 49975"/>
            </a:avLst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390" y="1487805"/>
            <a:ext cx="3530600" cy="1206500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35" name="肘形连接符 34"/>
          <p:cNvCxnSpPr/>
          <p:nvPr/>
        </p:nvCxnSpPr>
        <p:spPr>
          <a:xfrm flipV="1">
            <a:off x="9473565" y="2644140"/>
            <a:ext cx="605155" cy="361950"/>
          </a:xfrm>
          <a:prstGeom prst="bentConnector2">
            <a:avLst/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863965" y="3021965"/>
            <a:ext cx="3121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补差调整，次月生成滚动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计提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76555" y="842645"/>
            <a:ext cx="11707495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上线前：费用类型覆盖不全（仅可计算出物流费与油补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费用）；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上线后：涵盖所有与物流费相关的费用类型，支持线上自动计算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手工导入，实现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全过程线上留痕。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6555" y="558990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扣罚款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270" y="2322830"/>
            <a:ext cx="6348730" cy="3443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结算业务（扣罚款线上</a:t>
            </a:r>
            <a:r>
              <a:rPr lang="zh-CN" altLang="en-US" dirty="0" smtClean="0">
                <a:solidFill>
                  <a:prstClr val="black"/>
                </a:solidFill>
              </a:rPr>
              <a:t>管理）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6555" y="1630045"/>
            <a:ext cx="1280160" cy="53721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物流费</a:t>
            </a:r>
            <a:endParaRPr lang="en-US" altLang="zh-CN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6555" y="474916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油补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费用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6555" y="243014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装卸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驳运费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6555" y="327088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仓储租赁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6555" y="401002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托盘租赁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6555" y="6338570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缠绕膜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费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76555" y="788670"/>
            <a:ext cx="11576050" cy="902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上线前：扣罚款通过邮件或者线下邮寄处罚函方式进行报备；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上线后：直接线上发起扣款，并且上传扣款凭证，且需按照扣款前金额开票，并且推送报账时进行（盖章版账单、系统账单、上传发票）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多重校验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，校验通过方可进行结算，避免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费用多结或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少结。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6555" y="5589905"/>
            <a:ext cx="1280160" cy="48514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 kern="0">
                <a:gradFill>
                  <a:gsLst>
                    <a:gs pos="100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扣罚款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1806575"/>
            <a:ext cx="3906520" cy="262509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210" y="3924300"/>
            <a:ext cx="3905885" cy="261620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1933575" y="1813560"/>
            <a:ext cx="256413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扣罚款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627870" y="1834515"/>
            <a:ext cx="256413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物流商</a:t>
            </a:r>
            <a:r>
              <a:rPr lang="zh-CN" altLang="en-US"/>
              <a:t>对账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计提结算准确性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675" y="1028065"/>
            <a:ext cx="7269480" cy="466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为了保障物流费用计算的准确性，系统功能在四个方面进行了设置和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管理：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699796" y="2565899"/>
            <a:ext cx="1918737" cy="1726202"/>
            <a:chOff x="4400834" y="2049254"/>
            <a:chExt cx="3218265" cy="3151992"/>
          </a:xfrm>
        </p:grpSpPr>
        <p:sp>
          <p:nvSpPr>
            <p:cNvPr id="12" name="任意多边形 23"/>
            <p:cNvSpPr/>
            <p:nvPr/>
          </p:nvSpPr>
          <p:spPr>
            <a:xfrm rot="5400000" flipV="1">
              <a:off x="5768814" y="2027094"/>
              <a:ext cx="1828125" cy="1872445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2286000 h 2286000"/>
                <a:gd name="connsiteX2" fmla="*/ 1638300 w 2286000"/>
                <a:gd name="connsiteY2" fmla="*/ 2286000 h 2286000"/>
                <a:gd name="connsiteX3" fmla="*/ 0 w 2286000"/>
                <a:gd name="connsiteY3" fmla="*/ 6477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cubicBezTo>
                    <a:pt x="1262523" y="0"/>
                    <a:pt x="2286000" y="1023477"/>
                    <a:pt x="2286000" y="2286000"/>
                  </a:cubicBezTo>
                  <a:lnTo>
                    <a:pt x="1638300" y="2286000"/>
                  </a:lnTo>
                  <a:cubicBezTo>
                    <a:pt x="1638300" y="1381192"/>
                    <a:pt x="904808" y="647700"/>
                    <a:pt x="0" y="64770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69696">
                    <a:lumMod val="25000"/>
                  </a:srgbClr>
                </a:solidFill>
                <a:effectLst/>
                <a:uLnTx/>
                <a:uFillTx/>
                <a:latin typeface="Graphik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任意多边形 24"/>
            <p:cNvSpPr/>
            <p:nvPr/>
          </p:nvSpPr>
          <p:spPr>
            <a:xfrm rot="16200000" flipH="1" flipV="1">
              <a:off x="4422994" y="2027094"/>
              <a:ext cx="1828125" cy="1872445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2286000 h 2286000"/>
                <a:gd name="connsiteX2" fmla="*/ 1638300 w 2286000"/>
                <a:gd name="connsiteY2" fmla="*/ 2286000 h 2286000"/>
                <a:gd name="connsiteX3" fmla="*/ 0 w 2286000"/>
                <a:gd name="connsiteY3" fmla="*/ 6477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cubicBezTo>
                    <a:pt x="1262523" y="0"/>
                    <a:pt x="2286000" y="1023477"/>
                    <a:pt x="2286000" y="2286000"/>
                  </a:cubicBezTo>
                  <a:lnTo>
                    <a:pt x="1638300" y="2286000"/>
                  </a:lnTo>
                  <a:cubicBezTo>
                    <a:pt x="1638300" y="1381192"/>
                    <a:pt x="904808" y="647700"/>
                    <a:pt x="0" y="64770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69696">
                    <a:lumMod val="25000"/>
                  </a:srgbClr>
                </a:solidFill>
                <a:effectLst/>
                <a:uLnTx/>
                <a:uFillTx/>
                <a:latin typeface="Graphik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任意多边形 26"/>
            <p:cNvSpPr/>
            <p:nvPr/>
          </p:nvSpPr>
          <p:spPr>
            <a:xfrm rot="16200000" flipV="1">
              <a:off x="4422994" y="3350961"/>
              <a:ext cx="1828125" cy="1872445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2286000 h 2286000"/>
                <a:gd name="connsiteX2" fmla="*/ 1638300 w 2286000"/>
                <a:gd name="connsiteY2" fmla="*/ 2286000 h 2286000"/>
                <a:gd name="connsiteX3" fmla="*/ 0 w 2286000"/>
                <a:gd name="connsiteY3" fmla="*/ 6477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cubicBezTo>
                    <a:pt x="1262523" y="0"/>
                    <a:pt x="2286000" y="1023477"/>
                    <a:pt x="2286000" y="2286000"/>
                  </a:cubicBezTo>
                  <a:lnTo>
                    <a:pt x="1638300" y="2286000"/>
                  </a:lnTo>
                  <a:cubicBezTo>
                    <a:pt x="1638300" y="1381192"/>
                    <a:pt x="904808" y="647700"/>
                    <a:pt x="0" y="64770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69696">
                    <a:lumMod val="25000"/>
                  </a:srgbClr>
                </a:solidFill>
                <a:effectLst/>
                <a:uLnTx/>
                <a:uFillTx/>
                <a:latin typeface="Graphik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任意多边形 25"/>
            <p:cNvSpPr/>
            <p:nvPr/>
          </p:nvSpPr>
          <p:spPr>
            <a:xfrm rot="5400000" flipH="1" flipV="1">
              <a:off x="5768814" y="3350961"/>
              <a:ext cx="1828125" cy="1872445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2286000 h 2286000"/>
                <a:gd name="connsiteX2" fmla="*/ 1638300 w 2286000"/>
                <a:gd name="connsiteY2" fmla="*/ 2286000 h 2286000"/>
                <a:gd name="connsiteX3" fmla="*/ 0 w 2286000"/>
                <a:gd name="connsiteY3" fmla="*/ 6477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cubicBezTo>
                    <a:pt x="1262523" y="0"/>
                    <a:pt x="2286000" y="1023477"/>
                    <a:pt x="2286000" y="2286000"/>
                  </a:cubicBezTo>
                  <a:lnTo>
                    <a:pt x="1638300" y="2286000"/>
                  </a:lnTo>
                  <a:cubicBezTo>
                    <a:pt x="1638300" y="1381192"/>
                    <a:pt x="904808" y="647700"/>
                    <a:pt x="0" y="64770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969696">
                    <a:lumMod val="25000"/>
                  </a:srgbClr>
                </a:solidFill>
                <a:effectLst/>
                <a:uLnTx/>
                <a:uFillTx/>
                <a:latin typeface="Graphik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8" name="TextBox 76"/>
          <p:cNvSpPr txBox="1"/>
          <p:nvPr/>
        </p:nvSpPr>
        <p:spPr>
          <a:xfrm>
            <a:off x="299672" y="1700016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900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控源头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32"/>
          <p:cNvSpPr txBox="1"/>
          <p:nvPr/>
        </p:nvSpPr>
        <p:spPr>
          <a:xfrm>
            <a:off x="299671" y="2069348"/>
            <a:ext cx="4643751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为了保障费率来源准确，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TMS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首次对接合同系统获取合同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，从合同中获取对应的费率后，由财务进行审核，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审核通过的费率方可进行结算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，为结算准确性提供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依据；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TextBox 76"/>
          <p:cNvSpPr txBox="1"/>
          <p:nvPr/>
        </p:nvSpPr>
        <p:spPr>
          <a:xfrm>
            <a:off x="220848" y="4081338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900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保合规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2"/>
          <p:cNvSpPr txBox="1"/>
          <p:nvPr/>
        </p:nvSpPr>
        <p:spPr>
          <a:xfrm>
            <a:off x="220889" y="4750983"/>
            <a:ext cx="4643751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大区在分发运单时，代表运单运输的开始指令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，故从分发时需要有据可依，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故分发时进行费率匹配，若未匹配到费率不可进行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分发；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TextBox 76"/>
          <p:cNvSpPr txBox="1"/>
          <p:nvPr/>
        </p:nvSpPr>
        <p:spPr>
          <a:xfrm>
            <a:off x="6813683" y="1699106"/>
            <a:ext cx="46437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900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定规则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32"/>
          <p:cNvSpPr txBox="1"/>
          <p:nvPr/>
        </p:nvSpPr>
        <p:spPr>
          <a:xfrm>
            <a:off x="6813683" y="2114574"/>
            <a:ext cx="4643751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制定配送单匹配费率的规则，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通过大区、物流费，购货方，渠道、发运方式，发货地，收货地、车型、合同有效期、订单类型作为因素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从而实现一单一费率；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TextBox 76"/>
          <p:cNvSpPr txBox="1"/>
          <p:nvPr/>
        </p:nvSpPr>
        <p:spPr>
          <a:xfrm>
            <a:off x="6813683" y="4081338"/>
            <a:ext cx="457048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900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多校验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文本框 32"/>
          <p:cNvSpPr txBox="1"/>
          <p:nvPr/>
        </p:nvSpPr>
        <p:spPr>
          <a:xfrm>
            <a:off x="6813683" y="4751077"/>
            <a:ext cx="4643751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从分发到结算，以及计提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结算中的调整，共计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5-8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次校验，每次调整以及发起计提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结算均会重新匹配费率，保障最终结算的准确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性；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电子</a:t>
            </a:r>
            <a:r>
              <a:rPr lang="zh-CN" altLang="en-US" dirty="0" smtClean="0">
                <a:solidFill>
                  <a:prstClr val="black"/>
                </a:solidFill>
              </a:rPr>
              <a:t>签收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pic>
        <p:nvPicPr>
          <p:cNvPr id="3" name="图片 2" descr="f68212f00c6a89a6c90aaecacc1001a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" y="1755140"/>
            <a:ext cx="2321560" cy="5047615"/>
          </a:xfrm>
          <a:prstGeom prst="rect">
            <a:avLst/>
          </a:prstGeom>
        </p:spPr>
      </p:pic>
      <p:pic>
        <p:nvPicPr>
          <p:cNvPr id="9" name="图片 8" descr="db77e15e15c0606374b980079fe93d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45" y="1755140"/>
            <a:ext cx="2320290" cy="50469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415" y="1753235"/>
            <a:ext cx="2320925" cy="50488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755775"/>
            <a:ext cx="2320290" cy="50457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3885" y="3769995"/>
            <a:ext cx="2228215" cy="14490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78230" y="4787265"/>
            <a:ext cx="2220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支持线上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签收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91500" y="2741930"/>
            <a:ext cx="2480310" cy="31324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28660" y="5219065"/>
            <a:ext cx="2220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可针对单品异常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反馈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0675" y="742950"/>
            <a:ext cx="11550015" cy="971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模式变化：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从传统纸质回单转变为线上签收（短信验证码），结算条件由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返回纸质回单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转变为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线上签收状态完成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，并且根据不同客户进行自动签收管理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手工签收，提升签收效率，缩短结算时间；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异常反馈：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支持签收时针对单品进行异常反馈，便于大区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总部统计分析产品破损情况，为产品设计、供货范围设定、运输防护标准等提供数据支撑，助力销售及运营。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地址</a:t>
            </a:r>
            <a:r>
              <a:rPr lang="zh-CN" altLang="en-US" dirty="0" smtClean="0">
                <a:solidFill>
                  <a:prstClr val="black"/>
                </a:solidFill>
              </a:rPr>
              <a:t>修改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740" y="1411605"/>
            <a:ext cx="9529445" cy="50228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20675" y="1411605"/>
            <a:ext cx="1238250" cy="513715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正常订单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0675" y="2097405"/>
            <a:ext cx="1238250" cy="513715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客仓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订单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675" y="3002915"/>
            <a:ext cx="1238250" cy="51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待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预约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0675" y="3667125"/>
            <a:ext cx="1238250" cy="51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待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确认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0675" y="4995545"/>
            <a:ext cx="1238250" cy="51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已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签到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675" y="4331335"/>
            <a:ext cx="1238250" cy="51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已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预约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0675" y="5659755"/>
            <a:ext cx="1238250" cy="51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已入场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0675" y="6323965"/>
            <a:ext cx="1238250" cy="51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8755" tIns="49378" rIns="98755" bIns="49378" numCol="1" rtlCol="0" anchor="ctr" anchorCtr="0" compatLnSpc="1"/>
          <a:lstStyle>
            <a:defPPr>
              <a:defRPr lang="en-US"/>
            </a:defPPr>
            <a:lvl1pPr algn="ctr" defTabSz="822960" eaLnBrk="0" fontAlgn="auto" hangingPunct="0">
              <a:spcBef>
                <a:spcPts val="0"/>
              </a:spcBef>
              <a:spcAft>
                <a:spcPts val="0"/>
              </a:spcAft>
              <a:defRPr sz="1080" b="1" kern="0">
                <a:gradFill>
                  <a:gsLst>
                    <a:gs pos="79000">
                      <a:schemeClr val="bg1"/>
                    </a:gs>
                    <a:gs pos="100000">
                      <a:srgbClr val="FFC000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已</a:t>
            </a:r>
            <a:r>
              <a:rPr lang="zh-CN" altLang="en-US" sz="1680" dirty="0">
                <a:solidFill>
                  <a:schemeClr val="bg1"/>
                </a:solidFill>
                <a:latin typeface="+mn-ea"/>
                <a:ea typeface="+mn-ea"/>
                <a:sym typeface="微软雅黑" panose="020B0503020204020204" pitchFamily="34" charset="-122"/>
              </a:rPr>
              <a:t>离场</a:t>
            </a:r>
            <a:endParaRPr lang="zh-CN" altLang="en-US" sz="1680" dirty="0">
              <a:solidFill>
                <a:schemeClr val="bg1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860" y="2091055"/>
            <a:ext cx="3476625" cy="332930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338320" y="2105660"/>
            <a:ext cx="2399665" cy="29914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338320" y="5859780"/>
            <a:ext cx="445198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发起地址修改申请，可对同客户不同地址</a:t>
            </a:r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&amp;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跨客户进行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修改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96860" y="2197100"/>
            <a:ext cx="3476625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·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修改申请推送至</a:t>
            </a:r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OA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，标记出是否跨大区</a:t>
            </a:r>
            <a:r>
              <a:rPr lang="en-US" altLang="zh-CN" sz="160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地区，便于直观了解，做出</a:t>
            </a:r>
            <a:r>
              <a:rPr lang="zh-CN" altLang="en-US" sz="1600">
                <a:solidFill>
                  <a:srgbClr val="FF0000"/>
                </a:solidFill>
                <a:latin typeface="+mj-ea"/>
                <a:ea typeface="+mj-ea"/>
              </a:rPr>
              <a:t>判断</a:t>
            </a:r>
            <a:endParaRPr lang="zh-CN" altLang="en-US" sz="16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8605" y="792480"/>
            <a:ext cx="11710035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支持订单在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离场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节点前的地址修改，以满足实际业务中送不同地址的需求，并据实结算物流费用，减少或避免手工调整费用结算；由以往线下来回沟通地址变更、缺少留痕管理，转变为后续线上沟通、提升沟通效率、留痕相关记录以便分析追溯。</a:t>
            </a:r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825" y="1720850"/>
            <a:ext cx="4735195" cy="26327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445" y="4383405"/>
            <a:ext cx="3851275" cy="2450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55" y="4450080"/>
            <a:ext cx="3945890" cy="23837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855" y="4307840"/>
            <a:ext cx="3972560" cy="25501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在途运输可视化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6695" y="791210"/>
            <a:ext cx="11603355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功能实现：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基于客户地址电子围栏全维护及车辆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安装正常运行全覆盖等基础条件，系统实现在途运输可视化管理：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）收货地偏离预警，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）车辆停车报警，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）车辆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掉线预警等，保障运输过程可控，为防窜货管理加上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“预警”防线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增设看板：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继发运数据的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物流看板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后增设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工厂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客户雷达图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，实时监控工厂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客户电子围栏内车辆运行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情况。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" y="1718310"/>
            <a:ext cx="4213860" cy="2620645"/>
          </a:xfrm>
          <a:prstGeom prst="rect">
            <a:avLst/>
          </a:prstGeom>
          <a:ln>
            <a:solidFill>
              <a:srgbClr val="C00000">
                <a:alpha val="0"/>
              </a:srgbClr>
            </a:solidFill>
          </a:ln>
        </p:spPr>
      </p:pic>
      <p:sp>
        <p:nvSpPr>
          <p:cNvPr id="3" name="矩形 2"/>
          <p:cNvSpPr/>
          <p:nvPr/>
        </p:nvSpPr>
        <p:spPr>
          <a:xfrm>
            <a:off x="440055" y="1718310"/>
            <a:ext cx="1302385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雷达图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81825" y="1748790"/>
            <a:ext cx="1424305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运输轨迹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55625" y="4450080"/>
            <a:ext cx="180721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收货地偏离</a:t>
            </a:r>
            <a:r>
              <a:rPr lang="zh-CN" altLang="en-US"/>
              <a:t>预警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27550" y="4450080"/>
            <a:ext cx="15621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停车</a:t>
            </a:r>
            <a:r>
              <a:rPr lang="zh-CN" altLang="en-US"/>
              <a:t>报警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55965" y="4450080"/>
            <a:ext cx="1806575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GPS</a:t>
            </a:r>
            <a:r>
              <a:rPr lang="zh-CN" altLang="en-US"/>
              <a:t>掉线</a:t>
            </a:r>
            <a:r>
              <a:rPr lang="zh-CN" altLang="en-US"/>
              <a:t>预警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客仓</a:t>
            </a:r>
            <a:r>
              <a:rPr lang="zh-CN" altLang="en-US" dirty="0" smtClean="0">
                <a:solidFill>
                  <a:prstClr val="black"/>
                </a:solidFill>
              </a:rPr>
              <a:t>管理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7495" y="821690"/>
            <a:ext cx="11568430" cy="894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</a:rPr>
              <a:t>模式转变：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新业务场景需求，由原模式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订单转移到客户外仓不做货物转移及货权转移，转变为新模式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--1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）订单转移到客户外仓做货物转移并完成客户签收入库，货权转移，操作及流程合规；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）订单由客户外仓送至实际收货地，做实物发运及交付，二段签收；</a:t>
            </a:r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</a:rPr>
              <a:t>费用归属：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首段运输由客户承担费用，二段运输由公司承担运费，费用不重复计算，符合真实费用支付场景，保障客户及公司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利益。</a:t>
            </a:r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1806575"/>
            <a:ext cx="5607050" cy="3045460"/>
          </a:xfrm>
          <a:prstGeom prst="rect">
            <a:avLst/>
          </a:prstGeom>
        </p:spPr>
      </p:pic>
      <p:pic>
        <p:nvPicPr>
          <p:cNvPr id="8" name="图片 7" descr="img_v3_02sq_f7e47562-a7d5-41f9-95fc-760c57510a0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915" y="1741805"/>
            <a:ext cx="2258060" cy="49117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984740" y="4110355"/>
            <a:ext cx="542925" cy="235585"/>
          </a:xfrm>
          <a:prstGeom prst="rect">
            <a:avLst/>
          </a:prstGeom>
          <a:solidFill>
            <a:srgbClr val="007E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700">
                <a:latin typeface="微软雅黑" panose="020B0503020204020204" pitchFamily="34" charset="-122"/>
                <a:ea typeface="微软雅黑" panose="020B0503020204020204" pitchFamily="34" charset="-122"/>
              </a:rPr>
              <a:t>客仓签收</a:t>
            </a:r>
            <a:endParaRPr lang="zh-CN" altLang="en-US" sz="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91845" y="5862320"/>
            <a:ext cx="980440" cy="9188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发货仓</a:t>
            </a:r>
            <a:endParaRPr lang="en-US" altLang="zh-CN"/>
          </a:p>
        </p:txBody>
      </p:sp>
      <p:sp>
        <p:nvSpPr>
          <p:cNvPr id="6" name="椭圆 5"/>
          <p:cNvSpPr/>
          <p:nvPr/>
        </p:nvSpPr>
        <p:spPr>
          <a:xfrm>
            <a:off x="2557780" y="5100955"/>
            <a:ext cx="980440" cy="9188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客户</a:t>
            </a:r>
            <a:r>
              <a:rPr lang="zh-CN" altLang="en-US"/>
              <a:t>仓</a:t>
            </a: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180965" y="5862320"/>
            <a:ext cx="980440" cy="9188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收货</a:t>
            </a:r>
            <a:r>
              <a:rPr lang="zh-CN" altLang="en-US"/>
              <a:t>地址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5" idx="7"/>
            <a:endCxn id="6" idx="2"/>
          </p:cNvCxnSpPr>
          <p:nvPr/>
        </p:nvCxnSpPr>
        <p:spPr>
          <a:xfrm flipV="1">
            <a:off x="1628775" y="5560695"/>
            <a:ext cx="929005" cy="4362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6"/>
            <a:endCxn id="7" idx="1"/>
          </p:cNvCxnSpPr>
          <p:nvPr/>
        </p:nvCxnSpPr>
        <p:spPr>
          <a:xfrm>
            <a:off x="3538220" y="5560695"/>
            <a:ext cx="1786255" cy="4362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74090" y="1827530"/>
            <a:ext cx="256413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操作客仓发起</a:t>
            </a:r>
            <a:r>
              <a:rPr lang="zh-CN" altLang="en-US"/>
              <a:t>页面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36915" y="1755775"/>
            <a:ext cx="225806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客户客仓签收</a:t>
            </a:r>
            <a:r>
              <a:rPr lang="zh-CN" altLang="en-US"/>
              <a:t>页面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36245" y="6212205"/>
            <a:ext cx="35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2078355" y="5022215"/>
            <a:ext cx="35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414645" y="5494020"/>
            <a:ext cx="512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47650" y="5222240"/>
            <a:ext cx="2112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A-B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：发货仓至客户外仓间运输，客户做第一次签收并且由客户承担运费。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91915" y="5071745"/>
            <a:ext cx="2112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B-C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：客户外仓至最终收货地址间运输，由公司承担物流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费用。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业务架构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关键业务流程</a:t>
            </a:r>
            <a:r>
              <a:rPr lang="en-US" altLang="zh-CN" dirty="0" smtClean="0">
                <a:solidFill>
                  <a:prstClr val="black"/>
                </a:solidFill>
              </a:rPr>
              <a:t>-</a:t>
            </a:r>
            <a:r>
              <a:rPr lang="zh-CN" altLang="en-US" dirty="0" smtClean="0">
                <a:solidFill>
                  <a:prstClr val="black"/>
                </a:solidFill>
              </a:rPr>
              <a:t>运营报表</a:t>
            </a:r>
            <a:r>
              <a:rPr lang="zh-CN" altLang="en-US" dirty="0" smtClean="0">
                <a:solidFill>
                  <a:prstClr val="black"/>
                </a:solidFill>
              </a:rPr>
              <a:t>管理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33440" y="1734185"/>
            <a:ext cx="2090420" cy="6915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每日推送客户催发、物流催收订</a:t>
            </a:r>
            <a:r>
              <a:rPr lang="zh-CN" altLang="en-US" sz="1600" b="1">
                <a:solidFill>
                  <a:schemeClr val="bg1"/>
                </a:solidFill>
                <a:latin typeface="+mn-ea"/>
              </a:rPr>
              <a:t>单明细</a:t>
            </a:r>
            <a:endParaRPr lang="en-US" altLang="zh-CN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32884" y="4476635"/>
            <a:ext cx="2874852" cy="691200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服务评价 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分数明细</a:t>
            </a:r>
            <a:r>
              <a:rPr lang="en-US" altLang="zh-CN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汇总</a:t>
            </a:r>
            <a:endParaRPr lang="en-US" altLang="zh-CN" sz="16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04760" y="3560445"/>
            <a:ext cx="1424305" cy="6915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带板运输进度报表</a:t>
            </a:r>
            <a:endParaRPr lang="en-US" altLang="zh-CN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77565" y="1738630"/>
            <a:ext cx="2315210" cy="6915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物流日发运情况分析</a:t>
            </a:r>
            <a:endParaRPr lang="en-US" altLang="zh-CN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83280" y="3578860"/>
            <a:ext cx="2311400" cy="6915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物流运输分析报表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18" y="1759421"/>
            <a:ext cx="706909" cy="70690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73" y="3596520"/>
            <a:ext cx="628363" cy="62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63" y="4579105"/>
            <a:ext cx="520758" cy="51054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矩形 14"/>
          <p:cNvSpPr/>
          <p:nvPr/>
        </p:nvSpPr>
        <p:spPr>
          <a:xfrm>
            <a:off x="5937885" y="3569970"/>
            <a:ext cx="1522095" cy="6915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车辆运输频率报表</a:t>
            </a:r>
            <a:endParaRPr lang="en-US" altLang="zh-CN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64230" y="4495165"/>
            <a:ext cx="2316480" cy="69151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订单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回单管理</a:t>
            </a:r>
            <a:endParaRPr lang="en-US" altLang="zh-CN" sz="16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06575" y="4488815"/>
            <a:ext cx="1304290" cy="691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20" b="1" dirty="0">
                <a:solidFill>
                  <a:schemeClr val="bg1"/>
                </a:solidFill>
                <a:latin typeface="+mn-ea"/>
              </a:rPr>
              <a:t>签收评价</a:t>
            </a:r>
            <a:endParaRPr lang="en-US" altLang="zh-CN" sz="1680" b="1" dirty="0">
              <a:solidFill>
                <a:schemeClr val="accent6"/>
              </a:solidFill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49" y="2654143"/>
            <a:ext cx="662172" cy="6621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矩形 18"/>
          <p:cNvSpPr/>
          <p:nvPr/>
        </p:nvSpPr>
        <p:spPr>
          <a:xfrm>
            <a:off x="3383915" y="2644140"/>
            <a:ext cx="2306320" cy="69151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出入厂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检查明细</a:t>
            </a:r>
            <a:endParaRPr lang="en-US" altLang="zh-CN" sz="16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37217" y="2654143"/>
            <a:ext cx="2107557" cy="691200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排队轮候时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长明细</a:t>
            </a:r>
            <a:endParaRPr lang="en-US" altLang="zh-CN" sz="16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07210" y="2654300"/>
            <a:ext cx="1302385" cy="691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20" b="1" dirty="0">
                <a:solidFill>
                  <a:schemeClr val="bg1"/>
                </a:solidFill>
                <a:latin typeface="+mn-ea"/>
              </a:rPr>
              <a:t>现场轮候调度</a:t>
            </a:r>
            <a:endParaRPr lang="en-US" altLang="zh-CN" sz="168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07210" y="3564890"/>
            <a:ext cx="1303655" cy="691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20" b="1" dirty="0">
                <a:solidFill>
                  <a:schemeClr val="bg1"/>
                </a:solidFill>
                <a:latin typeface="+mn-ea"/>
              </a:rPr>
              <a:t>物流运输</a:t>
            </a:r>
            <a:endParaRPr lang="en-US" altLang="zh-CN" sz="168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13050" y="1736725"/>
            <a:ext cx="1296968" cy="69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20" b="1" dirty="0">
                <a:solidFill>
                  <a:schemeClr val="bg1"/>
                </a:solidFill>
                <a:latin typeface="+mn-ea"/>
              </a:rPr>
              <a:t>发运调度</a:t>
            </a:r>
            <a:endParaRPr lang="en-US" altLang="zh-CN" sz="192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72793" y="3560277"/>
            <a:ext cx="2025013" cy="69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每日推送收货地址偏差预警</a:t>
            </a:r>
            <a:r>
              <a:rPr lang="zh-CN" altLang="en-US" sz="1600" b="1">
                <a:solidFill>
                  <a:schemeClr val="bg1"/>
                </a:solidFill>
                <a:latin typeface="+mn-ea"/>
              </a:rPr>
              <a:t>订单明细</a:t>
            </a:r>
            <a:endParaRPr lang="en-US" altLang="zh-CN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247892" y="1737476"/>
            <a:ext cx="2946333" cy="691200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运单装载率汇总</a:t>
            </a:r>
            <a:r>
              <a:rPr lang="en-US" altLang="zh-CN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明细</a:t>
            </a:r>
            <a:endParaRPr lang="en-US" altLang="zh-CN" sz="144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925185" y="4485640"/>
            <a:ext cx="2208530" cy="69151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异常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签收明细</a:t>
            </a:r>
            <a:endParaRPr lang="en-US" altLang="zh-CN" sz="16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245580" y="2654745"/>
            <a:ext cx="2950956" cy="691200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8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入厂装货</a:t>
            </a:r>
            <a:r>
              <a:rPr lang="zh-CN" altLang="en-US" sz="1680">
                <a:solidFill>
                  <a:schemeClr val="bg1">
                    <a:lumMod val="50000"/>
                  </a:schemeClr>
                </a:solidFill>
                <a:latin typeface="+mn-ea"/>
              </a:rPr>
              <a:t>效率分析</a:t>
            </a:r>
            <a:endParaRPr lang="en-US" altLang="zh-CN" sz="168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" y="5292725"/>
            <a:ext cx="3178175" cy="15513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10" y="5290185"/>
            <a:ext cx="3015615" cy="153860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8460" y="5288915"/>
            <a:ext cx="3178810" cy="156019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60045" y="780415"/>
            <a:ext cx="11463655" cy="957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按运营管理要求增加多类分析报表：每日发运情况、运输分析、带板运输进度、车辆运输频率等，助力提升日常运作分析；</a:t>
            </a:r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通过推送客户催发、物流催收订单明细，推动客户收货及物流送货，减少订单积压或订单倒置；推送收货地址偏离预警订单明细，为有效规范送货提供数据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支撑。</a:t>
            </a:r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矩形 2"/>
          <p:cNvSpPr/>
          <p:nvPr/>
        </p:nvSpPr>
        <p:spPr>
          <a:xfrm>
            <a:off x="2372678" y="4176028"/>
            <a:ext cx="7515225" cy="792162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6" name="矩形 3"/>
          <p:cNvSpPr/>
          <p:nvPr/>
        </p:nvSpPr>
        <p:spPr>
          <a:xfrm>
            <a:off x="2371090" y="2940050"/>
            <a:ext cx="7515225" cy="792480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7" name="矩形 4"/>
          <p:cNvSpPr/>
          <p:nvPr/>
        </p:nvSpPr>
        <p:spPr>
          <a:xfrm>
            <a:off x="2367915" y="4176028"/>
            <a:ext cx="868363" cy="792162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3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8" name="矩形 5"/>
          <p:cNvSpPr/>
          <p:nvPr/>
        </p:nvSpPr>
        <p:spPr>
          <a:xfrm>
            <a:off x="2367915" y="2940214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2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9" name="文本框 47"/>
          <p:cNvSpPr txBox="1">
            <a:spLocks noChangeArrowheads="1"/>
          </p:cNvSpPr>
          <p:nvPr/>
        </p:nvSpPr>
        <p:spPr bwMode="auto">
          <a:xfrm>
            <a:off x="3268028" y="4337416"/>
            <a:ext cx="645795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下一步工作计划与分工确认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文本框 48"/>
          <p:cNvSpPr txBox="1">
            <a:spLocks noChangeArrowheads="1"/>
          </p:cNvSpPr>
          <p:nvPr/>
        </p:nvSpPr>
        <p:spPr bwMode="auto">
          <a:xfrm>
            <a:off x="3268028" y="3125952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系统功能与流程介绍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技术板块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1" name="矩形 10"/>
          <p:cNvSpPr/>
          <p:nvPr/>
        </p:nvSpPr>
        <p:spPr>
          <a:xfrm>
            <a:off x="3236278" y="1688943"/>
            <a:ext cx="6650037" cy="792163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schemeClr val="tx1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82" name="矩形 11"/>
          <p:cNvSpPr/>
          <p:nvPr/>
        </p:nvSpPr>
        <p:spPr>
          <a:xfrm>
            <a:off x="2367915" y="1688943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1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83" name="文本框 48"/>
          <p:cNvSpPr txBox="1">
            <a:spLocks noChangeArrowheads="1"/>
          </p:cNvSpPr>
          <p:nvPr/>
        </p:nvSpPr>
        <p:spPr bwMode="auto">
          <a:xfrm>
            <a:off x="3268028" y="1874681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系统上线准备情况汇报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8325" y="2706370"/>
            <a:ext cx="8680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  <a:sym typeface="+mn-ea"/>
              </a:rPr>
              <a:t>数据架构</a:t>
            </a:r>
            <a:r>
              <a:rPr lang="zh-CN" altLang="en-US" dirty="0" smtClean="0">
                <a:solidFill>
                  <a:prstClr val="black"/>
                </a:solidFill>
              </a:rPr>
              <a:t>设计原则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sw" fmla="*/ 1 w 5440"/>
              <a:gd name="sh" fmla="*/ 1 h 7440"/>
              <a:gd name="mins" fmla="min sw sh"/>
              <a:gd name="dsw" fmla="+- 0 sw mins"/>
              <a:gd name="dsh" fmla="+- 0 sh mins"/>
              <a:gd name="p0x0" fmla="*/ 240 w 5440"/>
              <a:gd name="p0y0" fmla="*/ 0 h 7440"/>
              <a:gd name="p0x1" fmla="*/ 5200 w 5440"/>
              <a:gd name="p0y1" fmla="*/ 0 h 7440"/>
              <a:gd name="p0x2" fmla="*/ 5332 w 5440"/>
              <a:gd name="p0y2" fmla="*/ 0 h 7440"/>
              <a:gd name="p0x3" fmla="*/ 5440 w 5440"/>
              <a:gd name="p0y3" fmla="*/ 107 h 7440"/>
              <a:gd name="p0x4" fmla="*/ 5440 w 5440"/>
              <a:gd name="p0y4" fmla="*/ 240 h 7440"/>
              <a:gd name="p0x5" fmla="*/ 5440 w 5440"/>
              <a:gd name="p0y5" fmla="*/ 7200 h 7440"/>
              <a:gd name="p0x6" fmla="*/ 5440 w 5440"/>
              <a:gd name="p0y6" fmla="*/ 7332 h 7440"/>
              <a:gd name="p0x7" fmla="*/ 5332 w 5440"/>
              <a:gd name="p0y7" fmla="*/ 7440 h 7440"/>
              <a:gd name="p0x8" fmla="*/ 5200 w 5440"/>
              <a:gd name="p0y8" fmla="*/ 7440 h 7440"/>
              <a:gd name="p0x9" fmla="*/ 240 w 5440"/>
              <a:gd name="p0y9" fmla="*/ 7440 h 7440"/>
              <a:gd name="p0x10" fmla="*/ 107 w 5440"/>
              <a:gd name="p0y10" fmla="*/ 7440 h 7440"/>
              <a:gd name="p0x11" fmla="*/ 0 w 5440"/>
              <a:gd name="p0y11" fmla="*/ 7332 h 7440"/>
              <a:gd name="p0x12" fmla="*/ 0 w 5440"/>
              <a:gd name="p0y12" fmla="*/ 7200 h 7440"/>
              <a:gd name="p0x13" fmla="*/ 0 w 5440"/>
              <a:gd name="p0y13" fmla="*/ 240 h 7440"/>
              <a:gd name="p0x14" fmla="*/ 0 w 5440"/>
              <a:gd name="p0y14" fmla="*/ 107 h 7440"/>
              <a:gd name="p0x15" fmla="*/ 107 w 5440"/>
              <a:gd name="p0y15" fmla="*/ 0 h 7440"/>
              <a:gd name="p0x16" fmla="*/ 240 w 5440"/>
              <a:gd name="p0y16" fmla="*/ 0 h 7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 cmpd="sng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71450" dist="95250" dir="5399999" algn="tl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2"/>
            </p:custDataLst>
          </p:nvPr>
        </p:nvSpPr>
        <p:spPr>
          <a:xfrm>
            <a:off x="1879600" y="2514600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79600" y="2514600"/>
            <a:ext cx="914400" cy="914400"/>
          </a:xfrm>
          <a:prstGeom prst="rect">
            <a:avLst/>
          </a:prstGeom>
          <a:noFill/>
        </p:spPr>
        <p:txBody>
          <a:bodyPr wrap="square" lIns="17780" tIns="0" rIns="17780" bIns="0" rtlCol="0" anchor="ctr">
            <a:noAutofit/>
          </a:bodyPr>
          <a:p>
            <a:pPr algn="ctr"/>
            <a:r>
              <a:rPr lang="en-US" altLang="en-US" sz="3595">
                <a:solidFill>
                  <a:schemeClr val="accent1">
                    <a:lumMod val="0"/>
                    <a:lumOff val="100000"/>
                  </a:schemeClr>
                </a:solidFill>
              </a:rPr>
              <a:t>01</a:t>
            </a:r>
            <a:endParaRPr lang="en-US" altLang="en-US" sz="3595">
              <a:solidFill>
                <a:schemeClr val="accent1">
                  <a:lumMod val="0"/>
                  <a:lumOff val="100000"/>
                </a:schemeClr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914400" y="3683000"/>
            <a:ext cx="2844800" cy="4064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业务与数据基础要求</a:t>
            </a:r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914400" y="4241800"/>
            <a:ext cx="2844800" cy="10160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以业务需求为导向</a:t>
            </a:r>
            <a:endParaRPr lang="en-US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zh-CN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数据标准化与一致性</a:t>
            </a:r>
            <a:endParaRPr lang="en-US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zh-CN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数据完整性与准确性</a:t>
            </a:r>
            <a:endParaRPr lang="zh-CN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sw" fmla="*/ 1 w 5440"/>
              <a:gd name="sh" fmla="*/ 1 h 7440"/>
              <a:gd name="mins" fmla="min sw sh"/>
              <a:gd name="dsw" fmla="+- 0 sw mins"/>
              <a:gd name="dsh" fmla="+- 0 sh mins"/>
              <a:gd name="p0x0" fmla="*/ 240 w 5440"/>
              <a:gd name="p0y0" fmla="*/ 0 h 7440"/>
              <a:gd name="p0x1" fmla="*/ 5200 w 5440"/>
              <a:gd name="p0y1" fmla="*/ 0 h 7440"/>
              <a:gd name="p0x2" fmla="*/ 5332 w 5440"/>
              <a:gd name="p0y2" fmla="*/ 0 h 7440"/>
              <a:gd name="p0x3" fmla="*/ 5440 w 5440"/>
              <a:gd name="p0y3" fmla="*/ 107 h 7440"/>
              <a:gd name="p0x4" fmla="*/ 5440 w 5440"/>
              <a:gd name="p0y4" fmla="*/ 240 h 7440"/>
              <a:gd name="p0x5" fmla="*/ 5440 w 5440"/>
              <a:gd name="p0y5" fmla="*/ 7200 h 7440"/>
              <a:gd name="p0x6" fmla="*/ 5440 w 5440"/>
              <a:gd name="p0y6" fmla="*/ 7332 h 7440"/>
              <a:gd name="p0x7" fmla="*/ 5332 w 5440"/>
              <a:gd name="p0y7" fmla="*/ 7440 h 7440"/>
              <a:gd name="p0x8" fmla="*/ 5200 w 5440"/>
              <a:gd name="p0y8" fmla="*/ 7440 h 7440"/>
              <a:gd name="p0x9" fmla="*/ 240 w 5440"/>
              <a:gd name="p0y9" fmla="*/ 7440 h 7440"/>
              <a:gd name="p0x10" fmla="*/ 107 w 5440"/>
              <a:gd name="p0y10" fmla="*/ 7440 h 7440"/>
              <a:gd name="p0x11" fmla="*/ 0 w 5440"/>
              <a:gd name="p0y11" fmla="*/ 7332 h 7440"/>
              <a:gd name="p0x12" fmla="*/ 0 w 5440"/>
              <a:gd name="p0y12" fmla="*/ 7200 h 7440"/>
              <a:gd name="p0x13" fmla="*/ 0 w 5440"/>
              <a:gd name="p0y13" fmla="*/ 240 h 7440"/>
              <a:gd name="p0x14" fmla="*/ 0 w 5440"/>
              <a:gd name="p0y14" fmla="*/ 107 h 7440"/>
              <a:gd name="p0x15" fmla="*/ 107 w 5440"/>
              <a:gd name="p0y15" fmla="*/ 0 h 7440"/>
              <a:gd name="p0x16" fmla="*/ 240 w 5440"/>
              <a:gd name="p0y16" fmla="*/ 0 h 7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 cmpd="sng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71450" dist="95250" dir="5399999" algn="tl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7"/>
            </p:custDataLst>
          </p:nvPr>
        </p:nvSpPr>
        <p:spPr>
          <a:xfrm>
            <a:off x="5638800" y="2514600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5638800" y="2514600"/>
            <a:ext cx="914400" cy="914400"/>
          </a:xfrm>
          <a:prstGeom prst="rect">
            <a:avLst/>
          </a:prstGeom>
          <a:noFill/>
        </p:spPr>
        <p:txBody>
          <a:bodyPr wrap="square" lIns="17780" tIns="0" rIns="17780" bIns="0" rtlCol="0" anchor="ctr">
            <a:noAutofit/>
          </a:bodyPr>
          <a:p>
            <a:pPr algn="ctr"/>
            <a:r>
              <a:rPr lang="en-US" altLang="en-US" sz="3595">
                <a:solidFill>
                  <a:schemeClr val="accent1">
                    <a:lumMod val="0"/>
                    <a:lumOff val="100000"/>
                  </a:schemeClr>
                </a:solidFill>
              </a:rPr>
              <a:t>02</a:t>
            </a:r>
            <a:endParaRPr lang="en-US" altLang="en-US" sz="3595">
              <a:solidFill>
                <a:schemeClr val="accent1">
                  <a:lumMod val="0"/>
                  <a:lumOff val="100000"/>
                </a:schemeClr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4673600" y="3683000"/>
            <a:ext cx="2844800" cy="4064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系统架构与技术特性</a:t>
            </a:r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4673600" y="4241800"/>
            <a:ext cx="2844800" cy="10160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松耦合与模块化</a:t>
            </a:r>
            <a:endParaRPr lang="en-US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zh-CN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可扩展性与弹性</a:t>
            </a:r>
            <a:endParaRPr lang="en-US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zh-CN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高可用性与容灾能力</a:t>
            </a:r>
            <a:endParaRPr lang="zh-CN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sw" fmla="*/ 1 w 5440"/>
              <a:gd name="sh" fmla="*/ 1 h 7440"/>
              <a:gd name="mins" fmla="min sw sh"/>
              <a:gd name="dsw" fmla="+- 0 sw mins"/>
              <a:gd name="dsh" fmla="+- 0 sh mins"/>
              <a:gd name="p0x0" fmla="*/ 240 w 5440"/>
              <a:gd name="p0y0" fmla="*/ 0 h 7440"/>
              <a:gd name="p0x1" fmla="*/ 5200 w 5440"/>
              <a:gd name="p0y1" fmla="*/ 0 h 7440"/>
              <a:gd name="p0x2" fmla="*/ 5332 w 5440"/>
              <a:gd name="p0y2" fmla="*/ 0 h 7440"/>
              <a:gd name="p0x3" fmla="*/ 5440 w 5440"/>
              <a:gd name="p0y3" fmla="*/ 107 h 7440"/>
              <a:gd name="p0x4" fmla="*/ 5440 w 5440"/>
              <a:gd name="p0y4" fmla="*/ 240 h 7440"/>
              <a:gd name="p0x5" fmla="*/ 5440 w 5440"/>
              <a:gd name="p0y5" fmla="*/ 7200 h 7440"/>
              <a:gd name="p0x6" fmla="*/ 5440 w 5440"/>
              <a:gd name="p0y6" fmla="*/ 7332 h 7440"/>
              <a:gd name="p0x7" fmla="*/ 5332 w 5440"/>
              <a:gd name="p0y7" fmla="*/ 7440 h 7440"/>
              <a:gd name="p0x8" fmla="*/ 5200 w 5440"/>
              <a:gd name="p0y8" fmla="*/ 7440 h 7440"/>
              <a:gd name="p0x9" fmla="*/ 240 w 5440"/>
              <a:gd name="p0y9" fmla="*/ 7440 h 7440"/>
              <a:gd name="p0x10" fmla="*/ 107 w 5440"/>
              <a:gd name="p0y10" fmla="*/ 7440 h 7440"/>
              <a:gd name="p0x11" fmla="*/ 0 w 5440"/>
              <a:gd name="p0y11" fmla="*/ 7332 h 7440"/>
              <a:gd name="p0x12" fmla="*/ 0 w 5440"/>
              <a:gd name="p0y12" fmla="*/ 7200 h 7440"/>
              <a:gd name="p0x13" fmla="*/ 0 w 5440"/>
              <a:gd name="p0y13" fmla="*/ 240 h 7440"/>
              <a:gd name="p0x14" fmla="*/ 0 w 5440"/>
              <a:gd name="p0y14" fmla="*/ 107 h 7440"/>
              <a:gd name="p0x15" fmla="*/ 107 w 5440"/>
              <a:gd name="p0y15" fmla="*/ 0 h 7440"/>
              <a:gd name="p0x16" fmla="*/ 240 w 5440"/>
              <a:gd name="p0y16" fmla="*/ 0 h 7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9050" cmpd="sng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71450" dist="95250" dir="5399999" algn="tl" rotWithShape="0">
              <a:srgbClr val="000000">
                <a:alpha val="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2"/>
            </p:custDataLst>
          </p:nvPr>
        </p:nvSpPr>
        <p:spPr>
          <a:xfrm>
            <a:off x="9398000" y="2514600"/>
            <a:ext cx="914400" cy="914400"/>
          </a:xfrm>
          <a:custGeom>
            <a:avLst/>
            <a:gdLst>
              <a:gd name="sw" fmla="*/ 1 w 1440"/>
              <a:gd name="sh" fmla="*/ 1 h 1440"/>
              <a:gd name="mins" fmla="min sw sh"/>
              <a:gd name="dsw" fmla="+- 0 sw mins"/>
              <a:gd name="dsh" fmla="+- 0 sh mins"/>
              <a:gd name="p0x0" fmla="*/ 720 w 1440"/>
              <a:gd name="p0y0" fmla="*/ 0 h 1440"/>
              <a:gd name="p0x1" fmla="*/ 1117 w 1440"/>
              <a:gd name="p0y1" fmla="*/ 0 h 1440"/>
              <a:gd name="p0x2" fmla="*/ 1440 w 1440"/>
              <a:gd name="p0y2" fmla="*/ 322 h 1440"/>
              <a:gd name="p0x3" fmla="*/ 1440 w 1440"/>
              <a:gd name="p0y3" fmla="*/ 720 h 1440"/>
              <a:gd name="p0x4" fmla="*/ 1440 w 1440"/>
              <a:gd name="p0y4" fmla="*/ 1117 h 1440"/>
              <a:gd name="p0x5" fmla="*/ 1117 w 1440"/>
              <a:gd name="p0y5" fmla="*/ 1440 h 1440"/>
              <a:gd name="p0x6" fmla="*/ 720 w 1440"/>
              <a:gd name="p0y6" fmla="*/ 1440 h 1440"/>
              <a:gd name="p0x7" fmla="*/ 322 w 1440"/>
              <a:gd name="p0y7" fmla="*/ 1440 h 1440"/>
              <a:gd name="p0x8" fmla="*/ 0 w 1440"/>
              <a:gd name="p0y8" fmla="*/ 1117 h 1440"/>
              <a:gd name="p0x9" fmla="*/ 0 w 1440"/>
              <a:gd name="p0y9" fmla="*/ 720 h 1440"/>
              <a:gd name="p0x10" fmla="*/ 0 w 1440"/>
              <a:gd name="p0y10" fmla="*/ 322 h 1440"/>
              <a:gd name="p0x11" fmla="*/ 322 w 1440"/>
              <a:gd name="p0y11" fmla="*/ 0 h 1440"/>
              <a:gd name="p0x12" fmla="*/ 720 w 1440"/>
              <a:gd name="p0y12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9398000" y="2514600"/>
            <a:ext cx="914400" cy="914400"/>
          </a:xfrm>
          <a:prstGeom prst="rect">
            <a:avLst/>
          </a:prstGeom>
          <a:noFill/>
        </p:spPr>
        <p:txBody>
          <a:bodyPr wrap="square" lIns="17780" tIns="0" rIns="17780" bIns="0" rtlCol="0" anchor="ctr">
            <a:noAutofit/>
          </a:bodyPr>
          <a:p>
            <a:pPr algn="ctr"/>
            <a:r>
              <a:rPr lang="en-US" altLang="en-US" sz="3595">
                <a:solidFill>
                  <a:schemeClr val="accent1">
                    <a:lumMod val="0"/>
                    <a:lumOff val="100000"/>
                  </a:schemeClr>
                </a:solidFill>
              </a:rPr>
              <a:t>03</a:t>
            </a:r>
            <a:endParaRPr lang="en-US" altLang="en-US" sz="3595">
              <a:solidFill>
                <a:schemeClr val="accent1">
                  <a:lumMod val="0"/>
                  <a:lumOff val="100000"/>
                </a:schemeClr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8432800" y="3683000"/>
            <a:ext cx="2844800" cy="4064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/>
            <a:r>
              <a: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数据与技术适配要求</a:t>
            </a:r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8432800" y="4241800"/>
            <a:ext cx="2844800" cy="101600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支持多模态与多源数据</a:t>
            </a:r>
            <a:endParaRPr lang="en-US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zh-CN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元数据驱动</a:t>
            </a:r>
            <a:endParaRPr lang="en-US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zh-CN" sz="1595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面向未来与技术中立</a:t>
            </a:r>
            <a:endParaRPr lang="zh-CN" altLang="zh-CN" sz="159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数据架构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数据需求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723900" y="1220470"/>
          <a:ext cx="9865995" cy="419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362075"/>
                <a:gridCol w="1285240"/>
                <a:gridCol w="2563495"/>
                <a:gridCol w="2692400"/>
              </a:tblGrid>
              <a:tr h="423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业务需求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数据来源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业务域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业务数据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数据类型</a:t>
                      </a:r>
                      <a:endParaRPr lang="zh-CN" altLang="en-US"/>
                    </a:p>
                  </a:txBody>
                  <a:tcPr/>
                </a:tc>
              </a:tr>
              <a:tr h="585470"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运输订单管理与执行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运输订单信息、运单信息、配送任务信息、回单信息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运输资源管理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HR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设备管理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公共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司机信息、车辆信息、承运商信息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423545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货物与产品信息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WMS/MDM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货物信息、包装信息、货品分类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584835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运输财务结算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财务系统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运输费用、结算账单、支付凭证、发票信息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584835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运输实时跟踪数据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中交兴路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/G7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易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车辆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GPS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位置、车辆状态数据、运输轨迹数据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585470"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运输地理信息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地图服务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地理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路线数据、地理围栏、地址库、行政区划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结构化数据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/>
                </a:tc>
              </a:tr>
              <a:tr h="42354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0" marR="152717" marT="95567" marB="9556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152717" marR="152717" marT="95567" marB="9556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 b="0" i="0">
                        <a:solidFill>
                          <a:srgbClr val="0F1115"/>
                        </a:solidFill>
                        <a:latin typeface="var(--dsw-font-markdown-table)"/>
                        <a:ea typeface="var(--dsw-font-markdown-table)"/>
                      </a:endParaRPr>
                    </a:p>
                  </a:txBody>
                  <a:tcPr marL="152717" marR="0" marT="95567" marB="9556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数据架构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数据设计（一）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" name="矩形 76"/>
          <p:cNvSpPr/>
          <p:nvPr>
            <p:custDataLst>
              <p:tags r:id="rId1"/>
            </p:custDataLst>
          </p:nvPr>
        </p:nvSpPr>
        <p:spPr>
          <a:xfrm>
            <a:off x="401978" y="913921"/>
            <a:ext cx="936104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数据模型和数据生命周期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795" y="1532255"/>
            <a:ext cx="5547360" cy="4991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数据架构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数据设计（二）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" name="矩形 76"/>
          <p:cNvSpPr/>
          <p:nvPr>
            <p:custDataLst>
              <p:tags r:id="rId1"/>
            </p:custDataLst>
          </p:nvPr>
        </p:nvSpPr>
        <p:spPr>
          <a:xfrm>
            <a:off x="401978" y="913921"/>
            <a:ext cx="936104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数据存储和数据分布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whiteboard_exported_image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45" y="1282065"/>
            <a:ext cx="9128125" cy="5368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数据架构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数据设计（三）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" name="矩形 76"/>
          <p:cNvSpPr/>
          <p:nvPr>
            <p:custDataLst>
              <p:tags r:id="rId1"/>
            </p:custDataLst>
          </p:nvPr>
        </p:nvSpPr>
        <p:spPr>
          <a:xfrm>
            <a:off x="401978" y="913921"/>
            <a:ext cx="936104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数据流向及数据交换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whiteboard_exported_image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75" y="1282065"/>
            <a:ext cx="6889115" cy="5258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数据架构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数据管理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" name="矩形 76"/>
          <p:cNvSpPr/>
          <p:nvPr>
            <p:custDataLst>
              <p:tags r:id="rId1"/>
            </p:custDataLst>
          </p:nvPr>
        </p:nvSpPr>
        <p:spPr>
          <a:xfrm>
            <a:off x="401978" y="913921"/>
            <a:ext cx="936104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数据标准、数据质量及数据安全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17320"/>
            <a:ext cx="5376545" cy="1941830"/>
          </a:xfrm>
          <a:prstGeom prst="rect">
            <a:avLst/>
          </a:prstGeom>
        </p:spPr>
      </p:pic>
      <p:pic>
        <p:nvPicPr>
          <p:cNvPr id="7" name="图片 6" descr="20260108-1457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920" y="1355090"/>
            <a:ext cx="5657215" cy="2004060"/>
          </a:xfrm>
          <a:prstGeom prst="rect">
            <a:avLst/>
          </a:prstGeom>
        </p:spPr>
      </p:pic>
      <p:pic>
        <p:nvPicPr>
          <p:cNvPr id="8" name="图片 7" descr="20260108-1458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" y="3660140"/>
            <a:ext cx="11417935" cy="249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  <a:sym typeface="+mn-ea"/>
              </a:rPr>
              <a:t>技术</a:t>
            </a:r>
            <a:r>
              <a:rPr lang="zh-CN" altLang="en-US" dirty="0" smtClean="0">
                <a:solidFill>
                  <a:prstClr val="black"/>
                </a:solidFill>
              </a:rPr>
              <a:t>架构设计原则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8675" y="1284605"/>
            <a:ext cx="8552815" cy="3604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2000" b="1"/>
              <a:t>1.</a:t>
            </a:r>
            <a:r>
              <a:rPr lang="zh-CN" altLang="en-US" sz="2000" b="1"/>
              <a:t>可扩展性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2.</a:t>
            </a:r>
            <a:r>
              <a:rPr lang="zh-CN" altLang="en-US" sz="2000" b="1"/>
              <a:t>可维护性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3.</a:t>
            </a:r>
            <a:r>
              <a:rPr lang="zh-CN" altLang="en-US" sz="2000" b="1"/>
              <a:t>高性能性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4.</a:t>
            </a:r>
            <a:r>
              <a:rPr lang="zh-CN" altLang="en-US" sz="2000" b="1"/>
              <a:t>高稳定性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5.</a:t>
            </a:r>
            <a:r>
              <a:rPr lang="zh-CN" altLang="en-US" sz="2000" b="1"/>
              <a:t>标准化和规范化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6.</a:t>
            </a:r>
            <a:r>
              <a:rPr lang="zh-CN" altLang="en-US" sz="2000" b="1"/>
              <a:t>服务化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7.</a:t>
            </a:r>
            <a:r>
              <a:rPr lang="zh-CN" altLang="en-US" sz="2000" b="1"/>
              <a:t>单一责任原则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 b="1"/>
              <a:t>8.</a:t>
            </a:r>
            <a:r>
              <a:rPr lang="zh-CN" altLang="en-US" sz="2000" b="1"/>
              <a:t>模块化和可复用性</a:t>
            </a:r>
            <a:endParaRPr lang="zh-CN" altLang="en-US"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应用架构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应用架构视图（</a:t>
            </a:r>
            <a:r>
              <a:rPr lang="zh-CN" altLang="en-US" dirty="0" smtClean="0">
                <a:solidFill>
                  <a:prstClr val="black"/>
                </a:solidFill>
              </a:rPr>
              <a:t>项目）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701925" y="4000500"/>
            <a:ext cx="7091680" cy="2388235"/>
          </a:xfrm>
          <a:prstGeom prst="rect">
            <a:avLst/>
          </a:prstGeom>
          <a:solidFill>
            <a:schemeClr val="accent6">
              <a:lumMod val="9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7553960" y="4159885"/>
            <a:ext cx="19939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引 擎</a:t>
            </a:r>
            <a:endParaRPr lang="zh-CN" altLang="en-US" sz="1200" b="1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1" name="圆角矩形 4"/>
          <p:cNvSpPr/>
          <p:nvPr>
            <p:custDataLst>
              <p:tags r:id="rId2"/>
            </p:custDataLst>
          </p:nvPr>
        </p:nvSpPr>
        <p:spPr bwMode="auto">
          <a:xfrm>
            <a:off x="2713355" y="1125220"/>
            <a:ext cx="4341495" cy="277685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  <a:alpha val="23000"/>
            </a:schemeClr>
          </a:solidFill>
          <a:ln w="1905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圆角矩形 4"/>
          <p:cNvSpPr/>
          <p:nvPr>
            <p:custDataLst>
              <p:tags r:id="rId3"/>
            </p:custDataLst>
          </p:nvPr>
        </p:nvSpPr>
        <p:spPr bwMode="auto">
          <a:xfrm>
            <a:off x="2781300" y="5427980"/>
            <a:ext cx="6921500" cy="880745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  <a:alpha val="0"/>
            </a:schemeClr>
          </a:solidFill>
          <a:ln w="1905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圆角矩形 23"/>
          <p:cNvSpPr/>
          <p:nvPr>
            <p:custDataLst>
              <p:tags r:id="rId4"/>
            </p:custDataLst>
          </p:nvPr>
        </p:nvSpPr>
        <p:spPr bwMode="auto">
          <a:xfrm>
            <a:off x="2780665" y="4078605"/>
            <a:ext cx="2183765" cy="1270000"/>
          </a:xfrm>
          <a:prstGeom prst="roundRect">
            <a:avLst>
              <a:gd name="adj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圆角矩形 41"/>
          <p:cNvSpPr/>
          <p:nvPr>
            <p:custDataLst>
              <p:tags r:id="rId5"/>
            </p:custDataLst>
          </p:nvPr>
        </p:nvSpPr>
        <p:spPr bwMode="auto">
          <a:xfrm>
            <a:off x="5051425" y="4078605"/>
            <a:ext cx="2282190" cy="1270635"/>
          </a:xfrm>
          <a:prstGeom prst="roundRect">
            <a:avLst>
              <a:gd name="adj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圆角矩形 4"/>
          <p:cNvSpPr/>
          <p:nvPr>
            <p:custDataLst>
              <p:tags r:id="rId6"/>
            </p:custDataLst>
          </p:nvPr>
        </p:nvSpPr>
        <p:spPr bwMode="auto">
          <a:xfrm>
            <a:off x="9804400" y="1117600"/>
            <a:ext cx="1607820" cy="51911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3729355" y="1191260"/>
            <a:ext cx="2339340" cy="27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 b="1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应用服务</a:t>
            </a:r>
            <a:endParaRPr lang="en-US" altLang="zh-CN" sz="1200" b="1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5041900" y="5471160"/>
            <a:ext cx="22821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PaaS</a:t>
            </a:r>
            <a:endParaRPr lang="zh-CN" altLang="en-US" sz="1200" b="1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>
            <a:off x="2871470" y="4153535"/>
            <a:ext cx="20478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基础服务</a:t>
            </a: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/</a:t>
            </a: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组件</a:t>
            </a:r>
            <a:endParaRPr lang="zh-CN" altLang="en-US" sz="1200" b="1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5271770" y="4159885"/>
            <a:ext cx="17830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算法服务</a:t>
            </a:r>
            <a:endParaRPr lang="zh-CN" altLang="en-US" sz="1200" b="1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>
            <a:off x="10102215" y="1191260"/>
            <a:ext cx="10121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DevOps</a:t>
            </a:r>
            <a:endParaRPr lang="zh-CN" altLang="en-US" sz="1200" b="1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12"/>
            </p:custDataLst>
          </p:nvPr>
        </p:nvSpPr>
        <p:spPr bwMode="auto">
          <a:xfrm>
            <a:off x="5149850" y="4513580"/>
            <a:ext cx="995045" cy="6565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线路规划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13"/>
            </p:custDataLst>
          </p:nvPr>
        </p:nvSpPr>
        <p:spPr bwMode="auto">
          <a:xfrm>
            <a:off x="2924175" y="5796915"/>
            <a:ext cx="1321435" cy="382270"/>
          </a:xfrm>
          <a:prstGeom prst="rect">
            <a:avLst/>
          </a:prstGeom>
          <a:solidFill>
            <a:srgbClr val="97FA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n>
                  <a:noFill/>
                </a:ln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关系型数据库</a:t>
            </a:r>
            <a:endParaRPr lang="zh-CN" altLang="en-US" sz="1000" dirty="0">
              <a:ln>
                <a:noFill/>
              </a:ln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4"/>
            </p:custDataLst>
          </p:nvPr>
        </p:nvSpPr>
        <p:spPr bwMode="auto">
          <a:xfrm>
            <a:off x="4406900" y="5796915"/>
            <a:ext cx="1139190" cy="382270"/>
          </a:xfrm>
          <a:prstGeom prst="rect">
            <a:avLst/>
          </a:prstGeom>
          <a:solidFill>
            <a:srgbClr val="97FA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n>
                  <a:noFill/>
                </a:ln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消息中间件</a:t>
            </a:r>
            <a:endParaRPr lang="zh-CN" altLang="en-US" sz="1000" dirty="0">
              <a:ln>
                <a:noFill/>
              </a:ln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2" name="矩形 51"/>
          <p:cNvSpPr/>
          <p:nvPr>
            <p:custDataLst>
              <p:tags r:id="rId15"/>
            </p:custDataLst>
          </p:nvPr>
        </p:nvSpPr>
        <p:spPr bwMode="auto">
          <a:xfrm>
            <a:off x="6958330" y="5795010"/>
            <a:ext cx="1353185" cy="382270"/>
          </a:xfrm>
          <a:prstGeom prst="rect">
            <a:avLst/>
          </a:prstGeom>
          <a:solidFill>
            <a:srgbClr val="97FA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分布式协调器</a:t>
            </a:r>
            <a:endParaRPr lang="zh-CN" altLang="en-US" sz="1000" dirty="0">
              <a:ln>
                <a:noFill/>
              </a:ln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3" name="矩形 52"/>
          <p:cNvSpPr/>
          <p:nvPr>
            <p:custDataLst>
              <p:tags r:id="rId16"/>
            </p:custDataLst>
          </p:nvPr>
        </p:nvSpPr>
        <p:spPr bwMode="auto">
          <a:xfrm>
            <a:off x="9950450" y="1884045"/>
            <a:ext cx="1285875" cy="382270"/>
          </a:xfrm>
          <a:prstGeom prst="rect">
            <a:avLst/>
          </a:prstGeom>
          <a:solidFill>
            <a:srgbClr val="CAFCE5"/>
          </a:solidFill>
          <a:ln w="9525" cap="flat" cmpd="sng" algn="ctr">
            <a:solidFill>
              <a:srgbClr val="D9D9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Git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(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行云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)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01" name="矩形 100"/>
          <p:cNvSpPr/>
          <p:nvPr>
            <p:custDataLst>
              <p:tags r:id="rId17"/>
            </p:custDataLst>
          </p:nvPr>
        </p:nvSpPr>
        <p:spPr bwMode="auto">
          <a:xfrm>
            <a:off x="2882900" y="1680210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主数据服务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54" name="矩形 53"/>
          <p:cNvSpPr/>
          <p:nvPr>
            <p:custDataLst>
              <p:tags r:id="rId18"/>
            </p:custDataLst>
          </p:nvPr>
        </p:nvSpPr>
        <p:spPr bwMode="auto">
          <a:xfrm>
            <a:off x="4964430" y="1680210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订单</a:t>
            </a: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管理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55" name="矩形 54"/>
          <p:cNvSpPr/>
          <p:nvPr>
            <p:custDataLst>
              <p:tags r:id="rId19"/>
            </p:custDataLst>
          </p:nvPr>
        </p:nvSpPr>
        <p:spPr bwMode="auto">
          <a:xfrm>
            <a:off x="2887980" y="2226945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发运</a:t>
            </a: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管理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110" name="矩形 109"/>
          <p:cNvSpPr/>
          <p:nvPr>
            <p:custDataLst>
              <p:tags r:id="rId20"/>
            </p:custDataLst>
          </p:nvPr>
        </p:nvSpPr>
        <p:spPr bwMode="auto">
          <a:xfrm>
            <a:off x="4968875" y="2226945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在途</a:t>
            </a: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管理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 bwMode="auto">
          <a:xfrm>
            <a:off x="2889885" y="2767330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结算</a:t>
            </a: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管理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57" name="矩形 56"/>
          <p:cNvSpPr/>
          <p:nvPr>
            <p:custDataLst>
              <p:tags r:id="rId22"/>
            </p:custDataLst>
          </p:nvPr>
        </p:nvSpPr>
        <p:spPr bwMode="auto">
          <a:xfrm>
            <a:off x="4970780" y="2767330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业务</a:t>
            </a: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设置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120" name="矩形 119"/>
          <p:cNvSpPr/>
          <p:nvPr>
            <p:custDataLst>
              <p:tags r:id="rId23"/>
            </p:custDataLst>
          </p:nvPr>
        </p:nvSpPr>
        <p:spPr bwMode="auto">
          <a:xfrm>
            <a:off x="4975225" y="3286125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其它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58" name="矩形 57"/>
          <p:cNvSpPr/>
          <p:nvPr>
            <p:custDataLst>
              <p:tags r:id="rId24"/>
            </p:custDataLst>
          </p:nvPr>
        </p:nvSpPr>
        <p:spPr bwMode="auto">
          <a:xfrm>
            <a:off x="2894330" y="3293745"/>
            <a:ext cx="1912620" cy="407035"/>
          </a:xfrm>
          <a:prstGeom prst="rect">
            <a:avLst/>
          </a:prstGeom>
          <a:solidFill>
            <a:srgbClr val="4E0EA5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监控中心</a:t>
            </a:r>
            <a:endParaRPr lang="zh-CN" altLang="en-US" sz="10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59" name="矩形 58"/>
          <p:cNvSpPr/>
          <p:nvPr>
            <p:custDataLst>
              <p:tags r:id="rId25"/>
            </p:custDataLst>
          </p:nvPr>
        </p:nvSpPr>
        <p:spPr bwMode="auto">
          <a:xfrm>
            <a:off x="9950450" y="2300605"/>
            <a:ext cx="1285875" cy="382270"/>
          </a:xfrm>
          <a:prstGeom prst="rect">
            <a:avLst/>
          </a:prstGeom>
          <a:solidFill>
            <a:srgbClr val="CAFCE5"/>
          </a:solidFill>
          <a:ln w="9525" cap="flat" cmpd="sng" algn="ctr">
            <a:solidFill>
              <a:srgbClr val="D9D9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SonarQube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(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行云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)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35" name="矩形 134"/>
          <p:cNvSpPr/>
          <p:nvPr>
            <p:custDataLst>
              <p:tags r:id="rId26"/>
            </p:custDataLst>
          </p:nvPr>
        </p:nvSpPr>
        <p:spPr bwMode="auto">
          <a:xfrm>
            <a:off x="9950450" y="2729230"/>
            <a:ext cx="1285875" cy="382270"/>
          </a:xfrm>
          <a:prstGeom prst="rect">
            <a:avLst/>
          </a:prstGeom>
          <a:solidFill>
            <a:srgbClr val="CAFCE5"/>
          </a:solidFill>
          <a:ln w="9525" cap="flat" cmpd="sng" algn="ctr">
            <a:solidFill>
              <a:srgbClr val="D9D9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Nexus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/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Harbor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(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行云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)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37" name="矩形 136"/>
          <p:cNvSpPr/>
          <p:nvPr>
            <p:custDataLst>
              <p:tags r:id="rId27"/>
            </p:custDataLst>
          </p:nvPr>
        </p:nvSpPr>
        <p:spPr bwMode="auto">
          <a:xfrm>
            <a:off x="9950450" y="3169285"/>
            <a:ext cx="1285875" cy="382270"/>
          </a:xfrm>
          <a:prstGeom prst="rect">
            <a:avLst/>
          </a:prstGeom>
          <a:solidFill>
            <a:srgbClr val="CAFCE5"/>
          </a:solidFill>
          <a:ln w="9525" cap="flat" cmpd="sng" algn="ctr">
            <a:solidFill>
              <a:srgbClr val="D9D9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Pipeline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(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行云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)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41" name="矩形 140"/>
          <p:cNvSpPr/>
          <p:nvPr>
            <p:custDataLst>
              <p:tags r:id="rId28"/>
            </p:custDataLst>
          </p:nvPr>
        </p:nvSpPr>
        <p:spPr bwMode="auto">
          <a:xfrm>
            <a:off x="9944735" y="4064000"/>
            <a:ext cx="1285875" cy="322580"/>
          </a:xfrm>
          <a:prstGeom prst="rect">
            <a:avLst/>
          </a:prstGeom>
          <a:solidFill>
            <a:srgbClr val="CAFCE5"/>
          </a:solidFill>
          <a:ln w="9525" cap="flat" cmpd="sng" algn="ctr">
            <a:solidFill>
              <a:srgbClr val="D9D9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Prometheus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53" name="矩形 152"/>
          <p:cNvSpPr/>
          <p:nvPr>
            <p:custDataLst>
              <p:tags r:id="rId29"/>
            </p:custDataLst>
          </p:nvPr>
        </p:nvSpPr>
        <p:spPr bwMode="auto">
          <a:xfrm>
            <a:off x="5682615" y="5805805"/>
            <a:ext cx="1139190" cy="382270"/>
          </a:xfrm>
          <a:prstGeom prst="rect">
            <a:avLst/>
          </a:prstGeom>
          <a:solidFill>
            <a:srgbClr val="97FA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n>
                  <a:noFill/>
                </a:ln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缓存中间件</a:t>
            </a:r>
            <a:endParaRPr lang="zh-CN" altLang="en-US" sz="1000" dirty="0">
              <a:ln>
                <a:noFill/>
              </a:ln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54" name="矩形 153"/>
          <p:cNvSpPr/>
          <p:nvPr>
            <p:custDataLst>
              <p:tags r:id="rId30"/>
            </p:custDataLst>
          </p:nvPr>
        </p:nvSpPr>
        <p:spPr bwMode="auto">
          <a:xfrm>
            <a:off x="8451850" y="5795010"/>
            <a:ext cx="1080135" cy="382270"/>
          </a:xfrm>
          <a:prstGeom prst="rect">
            <a:avLst/>
          </a:prstGeom>
          <a:solidFill>
            <a:srgbClr val="97FA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n>
                  <a:noFill/>
                </a:ln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对象存储</a:t>
            </a:r>
            <a:endParaRPr lang="zh-CN" altLang="en-US" sz="1000" dirty="0">
              <a:ln>
                <a:noFill/>
              </a:ln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55" name="Rectangle 19"/>
          <p:cNvSpPr/>
          <p:nvPr>
            <p:custDataLst>
              <p:tags r:id="rId31"/>
            </p:custDataLst>
          </p:nvPr>
        </p:nvSpPr>
        <p:spPr>
          <a:xfrm flipH="1">
            <a:off x="5732145" y="5490210"/>
            <a:ext cx="76200" cy="2292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x-none"/>
          </a:p>
        </p:txBody>
      </p:sp>
      <p:sp>
        <p:nvSpPr>
          <p:cNvPr id="157" name="Rectangle 19"/>
          <p:cNvSpPr/>
          <p:nvPr>
            <p:custDataLst>
              <p:tags r:id="rId32"/>
            </p:custDataLst>
          </p:nvPr>
        </p:nvSpPr>
        <p:spPr>
          <a:xfrm flipH="1">
            <a:off x="10033000" y="1263015"/>
            <a:ext cx="74295" cy="2292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x-none"/>
          </a:p>
        </p:txBody>
      </p:sp>
      <p:sp>
        <p:nvSpPr>
          <p:cNvPr id="163" name="矩形 162"/>
          <p:cNvSpPr/>
          <p:nvPr>
            <p:custDataLst>
              <p:tags r:id="rId33"/>
            </p:custDataLst>
          </p:nvPr>
        </p:nvSpPr>
        <p:spPr bwMode="auto">
          <a:xfrm>
            <a:off x="2870835" y="4869180"/>
            <a:ext cx="937260" cy="301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数据权限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64" name="矩形 163"/>
          <p:cNvSpPr/>
          <p:nvPr>
            <p:custDataLst>
              <p:tags r:id="rId34"/>
            </p:custDataLst>
          </p:nvPr>
        </p:nvSpPr>
        <p:spPr bwMode="auto">
          <a:xfrm>
            <a:off x="2867025" y="4518025"/>
            <a:ext cx="940435" cy="301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文件中心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65" name="矩形 164"/>
          <p:cNvSpPr/>
          <p:nvPr>
            <p:custDataLst>
              <p:tags r:id="rId35"/>
            </p:custDataLst>
          </p:nvPr>
        </p:nvSpPr>
        <p:spPr bwMode="auto">
          <a:xfrm>
            <a:off x="3898900" y="4513580"/>
            <a:ext cx="951230" cy="301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消息中心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66" name="矩形 165"/>
          <p:cNvSpPr/>
          <p:nvPr>
            <p:custDataLst>
              <p:tags r:id="rId36"/>
            </p:custDataLst>
          </p:nvPr>
        </p:nvSpPr>
        <p:spPr bwMode="auto">
          <a:xfrm>
            <a:off x="3898900" y="4869180"/>
            <a:ext cx="951230" cy="301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缓存中心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60" name="圆角矩形 59"/>
          <p:cNvSpPr/>
          <p:nvPr>
            <p:custDataLst>
              <p:tags r:id="rId37"/>
            </p:custDataLst>
          </p:nvPr>
        </p:nvSpPr>
        <p:spPr bwMode="auto">
          <a:xfrm>
            <a:off x="7440295" y="4079240"/>
            <a:ext cx="2262505" cy="1269365"/>
          </a:xfrm>
          <a:prstGeom prst="roundRect">
            <a:avLst>
              <a:gd name="adj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1" name="矩形 60"/>
          <p:cNvSpPr/>
          <p:nvPr>
            <p:custDataLst>
              <p:tags r:id="rId38"/>
            </p:custDataLst>
          </p:nvPr>
        </p:nvSpPr>
        <p:spPr bwMode="auto">
          <a:xfrm>
            <a:off x="7561580" y="4505325"/>
            <a:ext cx="940435" cy="3079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流程引擎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39"/>
            </p:custDataLst>
          </p:nvPr>
        </p:nvSpPr>
        <p:spPr bwMode="auto">
          <a:xfrm>
            <a:off x="8593455" y="4506595"/>
            <a:ext cx="956310" cy="3079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规则引擎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14" name="矩形 113"/>
          <p:cNvSpPr/>
          <p:nvPr>
            <p:custDataLst>
              <p:tags r:id="rId40"/>
            </p:custDataLst>
          </p:nvPr>
        </p:nvSpPr>
        <p:spPr bwMode="auto">
          <a:xfrm>
            <a:off x="7554595" y="4904105"/>
            <a:ext cx="946785" cy="28130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脚本引擎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41"/>
            </p:custDataLst>
          </p:nvPr>
        </p:nvSpPr>
        <p:spPr bwMode="auto">
          <a:xfrm>
            <a:off x="8591550" y="4889500"/>
            <a:ext cx="956310" cy="28130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报表引擎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42"/>
            </p:custDataLst>
          </p:nvPr>
        </p:nvSpPr>
        <p:spPr bwMode="auto">
          <a:xfrm>
            <a:off x="6221730" y="4518660"/>
            <a:ext cx="1010285" cy="6521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路网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服务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66" name="圆角矩形 65"/>
          <p:cNvSpPr/>
          <p:nvPr>
            <p:custDataLst>
              <p:tags r:id="rId43"/>
            </p:custDataLst>
          </p:nvPr>
        </p:nvSpPr>
        <p:spPr bwMode="auto">
          <a:xfrm>
            <a:off x="9891395" y="1630680"/>
            <a:ext cx="1412240" cy="2043430"/>
          </a:xfrm>
          <a:prstGeom prst="roundRect">
            <a:avLst>
              <a:gd name="adj" fmla="val 0"/>
            </a:avLst>
          </a:prstGeom>
          <a:noFill/>
          <a:ln w="3175" cap="flat" cmpd="sng" algn="ctr">
            <a:solidFill>
              <a:schemeClr val="accent1"/>
            </a:solidFill>
            <a:prstDash val="dash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7" name="圆角矩形 66"/>
          <p:cNvSpPr/>
          <p:nvPr>
            <p:custDataLst>
              <p:tags r:id="rId44"/>
            </p:custDataLst>
          </p:nvPr>
        </p:nvSpPr>
        <p:spPr bwMode="auto">
          <a:xfrm>
            <a:off x="9891395" y="3736340"/>
            <a:ext cx="1412240" cy="2452370"/>
          </a:xfrm>
          <a:prstGeom prst="roundRect">
            <a:avLst>
              <a:gd name="adj" fmla="val 0"/>
            </a:avLst>
          </a:prstGeom>
          <a:noFill/>
          <a:ln w="3175" cap="flat" cmpd="sng" algn="ctr">
            <a:solidFill>
              <a:schemeClr val="accent1"/>
            </a:solidFill>
            <a:prstDash val="dash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>
            <p:custDataLst>
              <p:tags r:id="rId45"/>
            </p:custDataLst>
          </p:nvPr>
        </p:nvSpPr>
        <p:spPr bwMode="auto">
          <a:xfrm>
            <a:off x="9944735" y="4448810"/>
            <a:ext cx="1285875" cy="296545"/>
          </a:xfrm>
          <a:prstGeom prst="rect">
            <a:avLst/>
          </a:prstGeom>
          <a:solidFill>
            <a:srgbClr val="CAFCE5"/>
          </a:solidFill>
          <a:ln w="9525" cap="flat" cmpd="sng" algn="ctr">
            <a:solidFill>
              <a:srgbClr val="D9D9D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行云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内置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71" name="文本框 70"/>
          <p:cNvSpPr txBox="1"/>
          <p:nvPr>
            <p:custDataLst>
              <p:tags r:id="rId46"/>
            </p:custDataLst>
          </p:nvPr>
        </p:nvSpPr>
        <p:spPr>
          <a:xfrm>
            <a:off x="10030460" y="1676400"/>
            <a:ext cx="1075055" cy="28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900" b="1" dirty="0"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  <a:sym typeface="+mn-ea"/>
              </a:rPr>
              <a:t>CI / CD</a:t>
            </a:r>
            <a:endParaRPr lang="en-US" altLang="zh-CN" sz="900" b="1" dirty="0">
              <a:latin typeface="Arial Rounded MT Bold" panose="020F0704030504030204" pitchFamily="34" charset="0"/>
              <a:ea typeface="Arial Unicode MS" panose="020B0604020202020204" pitchFamily="34" charset="-128"/>
              <a:cs typeface="Arial Unicode MS" panose="020B0604020202020204" pitchFamily="34" charset="-128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7"/>
            </p:custDataLst>
          </p:nvPr>
        </p:nvSpPr>
        <p:spPr>
          <a:xfrm>
            <a:off x="10030460" y="3814445"/>
            <a:ext cx="1075055" cy="28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日志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监控</a:t>
            </a:r>
            <a:endParaRPr lang="zh-CN" altLang="en-US" sz="9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46" name="直接连接符 145"/>
          <p:cNvCxnSpPr/>
          <p:nvPr>
            <p:custDataLst>
              <p:tags r:id="rId48"/>
            </p:custDataLst>
          </p:nvPr>
        </p:nvCxnSpPr>
        <p:spPr>
          <a:xfrm>
            <a:off x="4280535" y="1506220"/>
            <a:ext cx="1212215" cy="0"/>
          </a:xfrm>
          <a:prstGeom prst="line">
            <a:avLst/>
          </a:prstGeom>
          <a:ln w="38100">
            <a:solidFill>
              <a:srgbClr val="62F0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组合 146"/>
          <p:cNvGrpSpPr/>
          <p:nvPr/>
        </p:nvGrpSpPr>
        <p:grpSpPr>
          <a:xfrm rot="0">
            <a:off x="682625" y="1118870"/>
            <a:ext cx="1933575" cy="5189220"/>
            <a:chOff x="985" y="1377"/>
            <a:chExt cx="3045" cy="4383"/>
          </a:xfrm>
        </p:grpSpPr>
        <p:sp>
          <p:nvSpPr>
            <p:cNvPr id="148" name="圆角矩形 147"/>
            <p:cNvSpPr/>
            <p:nvPr>
              <p:custDataLst>
                <p:tags r:id="rId49"/>
              </p:custDataLst>
            </p:nvPr>
          </p:nvSpPr>
          <p:spPr bwMode="auto">
            <a:xfrm>
              <a:off x="985" y="1377"/>
              <a:ext cx="3045" cy="4383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  <a:alpha val="23000"/>
              </a:schemeClr>
            </a:solidFill>
            <a:ln w="19050" cap="flat" cmpd="sng" algn="ctr">
              <a:solidFill>
                <a:srgbClr val="5307B2"/>
              </a:solidFill>
              <a:prstDash val="solid"/>
              <a:miter lim="800000"/>
            </a:ln>
            <a:effectLst>
              <a:outerShdw blurRad="279400" dist="76200" dir="2700000" sx="1000" sy="1000" algn="tl" rotWithShape="0">
                <a:prstClr val="black">
                  <a:alpha val="28000"/>
                </a:prstClr>
              </a:outerShdw>
            </a:effectLst>
          </p:spPr>
          <p:txBody>
            <a:bodyPr lIns="68589" tIns="34295" rIns="68589" bIns="34295" rtlCol="0" anchor="ctr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 lang="zh-CN" altLang="en-US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9" name="文本框 148"/>
            <p:cNvSpPr txBox="1"/>
            <p:nvPr>
              <p:custDataLst>
                <p:tags r:id="rId50"/>
              </p:custDataLst>
            </p:nvPr>
          </p:nvSpPr>
          <p:spPr bwMode="auto">
            <a:xfrm>
              <a:off x="1216" y="1570"/>
              <a:ext cx="2587" cy="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2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lIns="91440" tIns="45720" rIns="91440" bIns="45720" rtlCol="0" anchor="t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200" b="1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 </a:t>
              </a:r>
              <a:r>
                <a:rPr lang="zh-CN" altLang="en-US" sz="1200" b="1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远端物联网</a:t>
              </a:r>
              <a:r>
                <a:rPr lang="zh-CN" altLang="en-US" sz="1200" b="1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服务</a:t>
              </a:r>
              <a:endParaRPr lang="zh-CN" altLang="en-US" sz="1200" b="1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endParaRPr>
            </a:p>
          </p:txBody>
        </p:sp>
        <p:cxnSp>
          <p:nvCxnSpPr>
            <p:cNvPr id="159" name="直接连接符 158"/>
            <p:cNvCxnSpPr/>
            <p:nvPr>
              <p:custDataLst>
                <p:tags r:id="rId51"/>
              </p:custDataLst>
            </p:nvPr>
          </p:nvCxnSpPr>
          <p:spPr>
            <a:xfrm>
              <a:off x="1583" y="1844"/>
              <a:ext cx="1909" cy="0"/>
            </a:xfrm>
            <a:prstGeom prst="line">
              <a:avLst/>
            </a:prstGeom>
            <a:ln w="38100">
              <a:solidFill>
                <a:srgbClr val="62F0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直接连接符 159"/>
          <p:cNvCxnSpPr/>
          <p:nvPr>
            <p:custDataLst>
              <p:tags r:id="rId52"/>
            </p:custDataLst>
          </p:nvPr>
        </p:nvCxnSpPr>
        <p:spPr>
          <a:xfrm>
            <a:off x="5798820" y="4188460"/>
            <a:ext cx="1270" cy="198120"/>
          </a:xfrm>
          <a:prstGeom prst="line">
            <a:avLst/>
          </a:prstGeom>
          <a:ln w="57150">
            <a:solidFill>
              <a:srgbClr val="03CD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>
            <p:custDataLst>
              <p:tags r:id="rId53"/>
            </p:custDataLst>
          </p:nvPr>
        </p:nvCxnSpPr>
        <p:spPr>
          <a:xfrm>
            <a:off x="3296285" y="4191000"/>
            <a:ext cx="1270" cy="198120"/>
          </a:xfrm>
          <a:prstGeom prst="line">
            <a:avLst/>
          </a:prstGeom>
          <a:ln w="57150">
            <a:solidFill>
              <a:srgbClr val="03CD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圆角矩形 166"/>
          <p:cNvSpPr/>
          <p:nvPr>
            <p:custDataLst>
              <p:tags r:id="rId54"/>
            </p:custDataLst>
          </p:nvPr>
        </p:nvSpPr>
        <p:spPr bwMode="auto">
          <a:xfrm>
            <a:off x="7101840" y="1118870"/>
            <a:ext cx="2600325" cy="278257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  <a:alpha val="23000"/>
            </a:schemeClr>
          </a:solidFill>
          <a:ln w="19050" cap="flat" cmpd="sng" algn="ctr">
            <a:solidFill>
              <a:srgbClr val="5307B2"/>
            </a:solidFill>
            <a:prstDash val="solid"/>
            <a:miter lim="800000"/>
          </a:ln>
          <a:effectLst>
            <a:outerShdw blurRad="279400" dist="76200" dir="2700000" sx="1000" sy="1000" algn="tl" rotWithShape="0">
              <a:prstClr val="black">
                <a:alpha val="2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lIns="68589" tIns="34295" rIns="68589" bIns="34295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ker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8" name="文本框 167"/>
          <p:cNvSpPr txBox="1"/>
          <p:nvPr>
            <p:custDataLst>
              <p:tags r:id="rId55"/>
            </p:custDataLst>
          </p:nvPr>
        </p:nvSpPr>
        <p:spPr bwMode="auto">
          <a:xfrm>
            <a:off x="7553960" y="1263015"/>
            <a:ext cx="1720850" cy="32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91440" tIns="45720" rIns="91440" bIns="45720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</a:t>
            </a:r>
            <a:r>
              <a:rPr lang="zh-CN" altLang="en-US" sz="1200" b="1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数据</a:t>
            </a:r>
            <a:r>
              <a:rPr lang="zh-CN" altLang="en-US" sz="1200" b="1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服务</a:t>
            </a:r>
            <a:endParaRPr lang="zh-CN" altLang="en-US" sz="1200" b="1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170" name="矩形 169"/>
          <p:cNvSpPr/>
          <p:nvPr>
            <p:custDataLst>
              <p:tags r:id="rId56"/>
            </p:custDataLst>
          </p:nvPr>
        </p:nvSpPr>
        <p:spPr bwMode="auto">
          <a:xfrm>
            <a:off x="7206615" y="1883410"/>
            <a:ext cx="1163320" cy="382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自定义大屏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/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看板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71" name="矩形 170"/>
          <p:cNvSpPr/>
          <p:nvPr>
            <p:custDataLst>
              <p:tags r:id="rId57"/>
            </p:custDataLst>
          </p:nvPr>
        </p:nvSpPr>
        <p:spPr bwMode="auto">
          <a:xfrm>
            <a:off x="8449945" y="1885950"/>
            <a:ext cx="1159510" cy="382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自定义报表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73" name="矩形 172"/>
          <p:cNvSpPr/>
          <p:nvPr>
            <p:custDataLst>
              <p:tags r:id="rId58"/>
            </p:custDataLst>
          </p:nvPr>
        </p:nvSpPr>
        <p:spPr bwMode="auto">
          <a:xfrm>
            <a:off x="8453755" y="2407920"/>
            <a:ext cx="1159510" cy="382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数据模型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76" name="矩形 175"/>
          <p:cNvSpPr/>
          <p:nvPr>
            <p:custDataLst>
              <p:tags r:id="rId59"/>
            </p:custDataLst>
          </p:nvPr>
        </p:nvSpPr>
        <p:spPr bwMode="auto">
          <a:xfrm>
            <a:off x="7205345" y="2407920"/>
            <a:ext cx="1164590" cy="382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模版管理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80" name="矩形 179"/>
          <p:cNvSpPr/>
          <p:nvPr>
            <p:custDataLst>
              <p:tags r:id="rId60"/>
            </p:custDataLst>
          </p:nvPr>
        </p:nvSpPr>
        <p:spPr bwMode="auto">
          <a:xfrm>
            <a:off x="8451850" y="2973070"/>
            <a:ext cx="1159510" cy="382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实时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/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定时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分析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88" name="矩形 187"/>
          <p:cNvSpPr/>
          <p:nvPr>
            <p:custDataLst>
              <p:tags r:id="rId61"/>
            </p:custDataLst>
          </p:nvPr>
        </p:nvSpPr>
        <p:spPr bwMode="auto">
          <a:xfrm>
            <a:off x="7205345" y="2967990"/>
            <a:ext cx="1158875" cy="382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接口</a:t>
            </a:r>
            <a:r>
              <a: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管理</a:t>
            </a:r>
            <a:endParaRPr lang="en-US" altLang="zh-CN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cxnSp>
        <p:nvCxnSpPr>
          <p:cNvPr id="190" name="直接连接符 189"/>
          <p:cNvCxnSpPr/>
          <p:nvPr>
            <p:custDataLst>
              <p:tags r:id="rId62"/>
            </p:custDataLst>
          </p:nvPr>
        </p:nvCxnSpPr>
        <p:spPr>
          <a:xfrm>
            <a:off x="8320405" y="4188460"/>
            <a:ext cx="1270" cy="198120"/>
          </a:xfrm>
          <a:prstGeom prst="line">
            <a:avLst/>
          </a:prstGeom>
          <a:ln w="57150">
            <a:solidFill>
              <a:srgbClr val="03CD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>
            <p:custDataLst>
              <p:tags r:id="rId63"/>
            </p:custDataLst>
          </p:nvPr>
        </p:nvCxnSpPr>
        <p:spPr>
          <a:xfrm>
            <a:off x="7843520" y="1551940"/>
            <a:ext cx="1212215" cy="0"/>
          </a:xfrm>
          <a:prstGeom prst="line">
            <a:avLst/>
          </a:prstGeom>
          <a:ln w="38100">
            <a:solidFill>
              <a:srgbClr val="62F0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64"/>
            </p:custDataLst>
          </p:nvPr>
        </p:nvSpPr>
        <p:spPr bwMode="auto">
          <a:xfrm>
            <a:off x="829945" y="1962150"/>
            <a:ext cx="1642110" cy="663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14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中交兴路</a:t>
            </a:r>
            <a:endParaRPr lang="zh-CN" altLang="en-US" sz="1000" b="1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物联网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5"/>
            </p:custDataLst>
          </p:nvPr>
        </p:nvSpPr>
        <p:spPr bwMode="auto">
          <a:xfrm>
            <a:off x="829945" y="2745105"/>
            <a:ext cx="1642110" cy="34436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D8CFF4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G7</a:t>
            </a:r>
            <a:r>
              <a:rPr lang="zh-CN" altLang="en-US" sz="14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易流</a:t>
            </a:r>
            <a:endParaRPr lang="en-US" altLang="zh-CN" sz="1400" b="1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物联网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 eaLnBrk="0" hangingPunct="0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6"/>
            </p:custDataLst>
          </p:nvPr>
        </p:nvSpPr>
        <p:spPr bwMode="auto">
          <a:xfrm>
            <a:off x="939800" y="3783965"/>
            <a:ext cx="1423035" cy="4070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通信网关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7"/>
            </p:custDataLst>
          </p:nvPr>
        </p:nvSpPr>
        <p:spPr bwMode="auto">
          <a:xfrm>
            <a:off x="939800" y="4442460"/>
            <a:ext cx="1423035" cy="4070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数据总线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68"/>
            </p:custDataLst>
          </p:nvPr>
        </p:nvSpPr>
        <p:spPr bwMode="auto">
          <a:xfrm>
            <a:off x="939800" y="5109210"/>
            <a:ext cx="1423035" cy="4070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p>
            <a:pPr lvl="0" algn="ctr" eaLnBrk="0" hangingPunct="0">
              <a:buClrTx/>
              <a:buSzTx/>
              <a:buFontTx/>
            </a:pP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实时</a:t>
            </a:r>
            <a:r>
              <a:rPr lang="zh-CN" altLang="en-US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分析</a:t>
            </a:r>
            <a:endParaRPr lang="zh-CN" altLang="en-US" sz="1000" dirty="0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技术架构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技术架构视图（项目）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898525" y="1604645"/>
            <a:ext cx="864870" cy="448564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pic>
        <p:nvPicPr>
          <p:cNvPr id="28" name="图片 27" descr="手机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87755" y="1891665"/>
            <a:ext cx="508000" cy="5461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1062355" y="2536825"/>
            <a:ext cx="643890" cy="251460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b="1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移动设备</a:t>
            </a:r>
            <a:endParaRPr lang="zh-CN" altLang="en-US" sz="1000" b="1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0" name="图片 29" descr="F:\S-矢量库图标\电脑.png电脑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114425" y="3463925"/>
            <a:ext cx="481330" cy="47561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047115" y="4054475"/>
            <a:ext cx="643890" cy="251460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1000" b="1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PC</a:t>
            </a:r>
            <a:endParaRPr lang="en-US" altLang="zh-CN" sz="1000" b="1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2" name="图片 31" descr="F:\S-矢量库图标\外部系统接口管理.png外部系统接口管理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1087755" y="4866005"/>
            <a:ext cx="451485" cy="55499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1047115" y="5594350"/>
            <a:ext cx="643890" cy="251460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b="1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外部系统</a:t>
            </a:r>
            <a:endParaRPr lang="zh-CN" altLang="en-US" sz="1000" b="1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1"/>
            </p:custDataLst>
          </p:nvPr>
        </p:nvCxnSpPr>
        <p:spPr>
          <a:xfrm flipH="1">
            <a:off x="1978025" y="1440815"/>
            <a:ext cx="0" cy="5178425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矩形 34"/>
          <p:cNvSpPr/>
          <p:nvPr>
            <p:custDataLst>
              <p:tags r:id="rId12"/>
            </p:custDataLst>
          </p:nvPr>
        </p:nvSpPr>
        <p:spPr>
          <a:xfrm>
            <a:off x="901065" y="6266815"/>
            <a:ext cx="861060" cy="319405"/>
          </a:xfrm>
          <a:prstGeom prst="rect">
            <a:avLst/>
          </a:prstGeom>
          <a:solidFill>
            <a:srgbClr val="D9D9D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访问层</a:t>
            </a:r>
            <a:endParaRPr lang="zh-CN" altLang="en-US" sz="1200" b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6" name="矩形 35"/>
          <p:cNvSpPr/>
          <p:nvPr>
            <p:custDataLst>
              <p:tags r:id="rId13"/>
            </p:custDataLst>
          </p:nvPr>
        </p:nvSpPr>
        <p:spPr>
          <a:xfrm>
            <a:off x="2176780" y="1938020"/>
            <a:ext cx="784225" cy="3580130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kern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4"/>
            </p:custDataLst>
          </p:nvPr>
        </p:nvCxnSpPr>
        <p:spPr>
          <a:xfrm flipH="1">
            <a:off x="3159125" y="1440815"/>
            <a:ext cx="0" cy="5178425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>
            <p:custDataLst>
              <p:tags r:id="rId15"/>
            </p:custDataLst>
          </p:nvPr>
        </p:nvSpPr>
        <p:spPr>
          <a:xfrm>
            <a:off x="3291840" y="3524885"/>
            <a:ext cx="1615440" cy="2047240"/>
          </a:xfrm>
          <a:prstGeom prst="roundRect">
            <a:avLst>
              <a:gd name="adj" fmla="val 1845"/>
            </a:avLst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>
            <p:custDataLst>
              <p:tags r:id="rId16"/>
            </p:custDataLst>
          </p:nvPr>
        </p:nvSpPr>
        <p:spPr>
          <a:xfrm>
            <a:off x="3378200" y="3789680"/>
            <a:ext cx="777875" cy="1231265"/>
          </a:xfrm>
          <a:prstGeom prst="rect">
            <a:avLst/>
          </a:prstGeom>
          <a:solidFill>
            <a:schemeClr val="accent6">
              <a:lumMod val="90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chemeClr val="tx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Gateway</a:t>
            </a:r>
            <a:endParaRPr lang="en-US" altLang="zh-CN" sz="1200" b="1" dirty="0">
              <a:solidFill>
                <a:schemeClr val="tx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49" name="矩形 48"/>
          <p:cNvSpPr/>
          <p:nvPr>
            <p:custDataLst>
              <p:tags r:id="rId17"/>
            </p:custDataLst>
          </p:nvPr>
        </p:nvSpPr>
        <p:spPr>
          <a:xfrm>
            <a:off x="4164965" y="3799205"/>
            <a:ext cx="669290" cy="309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鉴权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1" name="矩形 50"/>
          <p:cNvSpPr/>
          <p:nvPr>
            <p:custDataLst>
              <p:tags r:id="rId18"/>
            </p:custDataLst>
          </p:nvPr>
        </p:nvSpPr>
        <p:spPr>
          <a:xfrm>
            <a:off x="4164965" y="4248150"/>
            <a:ext cx="669290" cy="2895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限流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77" name="矩形 76"/>
          <p:cNvSpPr/>
          <p:nvPr>
            <p:custDataLst>
              <p:tags r:id="rId19"/>
            </p:custDataLst>
          </p:nvPr>
        </p:nvSpPr>
        <p:spPr>
          <a:xfrm>
            <a:off x="4165600" y="4702175"/>
            <a:ext cx="659765" cy="30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路由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20"/>
            </p:custDataLst>
          </p:nvPr>
        </p:nvSpPr>
        <p:spPr>
          <a:xfrm>
            <a:off x="3378200" y="5161915"/>
            <a:ext cx="1393825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b="1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服务网关</a:t>
            </a:r>
            <a:endParaRPr lang="zh-CN" altLang="en-US" sz="1000" b="1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79" name="直接连接符 78"/>
          <p:cNvCxnSpPr/>
          <p:nvPr>
            <p:custDataLst>
              <p:tags r:id="rId21"/>
            </p:custDataLst>
          </p:nvPr>
        </p:nvCxnSpPr>
        <p:spPr>
          <a:xfrm flipH="1">
            <a:off x="5039995" y="1440815"/>
            <a:ext cx="0" cy="5178425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圆角矩形 79"/>
          <p:cNvSpPr/>
          <p:nvPr>
            <p:custDataLst>
              <p:tags r:id="rId22"/>
            </p:custDataLst>
          </p:nvPr>
        </p:nvSpPr>
        <p:spPr>
          <a:xfrm>
            <a:off x="5849620" y="1414145"/>
            <a:ext cx="1964055" cy="1169670"/>
          </a:xfrm>
          <a:prstGeom prst="roundRect">
            <a:avLst>
              <a:gd name="adj" fmla="val 666"/>
            </a:avLst>
          </a:prstGeom>
          <a:noFill/>
          <a:ln w="9525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23"/>
            </p:custDataLst>
          </p:nvPr>
        </p:nvSpPr>
        <p:spPr>
          <a:xfrm>
            <a:off x="5356860" y="951865"/>
            <a:ext cx="986790" cy="368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健康检查</a:t>
            </a:r>
            <a:b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</a:b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Actuator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82" name="矩形 81"/>
          <p:cNvSpPr/>
          <p:nvPr>
            <p:custDataLst>
              <p:tags r:id="rId24"/>
            </p:custDataLst>
          </p:nvPr>
        </p:nvSpPr>
        <p:spPr>
          <a:xfrm>
            <a:off x="6440805" y="951865"/>
            <a:ext cx="986790" cy="3644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指标监控</a:t>
            </a:r>
            <a:b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</a:b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Mertics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83" name="矩形 82"/>
          <p:cNvSpPr/>
          <p:nvPr>
            <p:custDataLst>
              <p:tags r:id="rId25"/>
            </p:custDataLst>
          </p:nvPr>
        </p:nvSpPr>
        <p:spPr>
          <a:xfrm>
            <a:off x="7524115" y="951230"/>
            <a:ext cx="1108710" cy="370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服务追踪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Sleuth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84" name="矩形 83"/>
          <p:cNvSpPr/>
          <p:nvPr>
            <p:custDataLst>
              <p:tags r:id="rId26"/>
            </p:custDataLst>
          </p:nvPr>
        </p:nvSpPr>
        <p:spPr>
          <a:xfrm>
            <a:off x="8740140" y="951230"/>
            <a:ext cx="986155" cy="370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其它</a:t>
            </a:r>
            <a:b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</a:b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......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cxnSp>
        <p:nvCxnSpPr>
          <p:cNvPr id="85" name="直接连接符 84"/>
          <p:cNvCxnSpPr/>
          <p:nvPr>
            <p:custDataLst>
              <p:tags r:id="rId27"/>
            </p:custDataLst>
          </p:nvPr>
        </p:nvCxnSpPr>
        <p:spPr>
          <a:xfrm flipH="1">
            <a:off x="10014585" y="1440815"/>
            <a:ext cx="0" cy="5178425"/>
          </a:xfrm>
          <a:prstGeom prst="line">
            <a:avLst/>
          </a:prstGeom>
          <a:ln w="12700" cmpd="sng">
            <a:solidFill>
              <a:schemeClr val="accent1"/>
            </a:solidFill>
            <a:prstDash val="dash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>
            <p:custDataLst>
              <p:tags r:id="rId28"/>
            </p:custDataLst>
          </p:nvPr>
        </p:nvSpPr>
        <p:spPr>
          <a:xfrm>
            <a:off x="10109200" y="1770380"/>
            <a:ext cx="1282065" cy="732155"/>
          </a:xfrm>
          <a:prstGeom prst="roundRect">
            <a:avLst>
              <a:gd name="adj" fmla="val 744"/>
            </a:avLst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7" name="圆角矩形 86"/>
          <p:cNvSpPr/>
          <p:nvPr>
            <p:custDataLst>
              <p:tags r:id="rId29"/>
            </p:custDataLst>
          </p:nvPr>
        </p:nvSpPr>
        <p:spPr>
          <a:xfrm>
            <a:off x="10109200" y="2712720"/>
            <a:ext cx="1282065" cy="732155"/>
          </a:xfrm>
          <a:prstGeom prst="roundRect">
            <a:avLst>
              <a:gd name="adj" fmla="val 0"/>
            </a:avLst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8" name="圆角矩形 87"/>
          <p:cNvSpPr/>
          <p:nvPr>
            <p:custDataLst>
              <p:tags r:id="rId30"/>
            </p:custDataLst>
          </p:nvPr>
        </p:nvSpPr>
        <p:spPr>
          <a:xfrm>
            <a:off x="10109200" y="3562350"/>
            <a:ext cx="1282065" cy="732155"/>
          </a:xfrm>
          <a:prstGeom prst="roundRect">
            <a:avLst>
              <a:gd name="adj" fmla="val 744"/>
            </a:avLst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31"/>
            </p:custDataLst>
          </p:nvPr>
        </p:nvSpPr>
        <p:spPr>
          <a:xfrm>
            <a:off x="10109200" y="4460240"/>
            <a:ext cx="1282065" cy="732155"/>
          </a:xfrm>
          <a:prstGeom prst="roundRect">
            <a:avLst>
              <a:gd name="adj" fmla="val 0"/>
            </a:avLst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0" name="圆角矩形 89"/>
          <p:cNvSpPr/>
          <p:nvPr>
            <p:custDataLst>
              <p:tags r:id="rId32"/>
            </p:custDataLst>
          </p:nvPr>
        </p:nvSpPr>
        <p:spPr>
          <a:xfrm>
            <a:off x="10109200" y="5371465"/>
            <a:ext cx="1282065" cy="732155"/>
          </a:xfrm>
          <a:prstGeom prst="roundRect">
            <a:avLst>
              <a:gd name="adj" fmla="val 0"/>
            </a:avLst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0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1" name="矩形 90"/>
          <p:cNvSpPr/>
          <p:nvPr>
            <p:custDataLst>
              <p:tags r:id="rId33"/>
            </p:custDataLst>
          </p:nvPr>
        </p:nvSpPr>
        <p:spPr>
          <a:xfrm>
            <a:off x="2028825" y="6266815"/>
            <a:ext cx="1087755" cy="319405"/>
          </a:xfrm>
          <a:prstGeom prst="rect">
            <a:avLst/>
          </a:prstGeom>
          <a:solidFill>
            <a:srgbClr val="D9D9D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负载及转发</a:t>
            </a:r>
            <a:endParaRPr lang="zh-CN" altLang="en-US" sz="1200" b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2" name="矩形 91"/>
          <p:cNvSpPr/>
          <p:nvPr>
            <p:custDataLst>
              <p:tags r:id="rId34"/>
            </p:custDataLst>
          </p:nvPr>
        </p:nvSpPr>
        <p:spPr>
          <a:xfrm>
            <a:off x="3615055" y="6266815"/>
            <a:ext cx="968375" cy="319405"/>
          </a:xfrm>
          <a:prstGeom prst="rect">
            <a:avLst/>
          </a:prstGeom>
          <a:solidFill>
            <a:srgbClr val="D9D9D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网关层</a:t>
            </a:r>
            <a:endParaRPr lang="zh-CN" altLang="en-US" sz="1200" b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3" name="矩形 92"/>
          <p:cNvSpPr/>
          <p:nvPr>
            <p:custDataLst>
              <p:tags r:id="rId35"/>
            </p:custDataLst>
          </p:nvPr>
        </p:nvSpPr>
        <p:spPr>
          <a:xfrm>
            <a:off x="6788785" y="6266815"/>
            <a:ext cx="1158240" cy="319405"/>
          </a:xfrm>
          <a:prstGeom prst="rect">
            <a:avLst/>
          </a:prstGeom>
          <a:solidFill>
            <a:srgbClr val="D9D9D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应用服务层</a:t>
            </a:r>
            <a:endParaRPr lang="zh-CN" altLang="en-US" sz="1200" b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4" name="矩形 93"/>
          <p:cNvSpPr/>
          <p:nvPr>
            <p:custDataLst>
              <p:tags r:id="rId36"/>
            </p:custDataLst>
          </p:nvPr>
        </p:nvSpPr>
        <p:spPr>
          <a:xfrm>
            <a:off x="10284460" y="6266180"/>
            <a:ext cx="968375" cy="320040"/>
          </a:xfrm>
          <a:prstGeom prst="rect">
            <a:avLst/>
          </a:prstGeom>
          <a:solidFill>
            <a:srgbClr val="D9D9D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数据层</a:t>
            </a:r>
            <a:endParaRPr lang="zh-CN" altLang="en-US" sz="1200" b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5" name="矩形 94"/>
          <p:cNvSpPr/>
          <p:nvPr>
            <p:custDataLst>
              <p:tags r:id="rId37"/>
            </p:custDataLst>
          </p:nvPr>
        </p:nvSpPr>
        <p:spPr>
          <a:xfrm>
            <a:off x="5339715" y="5274310"/>
            <a:ext cx="4227195" cy="8959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>
            <p:custDataLst>
              <p:tags r:id="rId38"/>
            </p:custDataLst>
          </p:nvPr>
        </p:nvSpPr>
        <p:spPr>
          <a:xfrm>
            <a:off x="5401945" y="5594350"/>
            <a:ext cx="838200" cy="245745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基础数据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7" name="矩形 96"/>
          <p:cNvSpPr/>
          <p:nvPr>
            <p:custDataLst>
              <p:tags r:id="rId39"/>
            </p:custDataLst>
          </p:nvPr>
        </p:nvSpPr>
        <p:spPr>
          <a:xfrm>
            <a:off x="6491605" y="5594350"/>
            <a:ext cx="805180" cy="245745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IoT数据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8" name="矩形 97"/>
          <p:cNvSpPr/>
          <p:nvPr>
            <p:custDataLst>
              <p:tags r:id="rId40"/>
            </p:custDataLst>
          </p:nvPr>
        </p:nvSpPr>
        <p:spPr>
          <a:xfrm>
            <a:off x="7569200" y="5594350"/>
            <a:ext cx="820420" cy="245745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业务数据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99" name="矩形 98"/>
          <p:cNvSpPr/>
          <p:nvPr>
            <p:custDataLst>
              <p:tags r:id="rId41"/>
            </p:custDataLst>
          </p:nvPr>
        </p:nvSpPr>
        <p:spPr>
          <a:xfrm>
            <a:off x="5339715" y="3562985"/>
            <a:ext cx="4227195" cy="1369695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矩形 99"/>
          <p:cNvSpPr/>
          <p:nvPr>
            <p:custDataLst>
              <p:tags r:id="rId42"/>
            </p:custDataLst>
          </p:nvPr>
        </p:nvSpPr>
        <p:spPr>
          <a:xfrm>
            <a:off x="6491605" y="1461770"/>
            <a:ext cx="68072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chemeClr val="tx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Eureka A</a:t>
            </a:r>
            <a:endParaRPr lang="en-US" altLang="zh-CN" sz="1000" b="1" dirty="0">
              <a:solidFill>
                <a:schemeClr val="tx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102" name="矩形 101"/>
          <p:cNvSpPr/>
          <p:nvPr>
            <p:custDataLst>
              <p:tags r:id="rId43"/>
            </p:custDataLst>
          </p:nvPr>
        </p:nvSpPr>
        <p:spPr>
          <a:xfrm>
            <a:off x="5900420" y="1938020"/>
            <a:ext cx="680720" cy="3746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Eureka B</a:t>
            </a:r>
            <a:endParaRPr lang="en-US" altLang="zh-CN" sz="1000" b="1" dirty="0">
              <a:solidFill>
                <a:schemeClr val="tx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03" name="矩形 102"/>
          <p:cNvSpPr/>
          <p:nvPr>
            <p:custDataLst>
              <p:tags r:id="rId44"/>
            </p:custDataLst>
          </p:nvPr>
        </p:nvSpPr>
        <p:spPr>
          <a:xfrm>
            <a:off x="7064375" y="1942465"/>
            <a:ext cx="680720" cy="37020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 dirty="0">
                <a:solidFill>
                  <a:schemeClr val="tx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sym typeface="+mn-ea"/>
              </a:rPr>
              <a:t>Euireka C</a:t>
            </a:r>
            <a:endParaRPr lang="en-US" altLang="zh-CN" sz="1000" b="1" dirty="0">
              <a:solidFill>
                <a:schemeClr val="tx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+mn-ea"/>
            </a:endParaRPr>
          </a:p>
        </p:txBody>
      </p:sp>
      <p:sp>
        <p:nvSpPr>
          <p:cNvPr id="104" name="文本框 103"/>
          <p:cNvSpPr txBox="1"/>
          <p:nvPr>
            <p:custDataLst>
              <p:tags r:id="rId45"/>
            </p:custDataLst>
          </p:nvPr>
        </p:nvSpPr>
        <p:spPr>
          <a:xfrm>
            <a:off x="5965825" y="2338070"/>
            <a:ext cx="1717675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Light" panose="020B0300000000000000" pitchFamily="34" charset="-122"/>
              </a:rPr>
              <a:t>服务注册中心</a:t>
            </a:r>
            <a:r>
              <a:rPr lang="en-US" altLang="zh-CN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  <a:cs typeface="思源黑体 CN Light" panose="020B0300000000000000" pitchFamily="34" charset="-122"/>
              </a:rPr>
              <a:t>(HA)</a:t>
            </a:r>
            <a:endParaRPr lang="en-US" altLang="zh-CN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  <a:cs typeface="思源黑体 CN Light" panose="020B0300000000000000" pitchFamily="3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46"/>
            </p:custDataLst>
          </p:nvPr>
        </p:nvSpPr>
        <p:spPr>
          <a:xfrm>
            <a:off x="7974965" y="2112645"/>
            <a:ext cx="879475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配置中心</a:t>
            </a:r>
            <a:endParaRPr lang="zh-CN" altLang="en-US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06" name="矩形 105"/>
          <p:cNvSpPr/>
          <p:nvPr>
            <p:custDataLst>
              <p:tags r:id="rId47"/>
            </p:custDataLst>
          </p:nvPr>
        </p:nvSpPr>
        <p:spPr>
          <a:xfrm>
            <a:off x="3573145" y="2342515"/>
            <a:ext cx="968375" cy="3117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Swagger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07" name="肘形连接符 106"/>
          <p:cNvCxnSpPr>
            <a:endCxn id="106" idx="3"/>
          </p:cNvCxnSpPr>
          <p:nvPr>
            <p:custDataLst>
              <p:tags r:id="rId48"/>
            </p:custDataLst>
          </p:nvPr>
        </p:nvCxnSpPr>
        <p:spPr>
          <a:xfrm rot="16200000" flipV="1">
            <a:off x="4536440" y="2503805"/>
            <a:ext cx="1046480" cy="1036320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endCxn id="99" idx="1"/>
          </p:cNvCxnSpPr>
          <p:nvPr>
            <p:custDataLst>
              <p:tags r:id="rId49"/>
            </p:custDataLst>
          </p:nvPr>
        </p:nvCxnSpPr>
        <p:spPr>
          <a:xfrm flipV="1">
            <a:off x="4889500" y="4248150"/>
            <a:ext cx="450215" cy="5080"/>
          </a:xfrm>
          <a:prstGeom prst="bentConnector3">
            <a:avLst>
              <a:gd name="adj1" fmla="val 50071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>
            <p:custDataLst>
              <p:tags r:id="rId50"/>
            </p:custDataLst>
          </p:nvPr>
        </p:nvSpPr>
        <p:spPr>
          <a:xfrm>
            <a:off x="6720205" y="3725545"/>
            <a:ext cx="870585" cy="269875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Service 1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11" name="矩形 110"/>
          <p:cNvSpPr/>
          <p:nvPr>
            <p:custDataLst>
              <p:tags r:id="rId51"/>
            </p:custDataLst>
          </p:nvPr>
        </p:nvSpPr>
        <p:spPr>
          <a:xfrm>
            <a:off x="6720205" y="4114165"/>
            <a:ext cx="871220" cy="295910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Service 2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13" name="矩形 112"/>
          <p:cNvSpPr/>
          <p:nvPr>
            <p:custDataLst>
              <p:tags r:id="rId52"/>
            </p:custDataLst>
          </p:nvPr>
        </p:nvSpPr>
        <p:spPr>
          <a:xfrm>
            <a:off x="6720205" y="4522470"/>
            <a:ext cx="871220" cy="246380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Service 3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15" name="圆角矩形 114"/>
          <p:cNvSpPr/>
          <p:nvPr>
            <p:custDataLst>
              <p:tags r:id="rId53"/>
            </p:custDataLst>
          </p:nvPr>
        </p:nvSpPr>
        <p:spPr>
          <a:xfrm>
            <a:off x="5399405" y="3681095"/>
            <a:ext cx="1181735" cy="1087120"/>
          </a:xfrm>
          <a:prstGeom prst="roundRect">
            <a:avLst>
              <a:gd name="adj" fmla="val 5861"/>
            </a:avLst>
          </a:prstGeom>
          <a:noFill/>
          <a:ln w="9525">
            <a:solidFill>
              <a:schemeClr val="tx2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6" name="矩形 115"/>
          <p:cNvSpPr/>
          <p:nvPr>
            <p:custDataLst>
              <p:tags r:id="rId54"/>
            </p:custDataLst>
          </p:nvPr>
        </p:nvSpPr>
        <p:spPr>
          <a:xfrm>
            <a:off x="5468620" y="3888105"/>
            <a:ext cx="1046480" cy="268605"/>
          </a:xfrm>
          <a:prstGeom prst="rect">
            <a:avLst/>
          </a:prstGeom>
          <a:solidFill>
            <a:srgbClr val="FF6C6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Feign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17" name="矩形 116"/>
          <p:cNvSpPr/>
          <p:nvPr>
            <p:custDataLst>
              <p:tags r:id="rId55"/>
            </p:custDataLst>
          </p:nvPr>
        </p:nvSpPr>
        <p:spPr>
          <a:xfrm>
            <a:off x="5467985" y="4305935"/>
            <a:ext cx="1047115" cy="268605"/>
          </a:xfrm>
          <a:prstGeom prst="rect">
            <a:avLst/>
          </a:prstGeom>
          <a:solidFill>
            <a:srgbClr val="FF6C6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Loadbalancer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18" name="肘形连接符 117"/>
          <p:cNvCxnSpPr/>
          <p:nvPr>
            <p:custDataLst>
              <p:tags r:id="rId56"/>
            </p:custDataLst>
          </p:nvPr>
        </p:nvCxnSpPr>
        <p:spPr>
          <a:xfrm rot="16200000">
            <a:off x="4791075" y="1378585"/>
            <a:ext cx="927735" cy="3365500"/>
          </a:xfrm>
          <a:prstGeom prst="bentConnector3">
            <a:avLst>
              <a:gd name="adj1" fmla="val 52258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>
            <p:custDataLst>
              <p:tags r:id="rId57"/>
            </p:custDataLst>
          </p:nvPr>
        </p:nvCxnSpPr>
        <p:spPr>
          <a:xfrm>
            <a:off x="1772920" y="3641725"/>
            <a:ext cx="403860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>
            <p:custDataLst>
              <p:tags r:id="rId58"/>
            </p:custDataLst>
          </p:nvPr>
        </p:nvSpPr>
        <p:spPr>
          <a:xfrm>
            <a:off x="1877695" y="3444240"/>
            <a:ext cx="280035" cy="140335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8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请求</a:t>
            </a:r>
            <a:endParaRPr lang="zh-CN" altLang="en-US" sz="8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22" name="肘形连接符 121"/>
          <p:cNvCxnSpPr/>
          <p:nvPr>
            <p:custDataLst>
              <p:tags r:id="rId59"/>
            </p:custDataLst>
          </p:nvPr>
        </p:nvCxnSpPr>
        <p:spPr>
          <a:xfrm rot="5400000">
            <a:off x="4822190" y="1677035"/>
            <a:ext cx="927735" cy="2769235"/>
          </a:xfrm>
          <a:prstGeom prst="bentConnector3">
            <a:avLst>
              <a:gd name="adj1" fmla="val 47707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/>
          <p:cNvSpPr txBox="1"/>
          <p:nvPr>
            <p:custDataLst>
              <p:tags r:id="rId60"/>
            </p:custDataLst>
          </p:nvPr>
        </p:nvSpPr>
        <p:spPr>
          <a:xfrm>
            <a:off x="5849620" y="2852420"/>
            <a:ext cx="864870" cy="20637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获取服务列表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24" name="直接箭头连接符 123"/>
          <p:cNvCxnSpPr/>
          <p:nvPr>
            <p:custDataLst>
              <p:tags r:id="rId61"/>
            </p:custDataLst>
          </p:nvPr>
        </p:nvCxnSpPr>
        <p:spPr>
          <a:xfrm flipV="1">
            <a:off x="2956560" y="4377690"/>
            <a:ext cx="349885" cy="0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>
            <a:stCxn id="100" idx="1"/>
            <a:endCxn id="102" idx="0"/>
          </p:cNvCxnSpPr>
          <p:nvPr>
            <p:custDataLst>
              <p:tags r:id="rId62"/>
            </p:custDataLst>
          </p:nvPr>
        </p:nvCxnSpPr>
        <p:spPr>
          <a:xfrm flipH="1">
            <a:off x="6240145" y="1639570"/>
            <a:ext cx="250825" cy="29845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>
            <a:stCxn id="100" idx="3"/>
            <a:endCxn id="103" idx="0"/>
          </p:cNvCxnSpPr>
          <p:nvPr>
            <p:custDataLst>
              <p:tags r:id="rId63"/>
            </p:custDataLst>
          </p:nvPr>
        </p:nvCxnSpPr>
        <p:spPr>
          <a:xfrm>
            <a:off x="7171690" y="1639570"/>
            <a:ext cx="233045" cy="302895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>
            <a:stCxn id="102" idx="3"/>
            <a:endCxn id="103" idx="1"/>
          </p:cNvCxnSpPr>
          <p:nvPr>
            <p:custDataLst>
              <p:tags r:id="rId64"/>
            </p:custDataLst>
          </p:nvPr>
        </p:nvCxnSpPr>
        <p:spPr>
          <a:xfrm>
            <a:off x="6581140" y="2125345"/>
            <a:ext cx="483870" cy="254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本框 139"/>
          <p:cNvSpPr txBox="1"/>
          <p:nvPr>
            <p:custDataLst>
              <p:tags r:id="rId65"/>
            </p:custDataLst>
          </p:nvPr>
        </p:nvSpPr>
        <p:spPr>
          <a:xfrm>
            <a:off x="7296785" y="1685290"/>
            <a:ext cx="864870" cy="20637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注册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43" name="文本框 142"/>
          <p:cNvSpPr txBox="1"/>
          <p:nvPr>
            <p:custDataLst>
              <p:tags r:id="rId66"/>
            </p:custDataLst>
          </p:nvPr>
        </p:nvSpPr>
        <p:spPr>
          <a:xfrm>
            <a:off x="6100445" y="1685925"/>
            <a:ext cx="864870" cy="20637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注册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44" name="文本框 143"/>
          <p:cNvSpPr txBox="1"/>
          <p:nvPr>
            <p:custDataLst>
              <p:tags r:id="rId67"/>
            </p:custDataLst>
          </p:nvPr>
        </p:nvSpPr>
        <p:spPr>
          <a:xfrm>
            <a:off x="6720205" y="1936750"/>
            <a:ext cx="864870" cy="1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注册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58" name="肘形连接符 157"/>
          <p:cNvCxnSpPr>
            <a:endCxn id="99" idx="0"/>
          </p:cNvCxnSpPr>
          <p:nvPr>
            <p:custDataLst>
              <p:tags r:id="rId68"/>
            </p:custDataLst>
          </p:nvPr>
        </p:nvCxnSpPr>
        <p:spPr>
          <a:xfrm rot="5400000" flipV="1">
            <a:off x="6963410" y="3072765"/>
            <a:ext cx="976630" cy="3175"/>
          </a:xfrm>
          <a:prstGeom prst="bentConnector3">
            <a:avLst>
              <a:gd name="adj1" fmla="val 50033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/>
          <p:cNvSpPr txBox="1"/>
          <p:nvPr>
            <p:custDataLst>
              <p:tags r:id="rId69"/>
            </p:custDataLst>
          </p:nvPr>
        </p:nvSpPr>
        <p:spPr>
          <a:xfrm>
            <a:off x="7488555" y="2941320"/>
            <a:ext cx="864870" cy="20637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服务发现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25" name="直接箭头连接符 124"/>
          <p:cNvCxnSpPr>
            <a:stCxn id="99" idx="2"/>
            <a:endCxn id="95" idx="0"/>
          </p:cNvCxnSpPr>
          <p:nvPr>
            <p:custDataLst>
              <p:tags r:id="rId70"/>
            </p:custDataLst>
          </p:nvPr>
        </p:nvCxnSpPr>
        <p:spPr>
          <a:xfrm>
            <a:off x="7453630" y="4932680"/>
            <a:ext cx="0" cy="34163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>
            <p:custDataLst>
              <p:tags r:id="rId71"/>
            </p:custDataLst>
          </p:nvPr>
        </p:nvSpPr>
        <p:spPr>
          <a:xfrm>
            <a:off x="7524115" y="5019675"/>
            <a:ext cx="864870" cy="20637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数据交互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26" name="直接箭头连接符 125"/>
          <p:cNvCxnSpPr/>
          <p:nvPr>
            <p:custDataLst>
              <p:tags r:id="rId72"/>
            </p:custDataLst>
          </p:nvPr>
        </p:nvCxnSpPr>
        <p:spPr>
          <a:xfrm flipH="1">
            <a:off x="8936355" y="1999615"/>
            <a:ext cx="6985" cy="1562100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/>
          <p:cNvSpPr txBox="1"/>
          <p:nvPr>
            <p:custDataLst>
              <p:tags r:id="rId73"/>
            </p:custDataLst>
          </p:nvPr>
        </p:nvSpPr>
        <p:spPr>
          <a:xfrm>
            <a:off x="9013825" y="2852420"/>
            <a:ext cx="864870" cy="20637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获取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配置内容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74"/>
            </p:custDataLst>
          </p:nvPr>
        </p:nvSpPr>
        <p:spPr>
          <a:xfrm>
            <a:off x="10179050" y="1685925"/>
            <a:ext cx="1206500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关系型数据库</a:t>
            </a:r>
            <a:endParaRPr lang="zh-CN" altLang="en-US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189" name="组合 188"/>
          <p:cNvGrpSpPr/>
          <p:nvPr/>
        </p:nvGrpSpPr>
        <p:grpSpPr>
          <a:xfrm rot="0">
            <a:off x="10276698" y="2950210"/>
            <a:ext cx="1120917" cy="401955"/>
            <a:chOff x="14219" y="2664"/>
            <a:chExt cx="1606" cy="516"/>
          </a:xfrm>
        </p:grpSpPr>
        <p:pic>
          <p:nvPicPr>
            <p:cNvPr id="129" name="图片 128" descr="F:\S-矢量库图标\redis.pngredis"/>
            <p:cNvPicPr>
              <a:picLocks noChangeAspect="1"/>
            </p:cNvPicPr>
            <p:nvPr>
              <p:custDataLst>
                <p:tags r:id="rId75"/>
              </p:custDataLst>
            </p:nvPr>
          </p:nvPicPr>
          <p:blipFill>
            <a:blip r:embed="rId76"/>
            <a:srcRect/>
            <a:stretch>
              <a:fillRect/>
            </a:stretch>
          </p:blipFill>
          <p:spPr>
            <a:xfrm>
              <a:off x="14219" y="2664"/>
              <a:ext cx="547" cy="516"/>
            </a:xfrm>
            <a:prstGeom prst="rect">
              <a:avLst/>
            </a:prstGeom>
          </p:spPr>
        </p:pic>
        <p:sp>
          <p:nvSpPr>
            <p:cNvPr id="174" name="文本框 173"/>
            <p:cNvSpPr txBox="1"/>
            <p:nvPr>
              <p:custDataLst>
                <p:tags r:id="rId77"/>
              </p:custDataLst>
            </p:nvPr>
          </p:nvSpPr>
          <p:spPr>
            <a:xfrm>
              <a:off x="14917" y="2714"/>
              <a:ext cx="908" cy="332"/>
            </a:xfrm>
            <a:prstGeom prst="rect">
              <a:avLst/>
            </a:prstGeom>
            <a:noFill/>
          </p:spPr>
          <p:txBody>
            <a:bodyPr wrap="square" lIns="0" tIns="36576" rIns="0" bIns="0" rtlCol="0">
              <a:noAutofit/>
            </a:bodyPr>
            <a:p>
              <a:pPr indent="0">
                <a:lnSpc>
                  <a:spcPct val="85000"/>
                </a:lnSpc>
                <a:spcAft>
                  <a:spcPts val="600"/>
                </a:spcAft>
                <a:buClr>
                  <a:schemeClr val="accent2"/>
                </a:buClr>
                <a:buSzPct val="70000"/>
                <a:buFont typeface="Arial" panose="020B0604020202020204" pitchFamily="34" charset="0"/>
                <a:buNone/>
              </a:pPr>
              <a:r>
                <a:rPr lang="en-US" altLang="zh-CN" sz="1200" b="1" dirty="0" err="1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Redis</a:t>
              </a:r>
              <a:endParaRPr lang="en-US" altLang="zh-CN" sz="1200" b="1" dirty="0" err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indent="0">
                <a:lnSpc>
                  <a:spcPct val="85000"/>
                </a:lnSpc>
                <a:spcAft>
                  <a:spcPts val="600"/>
                </a:spcAft>
                <a:buClr>
                  <a:schemeClr val="accent2"/>
                </a:buClr>
                <a:buSzPct val="70000"/>
                <a:buFont typeface="Arial" panose="020B0604020202020204" pitchFamily="34" charset="0"/>
                <a:buNone/>
              </a:pPr>
              <a:r>
                <a:rPr lang="zh-CN" altLang="en-US" sz="900" b="1" dirty="0" err="1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容器化</a:t>
              </a:r>
              <a:endParaRPr lang="zh-CN" altLang="en-US" sz="900" b="1" dirty="0" err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sp>
        <p:nvSpPr>
          <p:cNvPr id="175" name="文本框 174"/>
          <p:cNvSpPr txBox="1"/>
          <p:nvPr>
            <p:custDataLst>
              <p:tags r:id="rId78"/>
            </p:custDataLst>
          </p:nvPr>
        </p:nvSpPr>
        <p:spPr>
          <a:xfrm>
            <a:off x="10203815" y="2712720"/>
            <a:ext cx="1181735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数据缓存</a:t>
            </a:r>
            <a:endParaRPr lang="zh-CN" altLang="en-US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77" name="文本框 176"/>
          <p:cNvSpPr txBox="1"/>
          <p:nvPr>
            <p:custDataLst>
              <p:tags r:id="rId79"/>
            </p:custDataLst>
          </p:nvPr>
        </p:nvSpPr>
        <p:spPr>
          <a:xfrm>
            <a:off x="10154285" y="3596005"/>
            <a:ext cx="1238250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消息队列</a:t>
            </a:r>
            <a:endParaRPr lang="zh-CN" altLang="en-US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178" name="图片 177" descr="F:\S-矢量库图标\RabbitMQ1.pngRabbitMQ1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/>
          <a:srcRect/>
          <a:stretch>
            <a:fillRect/>
          </a:stretch>
        </p:blipFill>
        <p:spPr>
          <a:xfrm>
            <a:off x="10224770" y="3463290"/>
            <a:ext cx="1082675" cy="1162685"/>
          </a:xfrm>
          <a:prstGeom prst="rect">
            <a:avLst/>
          </a:prstGeom>
        </p:spPr>
      </p:pic>
      <p:sp>
        <p:nvSpPr>
          <p:cNvPr id="179" name="文本框 178"/>
          <p:cNvSpPr txBox="1"/>
          <p:nvPr>
            <p:custDataLst>
              <p:tags r:id="rId82"/>
            </p:custDataLst>
          </p:nvPr>
        </p:nvSpPr>
        <p:spPr>
          <a:xfrm>
            <a:off x="10135235" y="4499610"/>
            <a:ext cx="1171575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对象存储</a:t>
            </a:r>
            <a:endParaRPr lang="zh-CN" altLang="en-US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81" name="文本框 180"/>
          <p:cNvSpPr txBox="1"/>
          <p:nvPr>
            <p:custDataLst>
              <p:tags r:id="rId83"/>
            </p:custDataLst>
          </p:nvPr>
        </p:nvSpPr>
        <p:spPr>
          <a:xfrm>
            <a:off x="10165080" y="5304790"/>
            <a:ext cx="1141095" cy="25844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1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日志收集与分析</a:t>
            </a:r>
            <a:endParaRPr lang="zh-CN" altLang="en-US" sz="10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83" name="直接箭头连接符 182"/>
          <p:cNvCxnSpPr/>
          <p:nvPr>
            <p:custDataLst>
              <p:tags r:id="rId84"/>
            </p:custDataLst>
          </p:nvPr>
        </p:nvCxnSpPr>
        <p:spPr>
          <a:xfrm>
            <a:off x="9881235" y="2134870"/>
            <a:ext cx="282575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>
            <p:custDataLst>
              <p:tags r:id="rId85"/>
            </p:custDataLst>
          </p:nvPr>
        </p:nvCxnSpPr>
        <p:spPr>
          <a:xfrm>
            <a:off x="9881235" y="3078480"/>
            <a:ext cx="282575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>
            <p:custDataLst>
              <p:tags r:id="rId86"/>
            </p:custDataLst>
          </p:nvPr>
        </p:nvCxnSpPr>
        <p:spPr>
          <a:xfrm>
            <a:off x="9881235" y="3939540"/>
            <a:ext cx="282575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/>
          <p:nvPr>
            <p:custDataLst>
              <p:tags r:id="rId87"/>
            </p:custDataLst>
          </p:nvPr>
        </p:nvCxnSpPr>
        <p:spPr>
          <a:xfrm>
            <a:off x="9872345" y="4830445"/>
            <a:ext cx="282575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/>
          <p:nvPr>
            <p:custDataLst>
              <p:tags r:id="rId88"/>
            </p:custDataLst>
          </p:nvPr>
        </p:nvCxnSpPr>
        <p:spPr>
          <a:xfrm>
            <a:off x="9879965" y="5763895"/>
            <a:ext cx="282575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>
            <p:custDataLst>
              <p:tags r:id="rId89"/>
            </p:custDataLst>
          </p:nvPr>
        </p:nvSpPr>
        <p:spPr>
          <a:xfrm>
            <a:off x="10763885" y="2136140"/>
            <a:ext cx="634365" cy="234950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1000" b="1" dirty="0" err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MySQL</a:t>
            </a:r>
            <a:endParaRPr lang="en-US" altLang="zh-CN" sz="1000" b="1" dirty="0" err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31" name="直接箭头连接符 130"/>
          <p:cNvCxnSpPr/>
          <p:nvPr>
            <p:custDataLst>
              <p:tags r:id="rId90"/>
            </p:custDataLst>
          </p:nvPr>
        </p:nvCxnSpPr>
        <p:spPr>
          <a:xfrm flipV="1">
            <a:off x="7171690" y="2563495"/>
            <a:ext cx="0" cy="10007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文本框 131"/>
          <p:cNvSpPr txBox="1"/>
          <p:nvPr>
            <p:custDataLst>
              <p:tags r:id="rId91"/>
            </p:custDataLst>
          </p:nvPr>
        </p:nvSpPr>
        <p:spPr>
          <a:xfrm>
            <a:off x="6581140" y="3215005"/>
            <a:ext cx="591185" cy="186055"/>
          </a:xfrm>
          <a:prstGeom prst="rect">
            <a:avLst/>
          </a:prstGeom>
          <a:noFill/>
        </p:spPr>
        <p:txBody>
          <a:bodyPr wrap="square" lIns="0" tIns="36576" rIns="0" bIns="0" rtlCol="0">
            <a:noAutofit/>
          </a:bodyPr>
          <a:p>
            <a:pPr indent="0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9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服务注册</a:t>
            </a:r>
            <a:endParaRPr lang="zh-CN" altLang="en-US" sz="900" dirty="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34" name="直接箭头连接符 133"/>
          <p:cNvCxnSpPr/>
          <p:nvPr>
            <p:custDataLst>
              <p:tags r:id="rId92"/>
            </p:custDataLst>
          </p:nvPr>
        </p:nvCxnSpPr>
        <p:spPr>
          <a:xfrm>
            <a:off x="7813675" y="1998980"/>
            <a:ext cx="1136015" cy="3175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sharpicons_database-center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0257155" y="2059305"/>
            <a:ext cx="442595" cy="442595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94"/>
            </p:custDataLst>
          </p:nvPr>
        </p:nvPicPr>
        <p:blipFill>
          <a:blip r:embed="rId95"/>
          <a:stretch>
            <a:fillRect/>
          </a:stretch>
        </p:blipFill>
        <p:spPr>
          <a:xfrm>
            <a:off x="10284460" y="4758690"/>
            <a:ext cx="918845" cy="347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659130" y="875665"/>
            <a:ext cx="10887075" cy="577596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nginx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97"/>
          <a:stretch>
            <a:fillRect/>
          </a:stretch>
        </p:blipFill>
        <p:spPr>
          <a:xfrm>
            <a:off x="2247900" y="3401060"/>
            <a:ext cx="670560" cy="67056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>
            <p:custDataLst>
              <p:tags r:id="rId98"/>
            </p:custDataLst>
          </p:nvPr>
        </p:nvCxnSpPr>
        <p:spPr>
          <a:xfrm>
            <a:off x="1763395" y="5161915"/>
            <a:ext cx="403860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>
            <p:custDataLst>
              <p:tags r:id="rId99"/>
            </p:custDataLst>
          </p:nvPr>
        </p:nvCxnSpPr>
        <p:spPr>
          <a:xfrm>
            <a:off x="1753870" y="2218055"/>
            <a:ext cx="403860" cy="0"/>
          </a:xfrm>
          <a:prstGeom prst="straightConnector1">
            <a:avLst/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操作日志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0427970" y="5513070"/>
            <a:ext cx="586105" cy="577215"/>
          </a:xfrm>
          <a:prstGeom prst="rect">
            <a:avLst/>
          </a:prstGeom>
        </p:spPr>
      </p:pic>
      <p:sp>
        <p:nvSpPr>
          <p:cNvPr id="9" name="矩形 108"/>
          <p:cNvSpPr/>
          <p:nvPr>
            <p:custDataLst>
              <p:tags r:id="rId101"/>
            </p:custDataLst>
          </p:nvPr>
        </p:nvSpPr>
        <p:spPr>
          <a:xfrm>
            <a:off x="7666990" y="3715385"/>
            <a:ext cx="870585" cy="269875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Service 4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3" name="矩形 110"/>
          <p:cNvSpPr/>
          <p:nvPr>
            <p:custDataLst>
              <p:tags r:id="rId102"/>
            </p:custDataLst>
          </p:nvPr>
        </p:nvSpPr>
        <p:spPr>
          <a:xfrm>
            <a:off x="7666990" y="4104005"/>
            <a:ext cx="871220" cy="295910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Service 5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5" name="矩形 112"/>
          <p:cNvSpPr/>
          <p:nvPr>
            <p:custDataLst>
              <p:tags r:id="rId103"/>
            </p:custDataLst>
          </p:nvPr>
        </p:nvSpPr>
        <p:spPr>
          <a:xfrm>
            <a:off x="7666990" y="4512310"/>
            <a:ext cx="871220" cy="246380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...</a:t>
            </a:r>
            <a:endParaRPr lang="en-US" altLang="zh-CN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16" name="圆角矩形 114"/>
          <p:cNvSpPr/>
          <p:nvPr>
            <p:custDataLst>
              <p:tags r:id="rId104"/>
            </p:custDataLst>
          </p:nvPr>
        </p:nvSpPr>
        <p:spPr>
          <a:xfrm>
            <a:off x="8632825" y="3679825"/>
            <a:ext cx="828675" cy="1087120"/>
          </a:xfrm>
          <a:prstGeom prst="roundRect">
            <a:avLst>
              <a:gd name="adj" fmla="val 5861"/>
            </a:avLst>
          </a:prstGeom>
          <a:noFill/>
          <a:ln w="9525">
            <a:solidFill>
              <a:schemeClr val="tx2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矩形 48"/>
          <p:cNvSpPr/>
          <p:nvPr>
            <p:custDataLst>
              <p:tags r:id="rId105"/>
            </p:custDataLst>
          </p:nvPr>
        </p:nvSpPr>
        <p:spPr>
          <a:xfrm>
            <a:off x="8695690" y="3789045"/>
            <a:ext cx="683895" cy="828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接口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数据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对接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矩形 97"/>
          <p:cNvSpPr/>
          <p:nvPr>
            <p:custDataLst>
              <p:tags r:id="rId106"/>
            </p:custDataLst>
          </p:nvPr>
        </p:nvSpPr>
        <p:spPr>
          <a:xfrm>
            <a:off x="8575675" y="5600065"/>
            <a:ext cx="820420" cy="245745"/>
          </a:xfrm>
          <a:prstGeom prst="rect">
            <a:avLst/>
          </a:prstGeom>
          <a:solidFill>
            <a:srgbClr val="03CDB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外部数据</a:t>
            </a:r>
            <a:endParaRPr lang="zh-CN" altLang="en-US" sz="10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技术架构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技术栈、技术组件清单（包括版本）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320675" y="824230"/>
          <a:ext cx="11558905" cy="5644515"/>
        </p:xfrm>
        <a:graphic>
          <a:graphicData uri="http://schemas.openxmlformats.org/drawingml/2006/table">
            <a:tbl>
              <a:tblPr/>
              <a:tblGrid>
                <a:gridCol w="1052830"/>
                <a:gridCol w="1203325"/>
                <a:gridCol w="3157220"/>
                <a:gridCol w="1654175"/>
                <a:gridCol w="4491355"/>
              </a:tblGrid>
              <a:tr h="201295"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技术组件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选择理由</a:t>
                      </a:r>
                      <a:endParaRPr lang="zh-CN" altLang="en-US" sz="10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21615"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前端展现技术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前端开发技术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H5/Vue3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qiankun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前端开发框架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轻量级前端组件，能够快速适配多种前端框架。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rowSpan="5"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服务端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服务端开发技术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 17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JVM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运行环境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 JDK 17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相对稳定，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springboot3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支持的最低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jdk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Spring Boot 3.2.2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企业级开发框架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减少项目的配置项。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Hibernate 6.5.0.Final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数据持久层框架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成熟稳定的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ORM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分布式任务框架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XXL-JOB 2.4.0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分布式任务处理框架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可分组分片的大型定时任务调度器。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SOA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框架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Spring Cloud 2023.0.0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MicroService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领域推荐的微服务实现框架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rowSpan="8"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服务器组件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应用环境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K8S 1.16.12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行业标准，行业占有率达到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80%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，各类支持的中间件丰富。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86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应用操作系统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eclipse-temurin:17.0.15_6-jdk-noble-arm64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Ubuntu 24.04 LTS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ARM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处理器架构构建，作为一个有长期支持的稳定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Linux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发行版，也符合信创项目对基础软件稳定性和安全性的要求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应用服务器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Undertow 3.2.2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轻量级应用服务容器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tomcat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，在同等环境下性能要提高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SpringBoot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配套版本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230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PolarDB-X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阿里云自主研发的云原生分布式数据库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成熟稳定大规模应用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607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Nginx 1.17.3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用以存放所有静态资源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用作前端静态资源服务器使用，可通过文件描述符缓冲来提高静态资源处理能力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230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数据缓存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Redis 6.2.11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数据缓存层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高性能远程数据字典缓存中间件，能够支持高可用和大规模集群部署，也能对缓存数据进行持久化处理，因而大大提高数据缓存稳定性和安全性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259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日志分析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ElsaticSearch 7.10.2 + Filebeat 7.9.2+Kibana 7.10.2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EFK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行业内标准的日志管理集成套件，提供集中式日志收集、管理和查询能力，便于对微服务系统产生的大量日志进行结构化管理和分析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980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配置服务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Apollo 2.2.3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分布式配置管理工具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可分布式部署的高可用配置管理中心，支持灰度发布模式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230">
                <a:tc rowSpan="5"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Devops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组件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基础镜像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eclipse-temurin:17.0.15_6-jdk-noble-arm64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K8S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Pods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运行的基础镜像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openJDK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官方推荐，基于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Eclipse Temurin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JDK17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镜像（基于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Ubuntu / ARM64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构建管理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Nexus 3.21.0-05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 Lib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库管理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开源轻量的制品库工具，使用简便，管理便捷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代码审核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SonarQube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代码质量扫描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开源静态扫描，有插件支持与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Jenkins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代码管理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Git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远程代码管理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标准的分布式代码版本管理工具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615">
                <a:tc vMerge="1">
                  <a:tcPr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持续集成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持续集成发布工具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开源持续集成工具，丰富的插件支持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技术架构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集成架构设计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sp>
        <p:nvSpPr>
          <p:cNvPr id="82" name="Rectangle 155"/>
          <p:cNvSpPr>
            <a:spLocks noChangeArrowheads="1"/>
          </p:cNvSpPr>
          <p:nvPr/>
        </p:nvSpPr>
        <p:spPr bwMode="auto">
          <a:xfrm>
            <a:off x="2359660" y="3023870"/>
            <a:ext cx="7188200" cy="117729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00" b="0" i="0" u="none" strike="noStrike" kern="0" cap="none" spc="0" normalizeH="0" baseline="0" noProof="0">
              <a:ln>
                <a:noFill/>
              </a:ln>
              <a:solidFill>
                <a:srgbClr val="F39D2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Rectangle 157"/>
          <p:cNvSpPr/>
          <p:nvPr/>
        </p:nvSpPr>
        <p:spPr bwMode="auto">
          <a:xfrm>
            <a:off x="3180715" y="3746500"/>
            <a:ext cx="644525" cy="196850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组织树管理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Rectangle 158"/>
          <p:cNvSpPr/>
          <p:nvPr/>
        </p:nvSpPr>
        <p:spPr bwMode="auto">
          <a:xfrm>
            <a:off x="3180715" y="3236595"/>
            <a:ext cx="644525" cy="204470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订单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Rectangle 159"/>
          <p:cNvSpPr/>
          <p:nvPr/>
        </p:nvSpPr>
        <p:spPr bwMode="auto">
          <a:xfrm>
            <a:off x="4362450" y="3746500"/>
            <a:ext cx="675005" cy="196850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Rectangle 160"/>
          <p:cNvSpPr/>
          <p:nvPr/>
        </p:nvSpPr>
        <p:spPr bwMode="auto">
          <a:xfrm>
            <a:off x="4371975" y="3236595"/>
            <a:ext cx="665480" cy="184150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预约</a:t>
            </a: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</a:t>
            </a: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Rectangle 161"/>
          <p:cNvSpPr/>
          <p:nvPr/>
        </p:nvSpPr>
        <p:spPr bwMode="auto">
          <a:xfrm>
            <a:off x="6835775" y="3236595"/>
            <a:ext cx="624205" cy="205105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Rectangle 162"/>
          <p:cNvSpPr/>
          <p:nvPr/>
        </p:nvSpPr>
        <p:spPr bwMode="auto">
          <a:xfrm>
            <a:off x="7965440" y="3743325"/>
            <a:ext cx="649605" cy="200025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Rectangle 163"/>
          <p:cNvSpPr/>
          <p:nvPr/>
        </p:nvSpPr>
        <p:spPr bwMode="auto">
          <a:xfrm>
            <a:off x="7946390" y="3236595"/>
            <a:ext cx="668655" cy="201295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产品配置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Rectangle 164"/>
          <p:cNvSpPr/>
          <p:nvPr/>
        </p:nvSpPr>
        <p:spPr bwMode="auto">
          <a:xfrm>
            <a:off x="5636895" y="3742055"/>
            <a:ext cx="692150" cy="201295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角色管理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Rectangle 165"/>
          <p:cNvSpPr/>
          <p:nvPr/>
        </p:nvSpPr>
        <p:spPr bwMode="auto">
          <a:xfrm>
            <a:off x="5638165" y="3236595"/>
            <a:ext cx="682625" cy="187325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轨迹计算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Rectangle 166"/>
          <p:cNvSpPr/>
          <p:nvPr/>
        </p:nvSpPr>
        <p:spPr bwMode="auto">
          <a:xfrm>
            <a:off x="6845300" y="3752850"/>
            <a:ext cx="605155" cy="190500"/>
          </a:xfrm>
          <a:prstGeom prst="rect">
            <a:avLst/>
          </a:prstGeom>
          <a:solidFill>
            <a:srgbClr val="F39D2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承运商管理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Rectangle 167"/>
          <p:cNvSpPr>
            <a:spLocks noChangeArrowheads="1"/>
          </p:cNvSpPr>
          <p:nvPr/>
        </p:nvSpPr>
        <p:spPr bwMode="auto">
          <a:xfrm>
            <a:off x="2370455" y="3012440"/>
            <a:ext cx="4000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Rectangle 168"/>
          <p:cNvSpPr>
            <a:spLocks noChangeArrowheads="1"/>
          </p:cNvSpPr>
          <p:nvPr/>
        </p:nvSpPr>
        <p:spPr bwMode="auto">
          <a:xfrm>
            <a:off x="2062480" y="3456940"/>
            <a:ext cx="603885" cy="25717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121"/>
          <p:cNvSpPr txBox="1">
            <a:spLocks noChangeArrowheads="1"/>
          </p:cNvSpPr>
          <p:nvPr/>
        </p:nvSpPr>
        <p:spPr bwMode="auto">
          <a:xfrm>
            <a:off x="2233295" y="4338320"/>
            <a:ext cx="46228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组织及组织关系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65"/>
          <p:cNvSpPr/>
          <p:nvPr/>
        </p:nvSpPr>
        <p:spPr>
          <a:xfrm>
            <a:off x="2557780" y="5546725"/>
            <a:ext cx="3788410" cy="287020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WebService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圆角矩形 65"/>
          <p:cNvSpPr/>
          <p:nvPr/>
        </p:nvSpPr>
        <p:spPr>
          <a:xfrm>
            <a:off x="2099945" y="5948680"/>
            <a:ext cx="4540885" cy="295275"/>
          </a:xfrm>
          <a:prstGeom prst="roundRect">
            <a:avLst/>
          </a:prstGeom>
          <a:solidFill>
            <a:srgbClr val="FF66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营销门户系统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8" name="直接箭头连接符 97"/>
          <p:cNvCxnSpPr/>
          <p:nvPr/>
        </p:nvCxnSpPr>
        <p:spPr>
          <a:xfrm flipV="1">
            <a:off x="2648585" y="4205605"/>
            <a:ext cx="0" cy="132080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99" name="TextBox 102"/>
          <p:cNvSpPr txBox="1">
            <a:spLocks noChangeArrowheads="1"/>
          </p:cNvSpPr>
          <p:nvPr/>
        </p:nvSpPr>
        <p:spPr bwMode="auto">
          <a:xfrm>
            <a:off x="2691765" y="4255135"/>
            <a:ext cx="477520" cy="10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内部人员及人员组织关系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0" name="直接箭头连接符 99"/>
          <p:cNvCxnSpPr/>
          <p:nvPr/>
        </p:nvCxnSpPr>
        <p:spPr>
          <a:xfrm flipV="1">
            <a:off x="3580765" y="4203700"/>
            <a:ext cx="0" cy="1335405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01" name="直接箭头连接符 100"/>
          <p:cNvCxnSpPr/>
          <p:nvPr/>
        </p:nvCxnSpPr>
        <p:spPr>
          <a:xfrm>
            <a:off x="9263380" y="4215765"/>
            <a:ext cx="0" cy="1283970"/>
          </a:xfrm>
          <a:prstGeom prst="straightConnector1">
            <a:avLst/>
          </a:prstGeom>
          <a:noFill/>
          <a:ln w="9525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02" name="TextBox 102"/>
          <p:cNvSpPr txBox="1">
            <a:spLocks noChangeArrowheads="1"/>
          </p:cNvSpPr>
          <p:nvPr/>
        </p:nvSpPr>
        <p:spPr bwMode="auto">
          <a:xfrm>
            <a:off x="3175635" y="4333875"/>
            <a:ext cx="478155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渠道客户基本信息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箭头连接符 102"/>
          <p:cNvCxnSpPr/>
          <p:nvPr/>
        </p:nvCxnSpPr>
        <p:spPr>
          <a:xfrm flipV="1">
            <a:off x="3112135" y="4205605"/>
            <a:ext cx="0" cy="132080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04" name="圆角矩形 65"/>
          <p:cNvSpPr/>
          <p:nvPr/>
        </p:nvSpPr>
        <p:spPr>
          <a:xfrm>
            <a:off x="7652385" y="5546725"/>
            <a:ext cx="1841500" cy="287020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ECSB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圆角矩形 65"/>
          <p:cNvSpPr/>
          <p:nvPr/>
        </p:nvSpPr>
        <p:spPr>
          <a:xfrm>
            <a:off x="7430135" y="5948680"/>
            <a:ext cx="2207260" cy="295275"/>
          </a:xfrm>
          <a:prstGeom prst="roundRect">
            <a:avLst/>
          </a:prstGeom>
          <a:solidFill>
            <a:srgbClr val="FF66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ERP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圆角矩形 65"/>
          <p:cNvSpPr/>
          <p:nvPr/>
        </p:nvSpPr>
        <p:spPr>
          <a:xfrm>
            <a:off x="2452370" y="1552575"/>
            <a:ext cx="2239010" cy="287020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ECSB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圆角矩形 65"/>
          <p:cNvSpPr/>
          <p:nvPr/>
        </p:nvSpPr>
        <p:spPr>
          <a:xfrm>
            <a:off x="2299335" y="1142365"/>
            <a:ext cx="2684145" cy="295275"/>
          </a:xfrm>
          <a:prstGeom prst="roundRect">
            <a:avLst/>
          </a:prstGeom>
          <a:solidFill>
            <a:srgbClr val="FF6600"/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营销门户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圆角矩形 65"/>
          <p:cNvSpPr/>
          <p:nvPr/>
        </p:nvSpPr>
        <p:spPr>
          <a:xfrm>
            <a:off x="5372100" y="1524635"/>
            <a:ext cx="2280285" cy="287020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ECSB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圆角矩形 65"/>
          <p:cNvSpPr/>
          <p:nvPr/>
        </p:nvSpPr>
        <p:spPr>
          <a:xfrm>
            <a:off x="5227320" y="1114425"/>
            <a:ext cx="2547620" cy="295275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10" name="圆角矩形 65"/>
          <p:cNvSpPr/>
          <p:nvPr/>
        </p:nvSpPr>
        <p:spPr>
          <a:xfrm>
            <a:off x="8093075" y="1529715"/>
            <a:ext cx="1412875" cy="287020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圆角矩形 65"/>
          <p:cNvSpPr/>
          <p:nvPr/>
        </p:nvSpPr>
        <p:spPr>
          <a:xfrm>
            <a:off x="7996555" y="1119505"/>
            <a:ext cx="1693545" cy="295275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报账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 flipV="1">
            <a:off x="4086860" y="4220210"/>
            <a:ext cx="0" cy="133223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13" name="TextBox 102"/>
          <p:cNvSpPr txBox="1">
            <a:spLocks noChangeArrowheads="1"/>
          </p:cNvSpPr>
          <p:nvPr/>
        </p:nvSpPr>
        <p:spPr bwMode="auto">
          <a:xfrm>
            <a:off x="3668395" y="4350385"/>
            <a:ext cx="478155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渠道客户关系信息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" name="直接箭头连接符 113"/>
          <p:cNvCxnSpPr/>
          <p:nvPr/>
        </p:nvCxnSpPr>
        <p:spPr>
          <a:xfrm flipV="1">
            <a:off x="4575810" y="4217035"/>
            <a:ext cx="0" cy="130937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15" name="TextBox 102"/>
          <p:cNvSpPr txBox="1">
            <a:spLocks noChangeArrowheads="1"/>
          </p:cNvSpPr>
          <p:nvPr/>
        </p:nvSpPr>
        <p:spPr bwMode="auto">
          <a:xfrm>
            <a:off x="4182110" y="4351655"/>
            <a:ext cx="478155" cy="900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渠道客户配置相关信息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6" name="直接箭头连接符 115"/>
          <p:cNvCxnSpPr/>
          <p:nvPr/>
        </p:nvCxnSpPr>
        <p:spPr>
          <a:xfrm flipV="1">
            <a:off x="5083810" y="4204335"/>
            <a:ext cx="0" cy="129540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17" name="TextBox 102"/>
          <p:cNvSpPr txBox="1">
            <a:spLocks noChangeArrowheads="1"/>
          </p:cNvSpPr>
          <p:nvPr/>
        </p:nvSpPr>
        <p:spPr bwMode="auto">
          <a:xfrm>
            <a:off x="4690745" y="4351655"/>
            <a:ext cx="478155" cy="57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产品基本信息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 flipV="1">
            <a:off x="5588000" y="4185920"/>
            <a:ext cx="0" cy="130048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19" name="TextBox 102"/>
          <p:cNvSpPr txBox="1">
            <a:spLocks noChangeArrowheads="1"/>
          </p:cNvSpPr>
          <p:nvPr/>
        </p:nvSpPr>
        <p:spPr bwMode="auto">
          <a:xfrm>
            <a:off x="5185410" y="4348480"/>
            <a:ext cx="478155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产品配置相关信息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0" name="直接箭头连接符 119"/>
          <p:cNvCxnSpPr/>
          <p:nvPr/>
        </p:nvCxnSpPr>
        <p:spPr>
          <a:xfrm flipV="1">
            <a:off x="6022340" y="4218940"/>
            <a:ext cx="0" cy="1307465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21" name="TextBox 102"/>
          <p:cNvSpPr txBox="1">
            <a:spLocks noChangeArrowheads="1"/>
          </p:cNvSpPr>
          <p:nvPr/>
        </p:nvSpPr>
        <p:spPr bwMode="auto">
          <a:xfrm>
            <a:off x="5623560" y="4321175"/>
            <a:ext cx="478155" cy="10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发货仓对应发运方法信息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102"/>
          <p:cNvSpPr txBox="1">
            <a:spLocks noChangeArrowheads="1"/>
          </p:cNvSpPr>
          <p:nvPr/>
        </p:nvSpPr>
        <p:spPr bwMode="auto">
          <a:xfrm>
            <a:off x="7360285" y="4389755"/>
            <a:ext cx="478155" cy="57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物流商信息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TextBox 102"/>
          <p:cNvSpPr txBox="1">
            <a:spLocks noChangeArrowheads="1"/>
          </p:cNvSpPr>
          <p:nvPr/>
        </p:nvSpPr>
        <p:spPr bwMode="auto">
          <a:xfrm>
            <a:off x="7838440" y="4377055"/>
            <a:ext cx="478155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仓库可售产品信息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TextBox 102"/>
          <p:cNvSpPr txBox="1">
            <a:spLocks noChangeArrowheads="1"/>
          </p:cNvSpPr>
          <p:nvPr/>
        </p:nvSpPr>
        <p:spPr bwMode="auto">
          <a:xfrm>
            <a:off x="8343265" y="4397375"/>
            <a:ext cx="478155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订单信息推送接口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5" name="直接箭头连接符 124"/>
          <p:cNvCxnSpPr/>
          <p:nvPr/>
        </p:nvCxnSpPr>
        <p:spPr>
          <a:xfrm flipV="1">
            <a:off x="8267700" y="4189095"/>
            <a:ext cx="0" cy="131064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26" name="直接箭头连接符 125"/>
          <p:cNvCxnSpPr/>
          <p:nvPr/>
        </p:nvCxnSpPr>
        <p:spPr>
          <a:xfrm flipV="1">
            <a:off x="8766175" y="4203065"/>
            <a:ext cx="0" cy="1297305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27" name="直接箭头连接符 126"/>
          <p:cNvCxnSpPr/>
          <p:nvPr/>
        </p:nvCxnSpPr>
        <p:spPr>
          <a:xfrm>
            <a:off x="2648585" y="1882140"/>
            <a:ext cx="0" cy="112649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28" name="直接箭头连接符 127"/>
          <p:cNvCxnSpPr/>
          <p:nvPr/>
        </p:nvCxnSpPr>
        <p:spPr>
          <a:xfrm flipV="1">
            <a:off x="7774940" y="4195445"/>
            <a:ext cx="0" cy="1317625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29" name="TextBox 102"/>
          <p:cNvSpPr txBox="1">
            <a:spLocks noChangeArrowheads="1"/>
          </p:cNvSpPr>
          <p:nvPr/>
        </p:nvSpPr>
        <p:spPr bwMode="auto">
          <a:xfrm>
            <a:off x="8843645" y="4365625"/>
            <a:ext cx="478155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订单信息回传接口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TextBox 121"/>
          <p:cNvSpPr txBox="1">
            <a:spLocks noChangeArrowheads="1"/>
          </p:cNvSpPr>
          <p:nvPr/>
        </p:nvSpPr>
        <p:spPr bwMode="auto">
          <a:xfrm>
            <a:off x="2230120" y="2106930"/>
            <a:ext cx="462280" cy="57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手工订单同步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1" name="直接箭头连接符 130"/>
          <p:cNvCxnSpPr/>
          <p:nvPr/>
        </p:nvCxnSpPr>
        <p:spPr>
          <a:xfrm>
            <a:off x="3130550" y="1868805"/>
            <a:ext cx="0" cy="115316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32" name="TextBox 121"/>
          <p:cNvSpPr txBox="1">
            <a:spLocks noChangeArrowheads="1"/>
          </p:cNvSpPr>
          <p:nvPr/>
        </p:nvSpPr>
        <p:spPr bwMode="auto">
          <a:xfrm>
            <a:off x="2714625" y="2110105"/>
            <a:ext cx="462280" cy="57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转运单信息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Box 121"/>
          <p:cNvSpPr txBox="1">
            <a:spLocks noChangeArrowheads="1"/>
          </p:cNvSpPr>
          <p:nvPr/>
        </p:nvSpPr>
        <p:spPr bwMode="auto">
          <a:xfrm>
            <a:off x="3654425" y="2112645"/>
            <a:ext cx="462280" cy="900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手工订单发运调度信息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4" name="直接箭头连接符 133"/>
          <p:cNvCxnSpPr/>
          <p:nvPr/>
        </p:nvCxnSpPr>
        <p:spPr>
          <a:xfrm flipV="1">
            <a:off x="4091305" y="1886585"/>
            <a:ext cx="0" cy="1108710"/>
          </a:xfrm>
          <a:prstGeom prst="straightConnector1">
            <a:avLst/>
          </a:prstGeom>
          <a:noFill/>
          <a:ln w="9525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35" name="直接箭头连接符 134"/>
          <p:cNvCxnSpPr/>
          <p:nvPr/>
        </p:nvCxnSpPr>
        <p:spPr>
          <a:xfrm flipV="1">
            <a:off x="4566285" y="1878965"/>
            <a:ext cx="0" cy="1143000"/>
          </a:xfrm>
          <a:prstGeom prst="straightConnector1">
            <a:avLst/>
          </a:prstGeom>
          <a:noFill/>
          <a:ln w="9525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36" name="TextBox 121"/>
          <p:cNvSpPr txBox="1">
            <a:spLocks noChangeArrowheads="1"/>
          </p:cNvSpPr>
          <p:nvPr/>
        </p:nvSpPr>
        <p:spPr bwMode="auto">
          <a:xfrm>
            <a:off x="4137660" y="2157095"/>
            <a:ext cx="462280" cy="57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收货确认确认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7" name="直接箭头连接符 136"/>
          <p:cNvCxnSpPr/>
          <p:nvPr/>
        </p:nvCxnSpPr>
        <p:spPr>
          <a:xfrm flipH="1" flipV="1">
            <a:off x="5624195" y="1868805"/>
            <a:ext cx="0" cy="1114425"/>
          </a:xfrm>
          <a:prstGeom prst="straightConnector1">
            <a:avLst/>
          </a:prstGeom>
          <a:noFill/>
          <a:ln w="9525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38" name="TextBox 121"/>
          <p:cNvSpPr txBox="1">
            <a:spLocks noChangeArrowheads="1"/>
          </p:cNvSpPr>
          <p:nvPr/>
        </p:nvSpPr>
        <p:spPr bwMode="auto">
          <a:xfrm>
            <a:off x="5302250" y="2025015"/>
            <a:ext cx="46228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车辆配送单信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 flipH="1" flipV="1">
            <a:off x="6068695" y="1868805"/>
            <a:ext cx="0" cy="1134745"/>
          </a:xfrm>
          <a:prstGeom prst="straightConnector1">
            <a:avLst/>
          </a:prstGeom>
          <a:noFill/>
          <a:ln w="9525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40" name="TextBox 121"/>
          <p:cNvSpPr txBox="1">
            <a:spLocks noChangeArrowheads="1"/>
          </p:cNvSpPr>
          <p:nvPr/>
        </p:nvSpPr>
        <p:spPr bwMode="auto">
          <a:xfrm>
            <a:off x="5653405" y="1972310"/>
            <a:ext cx="462280" cy="106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手工单对应的销售订单标识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TextBox 121"/>
          <p:cNvSpPr txBox="1">
            <a:spLocks noChangeArrowheads="1"/>
          </p:cNvSpPr>
          <p:nvPr/>
        </p:nvSpPr>
        <p:spPr bwMode="auto">
          <a:xfrm>
            <a:off x="6247765" y="2157095"/>
            <a:ext cx="46228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勾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TextBox 121"/>
          <p:cNvSpPr txBox="1">
            <a:spLocks noChangeArrowheads="1"/>
          </p:cNvSpPr>
          <p:nvPr/>
        </p:nvSpPr>
        <p:spPr bwMode="auto">
          <a:xfrm>
            <a:off x="6622415" y="2128520"/>
            <a:ext cx="46228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挑库及结单信息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TextBox 121"/>
          <p:cNvSpPr txBox="1">
            <a:spLocks noChangeArrowheads="1"/>
          </p:cNvSpPr>
          <p:nvPr/>
        </p:nvSpPr>
        <p:spPr bwMode="auto">
          <a:xfrm>
            <a:off x="7123430" y="2045970"/>
            <a:ext cx="306705" cy="76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库存数据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4" name="直接箭头连接符 143"/>
          <p:cNvCxnSpPr/>
          <p:nvPr/>
        </p:nvCxnSpPr>
        <p:spPr>
          <a:xfrm>
            <a:off x="7439660" y="1882140"/>
            <a:ext cx="0" cy="1130935"/>
          </a:xfrm>
          <a:prstGeom prst="straightConnector1">
            <a:avLst/>
          </a:prstGeom>
          <a:noFill/>
          <a:ln w="76200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45" name="直接箭头连接符 144"/>
          <p:cNvCxnSpPr/>
          <p:nvPr/>
        </p:nvCxnSpPr>
        <p:spPr>
          <a:xfrm>
            <a:off x="7001510" y="1868805"/>
            <a:ext cx="0" cy="114427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46" name="直接箭头连接符 145"/>
          <p:cNvCxnSpPr/>
          <p:nvPr/>
        </p:nvCxnSpPr>
        <p:spPr>
          <a:xfrm>
            <a:off x="6557010" y="1855470"/>
            <a:ext cx="0" cy="118237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47" name="直接箭头连接符 146"/>
          <p:cNvCxnSpPr/>
          <p:nvPr/>
        </p:nvCxnSpPr>
        <p:spPr>
          <a:xfrm>
            <a:off x="3580765" y="1868805"/>
            <a:ext cx="0" cy="115316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48" name="TextBox 121"/>
          <p:cNvSpPr txBox="1">
            <a:spLocks noChangeArrowheads="1"/>
          </p:cNvSpPr>
          <p:nvPr/>
        </p:nvSpPr>
        <p:spPr bwMode="auto">
          <a:xfrm>
            <a:off x="3176905" y="2092960"/>
            <a:ext cx="46228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ERP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订单补充信息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9" name="直接箭头连接符 148"/>
          <p:cNvCxnSpPr/>
          <p:nvPr/>
        </p:nvCxnSpPr>
        <p:spPr>
          <a:xfrm>
            <a:off x="485140" y="1991360"/>
            <a:ext cx="1457960" cy="0"/>
          </a:xfrm>
          <a:prstGeom prst="straightConnector1">
            <a:avLst/>
          </a:prstGeom>
          <a:noFill/>
          <a:ln w="9525" cap="flat" cmpd="sng" algn="ctr">
            <a:solidFill>
              <a:srgbClr val="E06B14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50" name="直接箭头连接符 149"/>
          <p:cNvCxnSpPr/>
          <p:nvPr/>
        </p:nvCxnSpPr>
        <p:spPr>
          <a:xfrm flipV="1">
            <a:off x="483235" y="3435985"/>
            <a:ext cx="1473200" cy="0"/>
          </a:xfrm>
          <a:prstGeom prst="straightConnector1">
            <a:avLst/>
          </a:prstGeom>
          <a:noFill/>
          <a:ln w="9525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51" name="TextBox 121"/>
          <p:cNvSpPr txBox="1">
            <a:spLocks noChangeArrowheads="1"/>
          </p:cNvSpPr>
          <p:nvPr/>
        </p:nvSpPr>
        <p:spPr bwMode="auto">
          <a:xfrm>
            <a:off x="557530" y="1527175"/>
            <a:ext cx="14198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外部系统数据流入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TextBox 121"/>
          <p:cNvSpPr txBox="1">
            <a:spLocks noChangeArrowheads="1"/>
          </p:cNvSpPr>
          <p:nvPr/>
        </p:nvSpPr>
        <p:spPr bwMode="auto">
          <a:xfrm>
            <a:off x="523875" y="3018155"/>
            <a:ext cx="125349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数据流出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圆角矩形 65"/>
          <p:cNvSpPr/>
          <p:nvPr>
            <p:custDataLst>
              <p:tags r:id="rId1"/>
            </p:custDataLst>
          </p:nvPr>
        </p:nvSpPr>
        <p:spPr>
          <a:xfrm>
            <a:off x="10165715" y="3532505"/>
            <a:ext cx="1412875" cy="287020"/>
          </a:xfrm>
          <a:prstGeom prst="round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4" name="圆角矩形 65"/>
          <p:cNvSpPr/>
          <p:nvPr>
            <p:custDataLst>
              <p:tags r:id="rId2"/>
            </p:custDataLst>
          </p:nvPr>
        </p:nvSpPr>
        <p:spPr>
          <a:xfrm>
            <a:off x="10069195" y="3122295"/>
            <a:ext cx="1693545" cy="295275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考评系统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55" name="直接箭头连接符 118"/>
          <p:cNvCxnSpPr/>
          <p:nvPr/>
        </p:nvCxnSpPr>
        <p:spPr>
          <a:xfrm flipV="1">
            <a:off x="9547860" y="3703955"/>
            <a:ext cx="602615" cy="10795"/>
          </a:xfrm>
          <a:prstGeom prst="straightConnector1">
            <a:avLst/>
          </a:prstGeom>
          <a:noFill/>
          <a:ln w="76200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56" name="直接箭头连接符 118"/>
          <p:cNvCxnSpPr/>
          <p:nvPr/>
        </p:nvCxnSpPr>
        <p:spPr>
          <a:xfrm flipH="1" flipV="1">
            <a:off x="8808085" y="1827530"/>
            <a:ext cx="9525" cy="1171575"/>
          </a:xfrm>
          <a:prstGeom prst="straightConnector1">
            <a:avLst/>
          </a:prstGeom>
          <a:noFill/>
          <a:ln w="76200" cap="flat" cmpd="sng" algn="ctr">
            <a:solidFill>
              <a:srgbClr val="6893B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57" name="TextBox 121"/>
          <p:cNvSpPr txBox="1">
            <a:spLocks noChangeArrowheads="1"/>
          </p:cNvSpPr>
          <p:nvPr/>
        </p:nvSpPr>
        <p:spPr bwMode="auto">
          <a:xfrm>
            <a:off x="9493885" y="3819525"/>
            <a:ext cx="1120775" cy="73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物流商</a:t>
            </a: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KPI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考核相关数据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TextBox 121"/>
          <p:cNvSpPr txBox="1">
            <a:spLocks noChangeArrowheads="1"/>
          </p:cNvSpPr>
          <p:nvPr/>
        </p:nvSpPr>
        <p:spPr bwMode="auto">
          <a:xfrm>
            <a:off x="8784590" y="2242820"/>
            <a:ext cx="922655" cy="76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defTabSz="457200"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457200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defTabSz="457200"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defTabSz="457200"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defTabSz="457200" eaLnBrk="0" hangingPunct="0">
              <a:buClr>
                <a:srgbClr val="FFC000"/>
              </a:buClr>
              <a:buFont typeface="微软雅黑" panose="020B0503020204020204" pitchFamily="34" charset="-122"/>
              <a:buChar char="￭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计提与结算数据</a:t>
            </a:r>
            <a:endParaRPr kumimoji="0" lang="zh-CN" altLang="en-US" sz="105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  <p:bldP spid="143" grpId="1"/>
      <p:bldP spid="158" grpId="0"/>
      <p:bldP spid="158" grpId="1"/>
      <p:bldP spid="157" grpId="0"/>
      <p:bldP spid="15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系统基础架构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网络架构</a:t>
            </a:r>
            <a:r>
              <a:rPr lang="en-US" altLang="zh-CN" dirty="0" smtClean="0">
                <a:solidFill>
                  <a:prstClr val="black"/>
                </a:solidFill>
              </a:rPr>
              <a:t>&amp;</a:t>
            </a:r>
            <a:r>
              <a:rPr lang="zh-CN" altLang="en-US" dirty="0" smtClean="0">
                <a:solidFill>
                  <a:prstClr val="black"/>
                </a:solidFill>
              </a:rPr>
              <a:t>逻辑层级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pic>
        <p:nvPicPr>
          <p:cNvPr id="79" name="Graphic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/>
          <a:srcRect/>
          <a:stretch>
            <a:fillRect/>
          </a:stretch>
        </p:blipFill>
        <p:spPr bwMode="auto">
          <a:xfrm flipH="1">
            <a:off x="1622223" y="1224451"/>
            <a:ext cx="474818" cy="46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Rectangle 62"/>
          <p:cNvSpPr/>
          <p:nvPr>
            <p:custDataLst>
              <p:tags r:id="rId2"/>
            </p:custDataLst>
          </p:nvPr>
        </p:nvSpPr>
        <p:spPr>
          <a:xfrm>
            <a:off x="2563495" y="1118235"/>
            <a:ext cx="8973185" cy="5301615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3" tIns="9140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zh-CN" alt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华润云</a:t>
            </a:r>
            <a:endParaRPr lang="zh-CN" altLang="en-US" sz="1200" b="1" dirty="0">
              <a:solidFill>
                <a:schemeClr val="tx1"/>
              </a:solidFill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00" name="Rectangle 99"/>
          <p:cNvSpPr/>
          <p:nvPr>
            <p:custDataLst>
              <p:tags r:id="rId3"/>
            </p:custDataLst>
          </p:nvPr>
        </p:nvSpPr>
        <p:spPr>
          <a:xfrm>
            <a:off x="1563822" y="1793265"/>
            <a:ext cx="5998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/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业务</a:t>
            </a:r>
            <a:endParaRPr lang="zh-CN" alt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用户</a:t>
            </a:r>
            <a:endParaRPr lang="zh-CN" alt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grpSp>
        <p:nvGrpSpPr>
          <p:cNvPr id="81" name="Group 78"/>
          <p:cNvGrpSpPr/>
          <p:nvPr/>
        </p:nvGrpSpPr>
        <p:grpSpPr>
          <a:xfrm>
            <a:off x="1450195" y="5379741"/>
            <a:ext cx="876636" cy="749679"/>
            <a:chOff x="1216" y="8480"/>
            <a:chExt cx="1381" cy="1181"/>
          </a:xfrm>
        </p:grpSpPr>
        <p:pic>
          <p:nvPicPr>
            <p:cNvPr id="82" name="Graphic 6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/>
            <a:srcRect/>
            <a:stretch>
              <a:fillRect/>
            </a:stretch>
          </p:blipFill>
          <p:spPr bwMode="auto">
            <a:xfrm flipH="1">
              <a:off x="1532" y="8480"/>
              <a:ext cx="748" cy="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Rectangle 100"/>
            <p:cNvSpPr/>
            <p:nvPr>
              <p:custDataLst>
                <p:tags r:id="rId5"/>
              </p:custDataLst>
            </p:nvPr>
          </p:nvSpPr>
          <p:spPr>
            <a:xfrm>
              <a:off x="1216" y="9275"/>
              <a:ext cx="138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097280"/>
              <a:r>
                <a:rPr lang="zh-CN" altLang="en-US" sz="1000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开发</a:t>
              </a:r>
              <a:r>
                <a:rPr lang="en-US" altLang="zh-CN" sz="1000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/</a:t>
              </a:r>
              <a:r>
                <a:rPr lang="zh-CN" altLang="en-US" sz="1000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运维</a:t>
              </a:r>
              <a:endPara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73" name="Graphic 17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/>
          <a:srcRect/>
          <a:stretch>
            <a:fillRect/>
          </a:stretch>
        </p:blipFill>
        <p:spPr>
          <a:xfrm>
            <a:off x="2563605" y="1118441"/>
            <a:ext cx="438635" cy="425305"/>
          </a:xfrm>
          <a:prstGeom prst="rect">
            <a:avLst/>
          </a:prstGeom>
        </p:spPr>
      </p:pic>
      <p:grpSp>
        <p:nvGrpSpPr>
          <p:cNvPr id="83" name="Group 44"/>
          <p:cNvGrpSpPr/>
          <p:nvPr/>
        </p:nvGrpSpPr>
        <p:grpSpPr>
          <a:xfrm>
            <a:off x="9778552" y="2540356"/>
            <a:ext cx="1597115" cy="3674126"/>
            <a:chOff x="13003" y="4080"/>
            <a:chExt cx="2516" cy="5788"/>
          </a:xfrm>
        </p:grpSpPr>
        <p:sp>
          <p:nvSpPr>
            <p:cNvPr id="84" name="Rectangle 56"/>
            <p:cNvSpPr/>
            <p:nvPr>
              <p:custDataLst>
                <p:tags r:id="rId7"/>
              </p:custDataLst>
            </p:nvPr>
          </p:nvSpPr>
          <p:spPr>
            <a:xfrm>
              <a:off x="13021" y="4080"/>
              <a:ext cx="2378" cy="5788"/>
            </a:xfrm>
            <a:prstGeom prst="rect">
              <a:avLst/>
            </a:prstGeom>
            <a:noFill/>
            <a:ln w="12700" cap="flat" cmpd="sng" algn="ctr">
              <a:solidFill>
                <a:srgbClr val="ED71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731269" tIns="146253" rIns="146253" bIns="73126" numCol="1" spcCol="0" rtlCol="0" fromWordArt="0" anchor="t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920" b="0" i="0" u="none" strike="noStrike" kern="0" cap="none" spc="0" normalizeH="0" baseline="0" noProof="0" dirty="0">
                  <a:ln>
                    <a:noFill/>
                  </a:ln>
                  <a:solidFill>
                    <a:srgbClr val="B6BAB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</a:t>
              </a:r>
              <a:endParaRPr kumimoji="0" lang="en-US" sz="1920" b="0" i="0" u="none" strike="noStrike" kern="0" cap="none" spc="0" normalizeH="0" baseline="0" noProof="0" dirty="0">
                <a:ln>
                  <a:noFill/>
                </a:ln>
                <a:solidFill>
                  <a:srgbClr val="B6BAB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TextBox 3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3019" y="4154"/>
              <a:ext cx="2500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97280"/>
              <a:r>
                <a:rPr lang="zh-CN" altLang="en-US" sz="1200" dirty="0">
                  <a:solidFill>
                    <a:schemeClr val="bg1">
                      <a:lumMod val="10000"/>
                    </a:schemeClr>
                  </a:solidFill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子网</a:t>
              </a:r>
              <a:r>
                <a:rPr lang="en-US" altLang="zh-CN" sz="1200" dirty="0">
                  <a:solidFill>
                    <a:schemeClr val="bg1">
                      <a:lumMod val="10000"/>
                    </a:schemeClr>
                  </a:solidFill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(</a:t>
              </a:r>
              <a:r>
                <a:rPr lang="zh-CN" altLang="en-US" sz="1000" dirty="0">
                  <a:solidFill>
                    <a:schemeClr val="bg1">
                      <a:lumMod val="10000"/>
                    </a:schemeClr>
                  </a:solidFill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安全组</a:t>
              </a:r>
              <a:r>
                <a:rPr lang="zh-CN" altLang="en-US" sz="1000" dirty="0">
                  <a:solidFill>
                    <a:schemeClr val="bg1">
                      <a:lumMod val="10000"/>
                    </a:schemeClr>
                  </a:solidFill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严格控制</a:t>
              </a:r>
              <a:r>
                <a:rPr lang="en-US" altLang="zh-CN" sz="1000" dirty="0">
                  <a:solidFill>
                    <a:schemeClr val="bg1">
                      <a:lumMod val="10000"/>
                    </a:schemeClr>
                  </a:solidFill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)</a:t>
              </a:r>
              <a:endParaRPr lang="en-US" altLang="zh-CN" sz="10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pic>
          <p:nvPicPr>
            <p:cNvPr id="86" name="Graphic 7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/>
            <a:srcRect/>
            <a:stretch>
              <a:fillRect/>
            </a:stretch>
          </p:blipFill>
          <p:spPr bwMode="auto">
            <a:xfrm>
              <a:off x="13003" y="4094"/>
              <a:ext cx="663" cy="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Rectangles 16"/>
            <p:cNvSpPr/>
            <p:nvPr>
              <p:custDataLst>
                <p:tags r:id="rId10"/>
              </p:custDataLst>
            </p:nvPr>
          </p:nvSpPr>
          <p:spPr>
            <a:xfrm>
              <a:off x="13170" y="5668"/>
              <a:ext cx="1860" cy="59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ctr" defTabSz="1097280">
                <a:buClrTx/>
                <a:buSzTx/>
                <a:buFontTx/>
              </a:pPr>
              <a:r>
                <a:rPr lang="en-US" altLang="zh-CN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MySQL</a:t>
              </a:r>
              <a:r>
                <a:rPr lang="zh-CN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数据库</a:t>
              </a:r>
              <a:endParaRPr lang="zh-CN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sp>
          <p:nvSpPr>
            <p:cNvPr id="88" name="Rectangles 19"/>
            <p:cNvSpPr/>
            <p:nvPr>
              <p:custDataLst>
                <p:tags r:id="rId11"/>
              </p:custDataLst>
            </p:nvPr>
          </p:nvSpPr>
          <p:spPr>
            <a:xfrm>
              <a:off x="13170" y="6892"/>
              <a:ext cx="1860" cy="59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lvl="0" algn="ctr" defTabSz="1097280">
                <a:buClrTx/>
                <a:buSzTx/>
                <a:buFontTx/>
              </a:pPr>
              <a:r>
                <a:rPr lang="zh-CN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缓存服务</a:t>
              </a:r>
              <a:r>
                <a:rPr lang="en-US" altLang="zh-CN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 </a:t>
              </a:r>
              <a:r>
                <a:rPr lang="en-US" altLang="zh-CN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Redis</a:t>
              </a:r>
              <a:endParaRPr lang="en-US" altLang="zh-CN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sp>
          <p:nvSpPr>
            <p:cNvPr id="89" name="Rectangles 28"/>
            <p:cNvSpPr/>
            <p:nvPr>
              <p:custDataLst>
                <p:tags r:id="rId12"/>
              </p:custDataLst>
            </p:nvPr>
          </p:nvSpPr>
          <p:spPr>
            <a:xfrm>
              <a:off x="13170" y="8238"/>
              <a:ext cx="1860" cy="59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lvl="0" algn="ctr" defTabSz="1097280">
                <a:buClrTx/>
                <a:buSzTx/>
                <a:buFontTx/>
              </a:pPr>
              <a:r>
                <a:rPr lang="zh-CN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消息队列</a:t>
              </a:r>
              <a:r>
                <a:rPr lang="en-US" altLang="zh-CN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  <a:sym typeface="+mn-ea"/>
                </a:rPr>
                <a:t> RabbitMQ</a:t>
              </a:r>
              <a:endParaRPr lang="en-US" altLang="zh-CN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90" name="Rectangles 31"/>
          <p:cNvSpPr/>
          <p:nvPr>
            <p:custDataLst>
              <p:tags r:id="rId13"/>
            </p:custDataLst>
          </p:nvPr>
        </p:nvSpPr>
        <p:spPr>
          <a:xfrm>
            <a:off x="10113082" y="2151234"/>
            <a:ext cx="882983" cy="293270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 defTabSz="1097280">
              <a:buClrTx/>
              <a:buSzTx/>
              <a:buFontTx/>
            </a:pPr>
            <a:r>
              <a:rPr lang="zh-CN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对象</a:t>
            </a:r>
            <a:r>
              <a:rPr lang="zh-CN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存储</a:t>
            </a:r>
            <a:endParaRPr lang="zh-CN" altLang="en-US" sz="900" b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91" name="Straight Arrow Connector 38"/>
          <p:cNvCxnSpPr/>
          <p:nvPr>
            <p:custDataLst>
              <p:tags r:id="rId14"/>
            </p:custDataLst>
          </p:nvPr>
        </p:nvCxnSpPr>
        <p:spPr>
          <a:xfrm>
            <a:off x="2116083" y="5657777"/>
            <a:ext cx="1942436" cy="380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53"/>
          <p:cNvSpPr/>
          <p:nvPr>
            <p:custDataLst>
              <p:tags r:id="rId15"/>
            </p:custDataLst>
          </p:nvPr>
        </p:nvSpPr>
        <p:spPr>
          <a:xfrm>
            <a:off x="5135880" y="1809115"/>
            <a:ext cx="4335145" cy="3318510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212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子网</a:t>
            </a:r>
            <a:r>
              <a:rPr lang="en-US" altLang="zh-CN" sz="12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0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(</a:t>
            </a:r>
            <a:r>
              <a:rPr lang="zh-CN" altLang="en-US" sz="10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安全组严格控制</a:t>
            </a:r>
            <a:r>
              <a:rPr lang="en-US" altLang="zh-CN" sz="10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)</a:t>
            </a:r>
            <a:endParaRPr lang="en-US" altLang="zh-CN" sz="1000" dirty="0"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93" name="Rectangle 61"/>
          <p:cNvSpPr/>
          <p:nvPr>
            <p:custDataLst>
              <p:tags r:id="rId16"/>
            </p:custDataLst>
          </p:nvPr>
        </p:nvSpPr>
        <p:spPr>
          <a:xfrm>
            <a:off x="3828729" y="1521529"/>
            <a:ext cx="7590738" cy="4811022"/>
          </a:xfrm>
          <a:prstGeom prst="rect">
            <a:avLst/>
          </a:prstGeom>
          <a:noFill/>
          <a:ln w="127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3" tIns="9140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ln w="0"/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 VPC</a:t>
            </a:r>
            <a:endParaRPr lang="en-US" sz="1200" b="1" i="1" dirty="0">
              <a:ln w="0"/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Rectangle 63"/>
          <p:cNvSpPr/>
          <p:nvPr>
            <p:custDataLst>
              <p:tags r:id="rId17"/>
            </p:custDataLst>
          </p:nvPr>
        </p:nvSpPr>
        <p:spPr>
          <a:xfrm>
            <a:off x="5587365" y="2164080"/>
            <a:ext cx="3004820" cy="2484755"/>
          </a:xfrm>
          <a:prstGeom prst="rect">
            <a:avLst/>
          </a:prstGeom>
          <a:noFill/>
          <a:ln w="12700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3" tIns="9140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rgbClr val="D8661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Rectangle 64"/>
          <p:cNvSpPr/>
          <p:nvPr>
            <p:custDataLst>
              <p:tags r:id="rId18"/>
            </p:custDataLst>
          </p:nvPr>
        </p:nvSpPr>
        <p:spPr>
          <a:xfrm>
            <a:off x="6036505" y="2626613"/>
            <a:ext cx="1095001" cy="1567280"/>
          </a:xfrm>
          <a:prstGeom prst="rect">
            <a:avLst/>
          </a:prstGeom>
          <a:noFill/>
          <a:ln w="12700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08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6" name="Graphic 35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939" y="1808378"/>
            <a:ext cx="315488" cy="306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Rectangle 66"/>
          <p:cNvSpPr/>
          <p:nvPr>
            <p:custDataLst>
              <p:tags r:id="rId21"/>
            </p:custDataLst>
          </p:nvPr>
        </p:nvSpPr>
        <p:spPr>
          <a:xfrm>
            <a:off x="7349236" y="2626613"/>
            <a:ext cx="1156575" cy="1567280"/>
          </a:xfrm>
          <a:prstGeom prst="rect">
            <a:avLst/>
          </a:prstGeom>
          <a:noFill/>
          <a:ln w="12700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08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D8661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Rectangle 68"/>
          <p:cNvSpPr/>
          <p:nvPr>
            <p:custDataLst>
              <p:tags r:id="rId22"/>
            </p:custDataLst>
          </p:nvPr>
        </p:nvSpPr>
        <p:spPr>
          <a:xfrm>
            <a:off x="5858765" y="2229239"/>
            <a:ext cx="2647046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/>
            <a:r>
              <a:rPr lang="zh-CN" altLang="en-US" sz="1200" b="1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云容器</a:t>
            </a:r>
            <a:r>
              <a:rPr lang="zh-CN" altLang="en-US" sz="1200" b="1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集群</a:t>
            </a:r>
            <a:endParaRPr lang="zh-CN" altLang="en-US" sz="1200" b="1" dirty="0"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Rectangle 69"/>
          <p:cNvSpPr/>
          <p:nvPr>
            <p:custDataLst>
              <p:tags r:id="rId23"/>
            </p:custDataLst>
          </p:nvPr>
        </p:nvSpPr>
        <p:spPr>
          <a:xfrm>
            <a:off x="8691205" y="3481659"/>
            <a:ext cx="1087384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/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安全组规则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允许</a:t>
            </a:r>
            <a:b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</a:br>
            <a:r>
              <a:rPr lang="en-US" altLang="zh-CN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TLS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加密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传输</a:t>
            </a:r>
            <a:endParaRPr lang="zh-CN" alt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Rectangle 70"/>
          <p:cNvSpPr/>
          <p:nvPr>
            <p:custDataLst>
              <p:tags r:id="rId24"/>
            </p:custDataLst>
          </p:nvPr>
        </p:nvSpPr>
        <p:spPr>
          <a:xfrm>
            <a:off x="4222294" y="3630205"/>
            <a:ext cx="940749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/>
            <a:r>
              <a:rPr lang="zh-CN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负载均衡</a:t>
            </a:r>
            <a:endParaRPr lang="zh-CN" altLang="en-US" sz="900" b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Rectangle 78"/>
          <p:cNvSpPr/>
          <p:nvPr>
            <p:custDataLst>
              <p:tags r:id="rId25"/>
            </p:custDataLst>
          </p:nvPr>
        </p:nvSpPr>
        <p:spPr>
          <a:xfrm>
            <a:off x="6037774" y="3315988"/>
            <a:ext cx="1091192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service-ui</a:t>
            </a:r>
            <a:endParaRPr 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Rectangle 79"/>
          <p:cNvSpPr/>
          <p:nvPr>
            <p:custDataLst>
              <p:tags r:id="rId26"/>
            </p:custDataLst>
          </p:nvPr>
        </p:nvSpPr>
        <p:spPr>
          <a:xfrm>
            <a:off x="6039044" y="3931727"/>
            <a:ext cx="1092462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pods-ui</a:t>
            </a:r>
            <a:endParaRPr 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80"/>
          <p:cNvSpPr/>
          <p:nvPr>
            <p:custDataLst>
              <p:tags r:id="rId27"/>
            </p:custDataLst>
          </p:nvPr>
        </p:nvSpPr>
        <p:spPr>
          <a:xfrm>
            <a:off x="7430489" y="3322335"/>
            <a:ext cx="9655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service-app</a:t>
            </a:r>
            <a:endParaRPr 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Rectangle 81"/>
          <p:cNvSpPr/>
          <p:nvPr>
            <p:custDataLst>
              <p:tags r:id="rId28"/>
            </p:custDataLst>
          </p:nvPr>
        </p:nvSpPr>
        <p:spPr>
          <a:xfrm>
            <a:off x="7361298" y="3917127"/>
            <a:ext cx="1144514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pods-app</a:t>
            </a:r>
            <a:endParaRPr 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07" name="Straight Arrow Connector 85"/>
          <p:cNvCxnSpPr/>
          <p:nvPr>
            <p:custDataLst>
              <p:tags r:id="rId29"/>
            </p:custDataLst>
          </p:nvPr>
        </p:nvCxnSpPr>
        <p:spPr>
          <a:xfrm>
            <a:off x="4904687" y="3407397"/>
            <a:ext cx="1096271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86"/>
          <p:cNvCxnSpPr/>
          <p:nvPr>
            <p:custDataLst>
              <p:tags r:id="rId30"/>
            </p:custDataLst>
          </p:nvPr>
        </p:nvCxnSpPr>
        <p:spPr>
          <a:xfrm flipV="1">
            <a:off x="7128967" y="3404222"/>
            <a:ext cx="231696" cy="380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87"/>
          <p:cNvCxnSpPr/>
          <p:nvPr>
            <p:custDataLst>
              <p:tags r:id="rId31"/>
            </p:custDataLst>
          </p:nvPr>
        </p:nvCxnSpPr>
        <p:spPr>
          <a:xfrm>
            <a:off x="8592777" y="3435326"/>
            <a:ext cx="1195932" cy="10156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94"/>
          <p:cNvSpPr/>
          <p:nvPr>
            <p:custDataLst>
              <p:tags r:id="rId32"/>
            </p:custDataLst>
          </p:nvPr>
        </p:nvSpPr>
        <p:spPr>
          <a:xfrm>
            <a:off x="5979375" y="2686282"/>
            <a:ext cx="1201644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deployment-ui</a:t>
            </a:r>
            <a:endParaRPr 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Rectangle 95"/>
          <p:cNvSpPr/>
          <p:nvPr>
            <p:custDataLst>
              <p:tags r:id="rId33"/>
            </p:custDataLst>
          </p:nvPr>
        </p:nvSpPr>
        <p:spPr>
          <a:xfrm>
            <a:off x="7360663" y="2683109"/>
            <a:ext cx="1144514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deployment-app</a:t>
            </a:r>
            <a:endParaRPr 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Rectangle 164"/>
          <p:cNvSpPr/>
          <p:nvPr>
            <p:custDataLst>
              <p:tags r:id="rId34"/>
            </p:custDataLst>
          </p:nvPr>
        </p:nvSpPr>
        <p:spPr>
          <a:xfrm>
            <a:off x="5196687" y="3492457"/>
            <a:ext cx="841722" cy="3683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 defTabSz="1097280"/>
            <a:r>
              <a:rPr 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Kubernetes</a:t>
            </a:r>
            <a:endParaRPr lang="en-US" sz="900" b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Ingress</a:t>
            </a:r>
            <a:endParaRPr lang="en-US" sz="900" b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pic>
        <p:nvPicPr>
          <p:cNvPr id="174" name="Graphic 6"/>
          <p:cNvPicPr>
            <a:picLocks noChangeAspect="1" noChangeArrowheads="1"/>
          </p:cNvPicPr>
          <p:nvPr>
            <p:custDataLst>
              <p:tags r:id="rId35"/>
            </p:custDataLst>
          </p:nvPr>
        </p:nvPicPr>
        <p:blipFill>
          <a:blip/>
          <a:srcRect/>
          <a:stretch>
            <a:fillRect/>
          </a:stretch>
        </p:blipFill>
        <p:spPr bwMode="auto">
          <a:xfrm>
            <a:off x="3828729" y="1521529"/>
            <a:ext cx="420861" cy="40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" name="Graphic 23"/>
          <p:cNvPicPr>
            <a:picLocks noChangeAspect="1" noChangeArrowheads="1"/>
          </p:cNvPicPr>
          <p:nvPr>
            <p:custDataLst>
              <p:tags r:id="rId36"/>
            </p:custDataLst>
          </p:nvPr>
        </p:nvPicPr>
        <p:blipFill>
          <a:blip/>
          <a:srcRect/>
          <a:stretch>
            <a:fillRect/>
          </a:stretch>
        </p:blipFill>
        <p:spPr bwMode="auto">
          <a:xfrm>
            <a:off x="5580096" y="2167030"/>
            <a:ext cx="420861" cy="40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8" name="Graphic 177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/>
          <a:stretch>
            <a:fillRect/>
          </a:stretch>
        </p:blipFill>
        <p:spPr>
          <a:xfrm>
            <a:off x="6356436" y="2912900"/>
            <a:ext cx="420861" cy="408165"/>
          </a:xfrm>
          <a:prstGeom prst="rect">
            <a:avLst/>
          </a:prstGeom>
        </p:spPr>
      </p:pic>
      <p:pic>
        <p:nvPicPr>
          <p:cNvPr id="179" name="Graphic 178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/>
          <a:stretch>
            <a:fillRect/>
          </a:stretch>
        </p:blipFill>
        <p:spPr>
          <a:xfrm>
            <a:off x="7721219" y="2941466"/>
            <a:ext cx="420861" cy="408165"/>
          </a:xfrm>
          <a:prstGeom prst="rect">
            <a:avLst/>
          </a:prstGeom>
        </p:spPr>
      </p:pic>
      <p:pic>
        <p:nvPicPr>
          <p:cNvPr id="180" name="Graphic 179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/>
          <a:stretch>
            <a:fillRect/>
          </a:stretch>
        </p:blipFill>
        <p:spPr>
          <a:xfrm>
            <a:off x="6312635" y="3508962"/>
            <a:ext cx="526236" cy="510365"/>
          </a:xfrm>
          <a:prstGeom prst="rect">
            <a:avLst/>
          </a:prstGeom>
        </p:spPr>
      </p:pic>
      <p:pic>
        <p:nvPicPr>
          <p:cNvPr id="181" name="Graphic 180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/>
          <a:stretch>
            <a:fillRect/>
          </a:stretch>
        </p:blipFill>
        <p:spPr>
          <a:xfrm>
            <a:off x="7660280" y="3494996"/>
            <a:ext cx="526236" cy="510365"/>
          </a:xfrm>
          <a:prstGeom prst="rect">
            <a:avLst/>
          </a:prstGeom>
        </p:spPr>
      </p:pic>
      <p:cxnSp>
        <p:nvCxnSpPr>
          <p:cNvPr id="113" name="Elbow Connector 33"/>
          <p:cNvCxnSpPr/>
          <p:nvPr/>
        </p:nvCxnSpPr>
        <p:spPr>
          <a:xfrm flipV="1">
            <a:off x="6463030" y="5094605"/>
            <a:ext cx="719455" cy="504190"/>
          </a:xfrm>
          <a:prstGeom prst="bentConnector3">
            <a:avLst>
              <a:gd name="adj1" fmla="val 99735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37"/>
          <p:cNvCxnSpPr/>
          <p:nvPr/>
        </p:nvCxnSpPr>
        <p:spPr>
          <a:xfrm>
            <a:off x="5370617" y="5719350"/>
            <a:ext cx="2895246" cy="1460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Group 96"/>
          <p:cNvGrpSpPr/>
          <p:nvPr/>
        </p:nvGrpSpPr>
        <p:grpSpPr>
          <a:xfrm>
            <a:off x="3734780" y="5308645"/>
            <a:ext cx="2506759" cy="900122"/>
            <a:chOff x="5248" y="8284"/>
            <a:chExt cx="3949" cy="1418"/>
          </a:xfrm>
        </p:grpSpPr>
        <p:pic>
          <p:nvPicPr>
            <p:cNvPr id="116" name="Picture 12"/>
            <p:cNvPicPr/>
            <p:nvPr/>
          </p:nvPicPr>
          <p:blipFill>
            <a:blip r:embed="rId41"/>
          </p:blipFill>
          <p:spPr>
            <a:xfrm>
              <a:off x="5758" y="8557"/>
              <a:ext cx="530" cy="565"/>
            </a:xfrm>
            <a:prstGeom prst="rect">
              <a:avLst/>
            </a:prstGeom>
          </p:spPr>
        </p:pic>
        <p:sp>
          <p:nvSpPr>
            <p:cNvPr id="117" name="Left Bracket 22"/>
            <p:cNvSpPr/>
            <p:nvPr/>
          </p:nvSpPr>
          <p:spPr>
            <a:xfrm rot="5400000">
              <a:off x="7422" y="6857"/>
              <a:ext cx="348" cy="3201"/>
            </a:xfrm>
            <a:prstGeom prst="leftBracket">
              <a:avLst>
                <a:gd name="adj" fmla="val 38819"/>
              </a:avLst>
            </a:prstGeom>
            <a:ln w="12700">
              <a:solidFill>
                <a:srgbClr val="545B64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18" name="Picture 3"/>
            <p:cNvPicPr/>
            <p:nvPr/>
          </p:nvPicPr>
          <p:blipFill>
            <a:blip r:embed="rId42"/>
          </p:blipFill>
          <p:spPr>
            <a:xfrm>
              <a:off x="7510" y="8445"/>
              <a:ext cx="585" cy="612"/>
            </a:xfrm>
            <a:prstGeom prst="rect">
              <a:avLst/>
            </a:prstGeom>
          </p:spPr>
        </p:pic>
        <p:sp>
          <p:nvSpPr>
            <p:cNvPr id="119" name="Rectangle 72"/>
            <p:cNvSpPr/>
            <p:nvPr>
              <p:custDataLst>
                <p:tags r:id="rId43"/>
              </p:custDataLst>
            </p:nvPr>
          </p:nvSpPr>
          <p:spPr>
            <a:xfrm>
              <a:off x="5248" y="9141"/>
              <a:ext cx="1453" cy="3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 defTabSz="1097280"/>
              <a:r>
                <a:rPr lang="zh-CN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代码</a:t>
              </a:r>
              <a:r>
                <a:rPr lang="zh-CN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仓库</a:t>
              </a:r>
              <a:endParaRPr lang="zh-CN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Rectangle 72"/>
            <p:cNvSpPr/>
            <p:nvPr>
              <p:custDataLst>
                <p:tags r:id="rId44"/>
              </p:custDataLst>
            </p:nvPr>
          </p:nvSpPr>
          <p:spPr>
            <a:xfrm>
              <a:off x="7217" y="9122"/>
              <a:ext cx="1278" cy="5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 defTabSz="1097280"/>
              <a:r>
                <a:rPr lang="en-US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Code</a:t>
              </a:r>
              <a:endParaRPr lang="en-US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  <a:p>
              <a:pPr algn="ctr" defTabSz="1097280"/>
              <a:r>
                <a:rPr lang="en-US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Commit</a:t>
              </a:r>
              <a:endParaRPr lang="en-US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1" name="Straight Arrow Connector 39"/>
            <p:cNvCxnSpPr/>
            <p:nvPr>
              <p:custDataLst>
                <p:tags r:id="rId45"/>
              </p:custDataLst>
            </p:nvPr>
          </p:nvCxnSpPr>
          <p:spPr>
            <a:xfrm flipV="1">
              <a:off x="6288" y="8833"/>
              <a:ext cx="1287" cy="14"/>
            </a:xfrm>
            <a:prstGeom prst="straightConnector1">
              <a:avLst/>
            </a:prstGeom>
            <a:ln w="12700">
              <a:solidFill>
                <a:srgbClr val="545B64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70"/>
          <p:cNvSpPr/>
          <p:nvPr>
            <p:custDataLst>
              <p:tags r:id="rId46"/>
            </p:custDataLst>
          </p:nvPr>
        </p:nvSpPr>
        <p:spPr>
          <a:xfrm>
            <a:off x="6619236" y="5799334"/>
            <a:ext cx="940749" cy="22987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1097280"/>
            <a:r>
              <a:rPr 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Push to Registry</a:t>
            </a:r>
            <a:endParaRPr 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Rectangle 70"/>
          <p:cNvSpPr/>
          <p:nvPr>
            <p:custDataLst>
              <p:tags r:id="rId47"/>
            </p:custDataLst>
          </p:nvPr>
        </p:nvSpPr>
        <p:spPr>
          <a:xfrm>
            <a:off x="7182485" y="5238750"/>
            <a:ext cx="867410" cy="22987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1097280"/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上传</a:t>
            </a:r>
            <a:r>
              <a:rPr lang="en-US" altLang="zh-CN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k8s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集群</a:t>
            </a:r>
            <a:endParaRPr lang="zh-CN" alt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24" name="Straight Arrow Connector 77"/>
          <p:cNvCxnSpPr/>
          <p:nvPr>
            <p:custDataLst>
              <p:tags r:id="rId48"/>
            </p:custDataLst>
          </p:nvPr>
        </p:nvCxnSpPr>
        <p:spPr>
          <a:xfrm>
            <a:off x="4806330" y="2862764"/>
            <a:ext cx="791845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70"/>
          <p:cNvSpPr/>
          <p:nvPr>
            <p:custDataLst>
              <p:tags r:id="rId49"/>
            </p:custDataLst>
          </p:nvPr>
        </p:nvSpPr>
        <p:spPr>
          <a:xfrm>
            <a:off x="2624545" y="5214063"/>
            <a:ext cx="1110235" cy="443079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代码提交和</a:t>
            </a:r>
            <a:endParaRPr lang="zh-CN" alt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镜像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推送</a:t>
            </a:r>
            <a:endParaRPr lang="zh-CN" alt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pic>
        <p:nvPicPr>
          <p:cNvPr id="126" name="oss对象存储.png" descr="oss对象存储.png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10198778" y="1521529"/>
            <a:ext cx="684296" cy="68429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7" name="rds 云数据库 PPAS 版.png" descr="rds 云数据库 PPAS 版.png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10198778" y="2966295"/>
            <a:ext cx="579557" cy="57955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1" name="云数据库 redis.png" descr="云数据库 redis.png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/>
          <a:stretch>
            <a:fillRect/>
          </a:stretch>
        </p:blipFill>
        <p:spPr>
          <a:xfrm>
            <a:off x="10236355" y="3831015"/>
            <a:ext cx="507828" cy="5078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2" name="mq消息队列.png" descr="mq消息队列.png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10236230" y="4648373"/>
            <a:ext cx="550357" cy="55035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28" name="组合 127"/>
          <p:cNvGrpSpPr/>
          <p:nvPr/>
        </p:nvGrpSpPr>
        <p:grpSpPr>
          <a:xfrm>
            <a:off x="2934335" y="3206115"/>
            <a:ext cx="490855" cy="596265"/>
            <a:chOff x="3816" y="4326"/>
            <a:chExt cx="701" cy="939"/>
          </a:xfrm>
        </p:grpSpPr>
        <p:sp>
          <p:nvSpPr>
            <p:cNvPr id="129" name="Rectangle 70"/>
            <p:cNvSpPr/>
            <p:nvPr>
              <p:custDataLst>
                <p:tags r:id="rId58"/>
              </p:custDataLst>
            </p:nvPr>
          </p:nvSpPr>
          <p:spPr>
            <a:xfrm>
              <a:off x="3816" y="4903"/>
              <a:ext cx="701" cy="3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 defTabSz="1097280"/>
              <a:r>
                <a:rPr 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WAF</a:t>
              </a:r>
              <a:endParaRPr 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0" name="Web应用防火墙waf.png" descr="Web应用防火墙waf.png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60"/>
            <a:stretch>
              <a:fillRect/>
            </a:stretch>
          </p:blipFill>
          <p:spPr>
            <a:xfrm>
              <a:off x="3816" y="4326"/>
              <a:ext cx="660" cy="66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135" name="组合 134"/>
          <p:cNvGrpSpPr/>
          <p:nvPr/>
        </p:nvGrpSpPr>
        <p:grpSpPr>
          <a:xfrm>
            <a:off x="4169410" y="2433955"/>
            <a:ext cx="920750" cy="598805"/>
            <a:chOff x="5875" y="3252"/>
            <a:chExt cx="1450" cy="943"/>
          </a:xfrm>
        </p:grpSpPr>
        <p:sp>
          <p:nvSpPr>
            <p:cNvPr id="131" name="Rectangle 70"/>
            <p:cNvSpPr/>
            <p:nvPr>
              <p:custDataLst>
                <p:tags r:id="rId61"/>
              </p:custDataLst>
            </p:nvPr>
          </p:nvSpPr>
          <p:spPr>
            <a:xfrm>
              <a:off x="5875" y="3833"/>
              <a:ext cx="1451" cy="3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 defTabSz="1097280"/>
              <a:r>
                <a:rPr 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ARMS</a:t>
              </a:r>
              <a:endParaRPr 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96" name="arms业务实时监控服务.png" descr="arms业务实时监控服务.png"/>
            <p:cNvPicPr>
              <a:picLocks noChangeAspect="1"/>
            </p:cNvPicPr>
            <p:nvPr>
              <p:custDataLst>
                <p:tags r:id="rId62"/>
              </p:custDataLst>
            </p:nvPr>
          </p:nvPicPr>
          <p:blipFill>
            <a:blip r:embed="rId63"/>
            <a:stretch>
              <a:fillRect/>
            </a:stretch>
          </p:blipFill>
          <p:spPr>
            <a:xfrm>
              <a:off x="6311" y="3252"/>
              <a:ext cx="800" cy="80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pic>
        <p:nvPicPr>
          <p:cNvPr id="132" name="slb负载均衡.png" descr="slb负载均衡.png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/>
          <a:stretch>
            <a:fillRect/>
          </a:stretch>
        </p:blipFill>
        <p:spPr>
          <a:xfrm>
            <a:off x="4441318" y="3160659"/>
            <a:ext cx="507828" cy="5078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3" name="Picture 178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5979313" y="5540214"/>
            <a:ext cx="536412" cy="397092"/>
          </a:xfrm>
          <a:prstGeom prst="rect">
            <a:avLst/>
          </a:prstGeom>
        </p:spPr>
      </p:pic>
      <p:sp>
        <p:nvSpPr>
          <p:cNvPr id="134" name="Rectangle 70"/>
          <p:cNvSpPr/>
          <p:nvPr>
            <p:custDataLst>
              <p:tags r:id="rId68"/>
            </p:custDataLst>
          </p:nvPr>
        </p:nvSpPr>
        <p:spPr>
          <a:xfrm>
            <a:off x="4657121" y="5067428"/>
            <a:ext cx="1110235" cy="443079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endParaRPr 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36" name="Curved Connector 73"/>
          <p:cNvCxnSpPr/>
          <p:nvPr/>
        </p:nvCxnSpPr>
        <p:spPr>
          <a:xfrm rot="10800000" flipV="1">
            <a:off x="8581986" y="1970321"/>
            <a:ext cx="1686619" cy="794749"/>
          </a:xfrm>
          <a:prstGeom prst="curvedConnector3">
            <a:avLst>
              <a:gd name="adj1" fmla="val 49981"/>
            </a:avLst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 Box 74"/>
          <p:cNvSpPr txBox="1"/>
          <p:nvPr/>
        </p:nvSpPr>
        <p:spPr>
          <a:xfrm>
            <a:off x="3002241" y="5707924"/>
            <a:ext cx="627801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CI/CD</a:t>
            </a:r>
            <a:endParaRPr lang="en-US" sz="900" b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138" name="Picture 91" descr="images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265863" y="5529550"/>
            <a:ext cx="539566" cy="585904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574290" y="1134110"/>
            <a:ext cx="466725" cy="438150"/>
          </a:xfrm>
          <a:prstGeom prst="rect">
            <a:avLst/>
          </a:prstGeom>
        </p:spPr>
      </p:pic>
      <p:pic>
        <p:nvPicPr>
          <p:cNvPr id="141" name="图片 140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828415" y="1521460"/>
            <a:ext cx="428625" cy="438150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601470" y="1367790"/>
            <a:ext cx="514350" cy="495300"/>
          </a:xfrm>
          <a:prstGeom prst="rect">
            <a:avLst/>
          </a:prstGeom>
        </p:spPr>
      </p:pic>
      <p:pic>
        <p:nvPicPr>
          <p:cNvPr id="143" name="图片 142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610995" y="5410835"/>
            <a:ext cx="514350" cy="495300"/>
          </a:xfrm>
          <a:prstGeom prst="rect">
            <a:avLst/>
          </a:prstGeom>
        </p:spPr>
      </p:pic>
      <p:pic>
        <p:nvPicPr>
          <p:cNvPr id="144" name="Graphic 23"/>
          <p:cNvPicPr>
            <a:picLocks noChangeAspect="1" noChangeArrowheads="1"/>
          </p:cNvPicPr>
          <p:nvPr>
            <p:custDataLst>
              <p:tags r:id="rId73"/>
            </p:custDataLst>
          </p:nvPr>
        </p:nvPicPr>
        <p:blipFill>
          <a:blip/>
          <a:srcRect/>
          <a:stretch>
            <a:fillRect/>
          </a:stretch>
        </p:blipFill>
        <p:spPr bwMode="auto">
          <a:xfrm>
            <a:off x="5579745" y="2167255"/>
            <a:ext cx="421005" cy="420370"/>
          </a:xfrm>
          <a:prstGeom prst="rect">
            <a:avLst/>
          </a:prstGeom>
          <a:solidFill>
            <a:schemeClr val="accent6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" name="Picture 50" descr="A close up of a sign&#10;&#10;Description automatically generated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/>
          <a:stretch>
            <a:fillRect/>
          </a:stretch>
        </p:blipFill>
        <p:spPr>
          <a:xfrm>
            <a:off x="5600542" y="2183394"/>
            <a:ext cx="378449" cy="363464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6356350" y="2885440"/>
            <a:ext cx="361950" cy="447675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720965" y="2912745"/>
            <a:ext cx="361950" cy="447675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6318885" y="3589020"/>
            <a:ext cx="542925" cy="342900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643495" y="3574415"/>
            <a:ext cx="542925" cy="342900"/>
          </a:xfrm>
          <a:prstGeom prst="rect">
            <a:avLst/>
          </a:prstGeom>
        </p:spPr>
      </p:pic>
      <p:sp>
        <p:nvSpPr>
          <p:cNvPr id="150" name="Rectangle 70"/>
          <p:cNvSpPr/>
          <p:nvPr>
            <p:custDataLst>
              <p:tags r:id="rId78"/>
            </p:custDataLst>
          </p:nvPr>
        </p:nvSpPr>
        <p:spPr>
          <a:xfrm>
            <a:off x="2501010" y="1612181"/>
            <a:ext cx="849340" cy="358018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HTTPS</a:t>
            </a:r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流量</a:t>
            </a:r>
            <a:r>
              <a:rPr 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 </a:t>
            </a:r>
            <a:endParaRPr 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443</a:t>
            </a:r>
            <a:endParaRPr 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Rectangle 70"/>
          <p:cNvSpPr/>
          <p:nvPr>
            <p:custDataLst>
              <p:tags r:id="rId79"/>
            </p:custDataLst>
          </p:nvPr>
        </p:nvSpPr>
        <p:spPr>
          <a:xfrm>
            <a:off x="2574290" y="4005580"/>
            <a:ext cx="1136650" cy="358140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en-US" altLang="zh-CN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IOT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订阅</a:t>
            </a:r>
            <a:endParaRPr lang="en-US" altLang="zh-CN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53" name="Rectangle 100"/>
          <p:cNvSpPr/>
          <p:nvPr>
            <p:custDataLst>
              <p:tags r:id="rId80"/>
            </p:custDataLst>
          </p:nvPr>
        </p:nvSpPr>
        <p:spPr>
          <a:xfrm>
            <a:off x="1393190" y="4868545"/>
            <a:ext cx="9982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/>
            <a:r>
              <a:rPr lang="en-US" altLang="zh-CN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G7</a:t>
            </a:r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易流</a:t>
            </a:r>
            <a:endParaRPr lang="zh-CN" alt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en-US" altLang="zh-CN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IoT</a:t>
            </a:r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数据</a:t>
            </a:r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及服务</a:t>
            </a:r>
            <a:endParaRPr lang="en-US" altLang="zh-CN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Rectangle 100"/>
          <p:cNvSpPr/>
          <p:nvPr>
            <p:custDataLst>
              <p:tags r:id="rId81"/>
            </p:custDataLst>
          </p:nvPr>
        </p:nvSpPr>
        <p:spPr>
          <a:xfrm>
            <a:off x="1393190" y="4060825"/>
            <a:ext cx="9975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/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中交兴路</a:t>
            </a:r>
            <a:endParaRPr lang="zh-CN" alt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en-US" altLang="zh-CN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IoT</a:t>
            </a:r>
            <a:r>
              <a:rPr lang="zh-CN" altLang="en-US" sz="10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数据</a:t>
            </a:r>
            <a:endParaRPr lang="zh-CN" altLang="en-US" sz="10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Rectangle 62"/>
          <p:cNvSpPr/>
          <p:nvPr>
            <p:custDataLst>
              <p:tags r:id="rId82"/>
            </p:custDataLst>
          </p:nvPr>
        </p:nvSpPr>
        <p:spPr>
          <a:xfrm>
            <a:off x="1377315" y="3330575"/>
            <a:ext cx="1014730" cy="200279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3" tIns="9140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 dirty="0">
              <a:solidFill>
                <a:schemeClr val="tx1"/>
              </a:solidFill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384935" y="3467100"/>
            <a:ext cx="1016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物联网</a:t>
            </a:r>
            <a:endParaRPr lang="zh-CN" altLang="en-US" sz="1000" b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164" name="Elbow Connector 33"/>
          <p:cNvCxnSpPr/>
          <p:nvPr/>
        </p:nvCxnSpPr>
        <p:spPr>
          <a:xfrm>
            <a:off x="2123440" y="4034790"/>
            <a:ext cx="6953885" cy="600075"/>
          </a:xfrm>
          <a:prstGeom prst="bentConnector4">
            <a:avLst>
              <a:gd name="adj1" fmla="val 47512"/>
              <a:gd name="adj2" fmla="val 128888"/>
            </a:avLst>
          </a:prstGeom>
          <a:ln w="3175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5" name="组合 164"/>
          <p:cNvGrpSpPr/>
          <p:nvPr/>
        </p:nvGrpSpPr>
        <p:grpSpPr>
          <a:xfrm>
            <a:off x="2891155" y="2301240"/>
            <a:ext cx="553720" cy="605790"/>
            <a:chOff x="4270" y="3560"/>
            <a:chExt cx="809" cy="954"/>
          </a:xfrm>
        </p:grpSpPr>
        <p:pic>
          <p:nvPicPr>
            <p:cNvPr id="166" name="图片 165" descr="DDoS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4317" y="3560"/>
              <a:ext cx="652" cy="652"/>
            </a:xfrm>
            <a:prstGeom prst="rect">
              <a:avLst/>
            </a:prstGeom>
          </p:spPr>
        </p:pic>
        <p:sp>
          <p:nvSpPr>
            <p:cNvPr id="167" name="Rectangle 70"/>
            <p:cNvSpPr/>
            <p:nvPr>
              <p:custDataLst>
                <p:tags r:id="rId84"/>
              </p:custDataLst>
            </p:nvPr>
          </p:nvSpPr>
          <p:spPr>
            <a:xfrm>
              <a:off x="4270" y="4152"/>
              <a:ext cx="809" cy="3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 defTabSz="1097280"/>
              <a:r>
                <a:rPr 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DD</a:t>
              </a:r>
              <a:r>
                <a:rPr 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OS</a:t>
              </a:r>
              <a:endParaRPr 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8" name="Rectangle 70"/>
          <p:cNvSpPr/>
          <p:nvPr>
            <p:custDataLst>
              <p:tags r:id="rId85"/>
            </p:custDataLst>
          </p:nvPr>
        </p:nvSpPr>
        <p:spPr>
          <a:xfrm>
            <a:off x="9900285" y="5598795"/>
            <a:ext cx="1256665" cy="358140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noAutofit/>
          </a:bodyPr>
          <a:p>
            <a:pPr algn="ctr" defTabSz="1097280"/>
            <a:r>
              <a:rPr lang="en-US" altLang="zh-CN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Note: </a:t>
            </a:r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以上组件仅允许后端服务</a:t>
            </a:r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访问</a:t>
            </a:r>
            <a:endParaRPr lang="zh-CN" alt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69" name="直接箭头连接符 168"/>
          <p:cNvCxnSpPr/>
          <p:nvPr/>
        </p:nvCxnSpPr>
        <p:spPr>
          <a:xfrm flipH="1">
            <a:off x="3165475" y="2907030"/>
            <a:ext cx="2540" cy="299085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70"/>
          <p:cNvSpPr/>
          <p:nvPr>
            <p:custDataLst>
              <p:tags r:id="rId86"/>
            </p:custDataLst>
          </p:nvPr>
        </p:nvSpPr>
        <p:spPr>
          <a:xfrm>
            <a:off x="4014215" y="4634781"/>
            <a:ext cx="849340" cy="358018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HTTPS </a:t>
            </a:r>
            <a:endParaRPr 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  <a:p>
            <a:pPr algn="ctr" defTabSz="1097280"/>
            <a:r>
              <a:rPr 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443</a:t>
            </a:r>
            <a:endParaRPr 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71" name="曲线连接符 170"/>
          <p:cNvCxnSpPr>
            <a:endCxn id="132" idx="1"/>
          </p:cNvCxnSpPr>
          <p:nvPr/>
        </p:nvCxnSpPr>
        <p:spPr>
          <a:xfrm flipV="1">
            <a:off x="3396615" y="3414395"/>
            <a:ext cx="1044575" cy="1270"/>
          </a:xfrm>
          <a:prstGeom prst="curvedConnector3">
            <a:avLst>
              <a:gd name="adj1" fmla="val 50030"/>
            </a:avLst>
          </a:prstGeom>
          <a:ln w="9525">
            <a:solidFill>
              <a:schemeClr val="tx2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/>
        </p:nvSpPr>
        <p:spPr>
          <a:xfrm>
            <a:off x="8743315" y="2726690"/>
            <a:ext cx="10464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1097280"/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安全组规则允许</a:t>
            </a:r>
            <a:b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</a:br>
            <a:r>
              <a:rPr lang="en-US" altLang="zh-CN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TLS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加密传输</a:t>
            </a:r>
            <a:endParaRPr lang="zh-CN" altLang="en-US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grpSp>
        <p:nvGrpSpPr>
          <p:cNvPr id="175" name="组合 174"/>
          <p:cNvGrpSpPr/>
          <p:nvPr/>
        </p:nvGrpSpPr>
        <p:grpSpPr>
          <a:xfrm>
            <a:off x="8730615" y="4086225"/>
            <a:ext cx="693420" cy="548640"/>
            <a:chOff x="8240" y="6987"/>
            <a:chExt cx="1092" cy="864"/>
          </a:xfrm>
        </p:grpSpPr>
        <p:sp>
          <p:nvSpPr>
            <p:cNvPr id="176" name="Rectangle 72"/>
            <p:cNvSpPr/>
            <p:nvPr>
              <p:custDataLst>
                <p:tags r:id="rId87"/>
              </p:custDataLst>
            </p:nvPr>
          </p:nvSpPr>
          <p:spPr>
            <a:xfrm>
              <a:off x="8240" y="7489"/>
              <a:ext cx="1092" cy="3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 defTabSz="1097280"/>
              <a:r>
                <a:rPr lang="en-US" altLang="zh-CN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NAT </a:t>
              </a:r>
              <a:r>
                <a:rPr lang="zh-CN" altLang="en-US" sz="900" b="1" dirty="0">
                  <a:latin typeface="Calibri" panose="020F0502020204030204" pitchFamily="34" charset="0"/>
                  <a:ea typeface="Amazon Ember" panose="020B0603020204020204" pitchFamily="34" charset="0"/>
                  <a:cs typeface="Calibri" panose="020F0502020204030204" pitchFamily="34" charset="0"/>
                </a:rPr>
                <a:t>网关</a:t>
              </a:r>
              <a:endParaRPr lang="zh-CN" altLang="en-US" sz="900" b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82" name="图片 181" descr="nat网关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8524" y="6987"/>
              <a:ext cx="613" cy="613"/>
            </a:xfrm>
            <a:prstGeom prst="rect">
              <a:avLst/>
            </a:prstGeom>
          </p:spPr>
        </p:pic>
      </p:grpSp>
      <p:cxnSp>
        <p:nvCxnSpPr>
          <p:cNvPr id="183" name="肘形连接符 182"/>
          <p:cNvCxnSpPr/>
          <p:nvPr/>
        </p:nvCxnSpPr>
        <p:spPr>
          <a:xfrm rot="5400000">
            <a:off x="5487670" y="1225550"/>
            <a:ext cx="171450" cy="7007225"/>
          </a:xfrm>
          <a:prstGeom prst="bentConnector2">
            <a:avLst/>
          </a:prstGeom>
          <a:ln w="3175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1998345" y="4806315"/>
            <a:ext cx="242443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1097280"/>
            <a:r>
              <a:rPr lang="en-US" altLang="zh-CN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IOT</a:t>
            </a:r>
            <a:r>
              <a:rPr lang="zh-CN" altLang="en-US" sz="900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  <a:sym typeface="+mn-ea"/>
              </a:rPr>
              <a:t>订阅</a:t>
            </a:r>
            <a:endParaRPr lang="en-US" altLang="zh-CN" sz="900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185" name="曲线连接符 184"/>
          <p:cNvCxnSpPr/>
          <p:nvPr/>
        </p:nvCxnSpPr>
        <p:spPr>
          <a:xfrm>
            <a:off x="8145145" y="3798570"/>
            <a:ext cx="765810" cy="482600"/>
          </a:xfrm>
          <a:prstGeom prst="curvedConnector3">
            <a:avLst>
              <a:gd name="adj1" fmla="val 50083"/>
            </a:avLst>
          </a:prstGeom>
          <a:ln w="9525">
            <a:solidFill>
              <a:srgbClr val="E93D15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Rectangle 70"/>
          <p:cNvSpPr/>
          <p:nvPr>
            <p:custDataLst>
              <p:tags r:id="rId89"/>
            </p:custDataLst>
          </p:nvPr>
        </p:nvSpPr>
        <p:spPr>
          <a:xfrm>
            <a:off x="8450580" y="3917315"/>
            <a:ext cx="662305" cy="358140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出口</a:t>
            </a:r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流量</a:t>
            </a:r>
            <a:endParaRPr lang="zh-CN" alt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87" name="肘形连接符 186"/>
          <p:cNvCxnSpPr/>
          <p:nvPr/>
        </p:nvCxnSpPr>
        <p:spPr>
          <a:xfrm>
            <a:off x="1997075" y="1810385"/>
            <a:ext cx="1149350" cy="490855"/>
          </a:xfrm>
          <a:prstGeom prst="bentConnector2">
            <a:avLst/>
          </a:prstGeom>
          <a:ln w="9525">
            <a:solidFill>
              <a:schemeClr val="tx2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8" name="Rectangle 70"/>
          <p:cNvSpPr/>
          <p:nvPr>
            <p:custDataLst>
              <p:tags r:id="rId90"/>
            </p:custDataLst>
          </p:nvPr>
        </p:nvSpPr>
        <p:spPr>
          <a:xfrm>
            <a:off x="3510280" y="3193415"/>
            <a:ext cx="662305" cy="358140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入口</a:t>
            </a:r>
            <a:r>
              <a:rPr lang="zh-CN" altLang="en-US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流量</a:t>
            </a:r>
            <a:endParaRPr lang="zh-CN" altLang="en-US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sp>
        <p:nvSpPr>
          <p:cNvPr id="189" name="Rectangle 70"/>
          <p:cNvSpPr/>
          <p:nvPr>
            <p:custDataLst>
              <p:tags r:id="rId91"/>
            </p:custDataLst>
          </p:nvPr>
        </p:nvSpPr>
        <p:spPr>
          <a:xfrm>
            <a:off x="4935855" y="2626360"/>
            <a:ext cx="662305" cy="358140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1097280"/>
            <a:r>
              <a:rPr lang="en-US" altLang="zh-CN" sz="900" i="1" dirty="0">
                <a:latin typeface="Calibri" panose="020F0502020204030204" pitchFamily="34" charset="0"/>
                <a:ea typeface="Amazon Ember" panose="020B0603020204020204" pitchFamily="34" charset="0"/>
                <a:cs typeface="Calibri" panose="020F0502020204030204" pitchFamily="34" charset="0"/>
              </a:rPr>
              <a:t>Agent</a:t>
            </a:r>
            <a:endParaRPr lang="en-US" altLang="zh-CN" sz="900" i="1" dirty="0">
              <a:latin typeface="Calibri" panose="020F0502020204030204" pitchFamily="34" charset="0"/>
              <a:ea typeface="Amazon Ember" panose="020B0603020204020204" pitchFamily="34" charset="0"/>
              <a:cs typeface="Calibri" panose="020F0502020204030204" pitchFamily="34" charset="0"/>
            </a:endParaRPr>
          </a:p>
        </p:txBody>
      </p:sp>
      <p:pic>
        <p:nvPicPr>
          <p:cNvPr id="190" name="图片 189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546225" y="3860800"/>
            <a:ext cx="608330" cy="200660"/>
          </a:xfrm>
          <a:prstGeom prst="rect">
            <a:avLst/>
          </a:prstGeom>
        </p:spPr>
      </p:pic>
      <p:grpSp>
        <p:nvGrpSpPr>
          <p:cNvPr id="191" name="组合 190"/>
          <p:cNvGrpSpPr/>
          <p:nvPr/>
        </p:nvGrpSpPr>
        <p:grpSpPr>
          <a:xfrm>
            <a:off x="1511300" y="4665980"/>
            <a:ext cx="522605" cy="149860"/>
            <a:chOff x="753364" y="592918"/>
            <a:chExt cx="2707155" cy="727884"/>
          </a:xfrm>
        </p:grpSpPr>
        <p:sp>
          <p:nvSpPr>
            <p:cNvPr id="192" name="任意多边形: 形状 5"/>
            <p:cNvSpPr/>
            <p:nvPr/>
          </p:nvSpPr>
          <p:spPr>
            <a:xfrm>
              <a:off x="1078825" y="902456"/>
              <a:ext cx="260027" cy="109192"/>
            </a:xfrm>
            <a:custGeom>
              <a:avLst/>
              <a:gdLst>
                <a:gd name="connsiteX0" fmla="*/ 379605 w 426858"/>
                <a:gd name="connsiteY0" fmla="*/ 145857 h 179249"/>
                <a:gd name="connsiteX1" fmla="*/ 379290 w 426858"/>
                <a:gd name="connsiteY1" fmla="*/ 145857 h 179249"/>
                <a:gd name="connsiteX2" fmla="*/ 426859 w 426858"/>
                <a:gd name="connsiteY2" fmla="*/ 0 h 179249"/>
                <a:gd name="connsiteX3" fmla="*/ 57335 w 426858"/>
                <a:gd name="connsiteY3" fmla="*/ 0 h 179249"/>
                <a:gd name="connsiteX4" fmla="*/ 51979 w 426858"/>
                <a:gd name="connsiteY4" fmla="*/ 16696 h 179249"/>
                <a:gd name="connsiteX5" fmla="*/ 51979 w 426858"/>
                <a:gd name="connsiteY5" fmla="*/ 16696 h 179249"/>
                <a:gd name="connsiteX6" fmla="*/ 0 w 426858"/>
                <a:gd name="connsiteY6" fmla="*/ 179249 h 179249"/>
                <a:gd name="connsiteX7" fmla="*/ 368579 w 426858"/>
                <a:gd name="connsiteY7" fmla="*/ 179249 h 17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6858" h="179249">
                  <a:moveTo>
                    <a:pt x="379605" y="145857"/>
                  </a:moveTo>
                  <a:lnTo>
                    <a:pt x="379290" y="145857"/>
                  </a:lnTo>
                  <a:lnTo>
                    <a:pt x="426859" y="0"/>
                  </a:lnTo>
                  <a:lnTo>
                    <a:pt x="57335" y="0"/>
                  </a:lnTo>
                  <a:lnTo>
                    <a:pt x="51979" y="16696"/>
                  </a:lnTo>
                  <a:lnTo>
                    <a:pt x="51979" y="16696"/>
                  </a:lnTo>
                  <a:lnTo>
                    <a:pt x="0" y="179249"/>
                  </a:lnTo>
                  <a:lnTo>
                    <a:pt x="368579" y="179249"/>
                  </a:lnTo>
                  <a:close/>
                </a:path>
              </a:pathLst>
            </a:custGeom>
            <a:solidFill>
              <a:srgbClr val="03CDB8"/>
            </a:solidFill>
            <a:ln w="31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753364" y="592918"/>
              <a:ext cx="2707155" cy="727884"/>
              <a:chOff x="1575235" y="2546902"/>
              <a:chExt cx="4444046" cy="1194889"/>
            </a:xfrm>
            <a:solidFill>
              <a:srgbClr val="4E0EA5"/>
            </a:solidFill>
          </p:grpSpPr>
          <p:sp>
            <p:nvSpPr>
              <p:cNvPr id="194" name="任意多边形: 形状 7"/>
              <p:cNvSpPr/>
              <p:nvPr/>
            </p:nvSpPr>
            <p:spPr>
              <a:xfrm>
                <a:off x="3873647" y="2567693"/>
                <a:ext cx="975316" cy="1168426"/>
              </a:xfrm>
              <a:custGeom>
                <a:avLst/>
                <a:gdLst>
                  <a:gd name="connsiteX0" fmla="*/ 242569 w 975316"/>
                  <a:gd name="connsiteY0" fmla="*/ 627214 h 1168426"/>
                  <a:gd name="connsiteX1" fmla="*/ 259581 w 975316"/>
                  <a:gd name="connsiteY1" fmla="*/ 563894 h 1168426"/>
                  <a:gd name="connsiteX2" fmla="*/ 869154 w 975316"/>
                  <a:gd name="connsiteY2" fmla="*/ 563579 h 1168426"/>
                  <a:gd name="connsiteX3" fmla="*/ 975317 w 975316"/>
                  <a:gd name="connsiteY3" fmla="*/ 0 h 1168426"/>
                  <a:gd name="connsiteX4" fmla="*/ 157828 w 975316"/>
                  <a:gd name="connsiteY4" fmla="*/ 0 h 1168426"/>
                  <a:gd name="connsiteX5" fmla="*/ 34023 w 975316"/>
                  <a:gd name="connsiteY5" fmla="*/ 563579 h 1168426"/>
                  <a:gd name="connsiteX6" fmla="*/ 111519 w 975316"/>
                  <a:gd name="connsiteY6" fmla="*/ 563579 h 1168426"/>
                  <a:gd name="connsiteX7" fmla="*/ 0 w 975316"/>
                  <a:gd name="connsiteY7" fmla="*/ 979727 h 1168426"/>
                  <a:gd name="connsiteX8" fmla="*/ 148062 w 975316"/>
                  <a:gd name="connsiteY8" fmla="*/ 979727 h 1168426"/>
                  <a:gd name="connsiteX9" fmla="*/ 201931 w 975316"/>
                  <a:gd name="connsiteY9" fmla="*/ 778426 h 1168426"/>
                  <a:gd name="connsiteX10" fmla="*/ 272182 w 975316"/>
                  <a:gd name="connsiteY10" fmla="*/ 778426 h 1168426"/>
                  <a:gd name="connsiteX11" fmla="*/ 169484 w 975316"/>
                  <a:gd name="connsiteY11" fmla="*/ 1162127 h 1168426"/>
                  <a:gd name="connsiteX12" fmla="*/ 318805 w 975316"/>
                  <a:gd name="connsiteY12" fmla="*/ 1162127 h 1168426"/>
                  <a:gd name="connsiteX13" fmla="*/ 421503 w 975316"/>
                  <a:gd name="connsiteY13" fmla="*/ 778426 h 1168426"/>
                  <a:gd name="connsiteX14" fmla="*/ 487028 w 975316"/>
                  <a:gd name="connsiteY14" fmla="*/ 778426 h 1168426"/>
                  <a:gd name="connsiteX15" fmla="*/ 384330 w 975316"/>
                  <a:gd name="connsiteY15" fmla="*/ 1162127 h 1168426"/>
                  <a:gd name="connsiteX16" fmla="*/ 533652 w 975316"/>
                  <a:gd name="connsiteY16" fmla="*/ 1162127 h 1168426"/>
                  <a:gd name="connsiteX17" fmla="*/ 636350 w 975316"/>
                  <a:gd name="connsiteY17" fmla="*/ 778426 h 1168426"/>
                  <a:gd name="connsiteX18" fmla="*/ 765510 w 975316"/>
                  <a:gd name="connsiteY18" fmla="*/ 778426 h 1168426"/>
                  <a:gd name="connsiteX19" fmla="*/ 745349 w 975316"/>
                  <a:gd name="connsiteY19" fmla="*/ 897821 h 1168426"/>
                  <a:gd name="connsiteX20" fmla="*/ 727077 w 975316"/>
                  <a:gd name="connsiteY20" fmla="*/ 954840 h 1168426"/>
                  <a:gd name="connsiteX21" fmla="*/ 634775 w 975316"/>
                  <a:gd name="connsiteY21" fmla="*/ 1014380 h 1168426"/>
                  <a:gd name="connsiteX22" fmla="*/ 629735 w 975316"/>
                  <a:gd name="connsiteY22" fmla="*/ 1014695 h 1168426"/>
                  <a:gd name="connsiteX23" fmla="*/ 588467 w 975316"/>
                  <a:gd name="connsiteY23" fmla="*/ 1168427 h 1168426"/>
                  <a:gd name="connsiteX24" fmla="*/ 625009 w 975316"/>
                  <a:gd name="connsiteY24" fmla="*/ 1168427 h 1168426"/>
                  <a:gd name="connsiteX25" fmla="*/ 858443 w 975316"/>
                  <a:gd name="connsiteY25" fmla="*/ 1039267 h 1168426"/>
                  <a:gd name="connsiteX26" fmla="*/ 897821 w 975316"/>
                  <a:gd name="connsiteY26" fmla="*/ 911997 h 1168426"/>
                  <a:gd name="connsiteX27" fmla="*/ 943499 w 975316"/>
                  <a:gd name="connsiteY27" fmla="*/ 626584 h 1168426"/>
                  <a:gd name="connsiteX28" fmla="*/ 781577 w 975316"/>
                  <a:gd name="connsiteY28" fmla="*/ 626584 h 1168426"/>
                  <a:gd name="connsiteX29" fmla="*/ 242569 w 975316"/>
                  <a:gd name="connsiteY29" fmla="*/ 627214 h 1168426"/>
                  <a:gd name="connsiteX30" fmla="*/ 277222 w 975316"/>
                  <a:gd name="connsiteY30" fmla="*/ 151527 h 1168426"/>
                  <a:gd name="connsiteX31" fmla="*/ 793863 w 975316"/>
                  <a:gd name="connsiteY31" fmla="*/ 151527 h 1168426"/>
                  <a:gd name="connsiteX32" fmla="*/ 779686 w 975316"/>
                  <a:gd name="connsiteY32" fmla="*/ 212327 h 1168426"/>
                  <a:gd name="connsiteX33" fmla="*/ 263676 w 975316"/>
                  <a:gd name="connsiteY33" fmla="*/ 212327 h 1168426"/>
                  <a:gd name="connsiteX34" fmla="*/ 277222 w 975316"/>
                  <a:gd name="connsiteY34" fmla="*/ 151527 h 1168426"/>
                  <a:gd name="connsiteX35" fmla="*/ 232803 w 975316"/>
                  <a:gd name="connsiteY35" fmla="*/ 355348 h 1168426"/>
                  <a:gd name="connsiteX36" fmla="*/ 754169 w 975316"/>
                  <a:gd name="connsiteY36" fmla="*/ 355348 h 1168426"/>
                  <a:gd name="connsiteX37" fmla="*/ 744089 w 975316"/>
                  <a:gd name="connsiteY37" fmla="*/ 412683 h 1168426"/>
                  <a:gd name="connsiteX38" fmla="*/ 220202 w 975316"/>
                  <a:gd name="connsiteY38" fmla="*/ 412683 h 1168426"/>
                  <a:gd name="connsiteX39" fmla="*/ 232803 w 975316"/>
                  <a:gd name="connsiteY39" fmla="*/ 355348 h 1168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975316" h="1168426">
                    <a:moveTo>
                      <a:pt x="242569" y="627214"/>
                    </a:moveTo>
                    <a:lnTo>
                      <a:pt x="259581" y="563894"/>
                    </a:lnTo>
                    <a:lnTo>
                      <a:pt x="869154" y="563579"/>
                    </a:lnTo>
                    <a:lnTo>
                      <a:pt x="975317" y="0"/>
                    </a:lnTo>
                    <a:lnTo>
                      <a:pt x="157828" y="0"/>
                    </a:lnTo>
                    <a:lnTo>
                      <a:pt x="34023" y="563579"/>
                    </a:lnTo>
                    <a:lnTo>
                      <a:pt x="111519" y="563579"/>
                    </a:lnTo>
                    <a:lnTo>
                      <a:pt x="0" y="979727"/>
                    </a:lnTo>
                    <a:lnTo>
                      <a:pt x="148062" y="979727"/>
                    </a:lnTo>
                    <a:lnTo>
                      <a:pt x="201931" y="778426"/>
                    </a:lnTo>
                    <a:lnTo>
                      <a:pt x="272182" y="778426"/>
                    </a:lnTo>
                    <a:lnTo>
                      <a:pt x="169484" y="1162127"/>
                    </a:lnTo>
                    <a:lnTo>
                      <a:pt x="318805" y="1162127"/>
                    </a:lnTo>
                    <a:lnTo>
                      <a:pt x="421503" y="778426"/>
                    </a:lnTo>
                    <a:lnTo>
                      <a:pt x="487028" y="778426"/>
                    </a:lnTo>
                    <a:lnTo>
                      <a:pt x="384330" y="1162127"/>
                    </a:lnTo>
                    <a:lnTo>
                      <a:pt x="533652" y="1162127"/>
                    </a:lnTo>
                    <a:lnTo>
                      <a:pt x="636350" y="778426"/>
                    </a:lnTo>
                    <a:lnTo>
                      <a:pt x="765510" y="778426"/>
                    </a:lnTo>
                    <a:cubicBezTo>
                      <a:pt x="765510" y="778426"/>
                      <a:pt x="745664" y="895616"/>
                      <a:pt x="745349" y="897821"/>
                    </a:cubicBezTo>
                    <a:cubicBezTo>
                      <a:pt x="743774" y="910422"/>
                      <a:pt x="740938" y="930583"/>
                      <a:pt x="727077" y="954840"/>
                    </a:cubicBezTo>
                    <a:cubicBezTo>
                      <a:pt x="705341" y="992958"/>
                      <a:pt x="676043" y="1011860"/>
                      <a:pt x="634775" y="1014380"/>
                    </a:cubicBezTo>
                    <a:lnTo>
                      <a:pt x="629735" y="1014695"/>
                    </a:lnTo>
                    <a:lnTo>
                      <a:pt x="588467" y="1168427"/>
                    </a:lnTo>
                    <a:lnTo>
                      <a:pt x="625009" y="1168427"/>
                    </a:lnTo>
                    <a:cubicBezTo>
                      <a:pt x="728337" y="1168427"/>
                      <a:pt x="811189" y="1122433"/>
                      <a:pt x="858443" y="1039267"/>
                    </a:cubicBezTo>
                    <a:cubicBezTo>
                      <a:pt x="886165" y="990753"/>
                      <a:pt x="894986" y="938774"/>
                      <a:pt x="897821" y="911997"/>
                    </a:cubicBezTo>
                    <a:lnTo>
                      <a:pt x="943499" y="626584"/>
                    </a:lnTo>
                    <a:lnTo>
                      <a:pt x="781577" y="626584"/>
                    </a:lnTo>
                    <a:lnTo>
                      <a:pt x="242569" y="627214"/>
                    </a:lnTo>
                    <a:close/>
                    <a:moveTo>
                      <a:pt x="277222" y="151527"/>
                    </a:moveTo>
                    <a:lnTo>
                      <a:pt x="793863" y="151527"/>
                    </a:lnTo>
                    <a:lnTo>
                      <a:pt x="779686" y="212327"/>
                    </a:lnTo>
                    <a:lnTo>
                      <a:pt x="263676" y="212327"/>
                    </a:lnTo>
                    <a:lnTo>
                      <a:pt x="277222" y="151527"/>
                    </a:lnTo>
                    <a:close/>
                    <a:moveTo>
                      <a:pt x="232803" y="355348"/>
                    </a:moveTo>
                    <a:lnTo>
                      <a:pt x="754169" y="355348"/>
                    </a:lnTo>
                    <a:lnTo>
                      <a:pt x="744089" y="412683"/>
                    </a:lnTo>
                    <a:lnTo>
                      <a:pt x="220202" y="412683"/>
                    </a:lnTo>
                    <a:lnTo>
                      <a:pt x="232803" y="355348"/>
                    </a:lnTo>
                    <a:close/>
                  </a:path>
                </a:pathLst>
              </a:custGeom>
              <a:grpFill/>
              <a:ln w="31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8"/>
              <p:cNvSpPr/>
              <p:nvPr/>
            </p:nvSpPr>
            <p:spPr>
              <a:xfrm>
                <a:off x="2317425" y="3054721"/>
                <a:ext cx="412997" cy="675098"/>
              </a:xfrm>
              <a:custGeom>
                <a:avLst/>
                <a:gdLst>
                  <a:gd name="connsiteX0" fmla="*/ 218942 w 412997"/>
                  <a:gd name="connsiteY0" fmla="*/ 0 h 675098"/>
                  <a:gd name="connsiteX1" fmla="*/ 218942 w 412997"/>
                  <a:gd name="connsiteY1" fmla="*/ 315 h 675098"/>
                  <a:gd name="connsiteX2" fmla="*/ 171373 w 412997"/>
                  <a:gd name="connsiteY2" fmla="*/ 146172 h 675098"/>
                  <a:gd name="connsiteX3" fmla="*/ 171689 w 412997"/>
                  <a:gd name="connsiteY3" fmla="*/ 146172 h 675098"/>
                  <a:gd name="connsiteX4" fmla="*/ 0 w 412997"/>
                  <a:gd name="connsiteY4" fmla="*/ 675098 h 675098"/>
                  <a:gd name="connsiteX5" fmla="*/ 33078 w 412997"/>
                  <a:gd name="connsiteY5" fmla="*/ 675098 h 675098"/>
                  <a:gd name="connsiteX6" fmla="*/ 33078 w 412997"/>
                  <a:gd name="connsiteY6" fmla="*/ 675098 h 675098"/>
                  <a:gd name="connsiteX7" fmla="*/ 193740 w 412997"/>
                  <a:gd name="connsiteY7" fmla="*/ 675098 h 675098"/>
                  <a:gd name="connsiteX8" fmla="*/ 412998 w 412997"/>
                  <a:gd name="connsiteY8" fmla="*/ 0 h 675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997" h="675098">
                    <a:moveTo>
                      <a:pt x="218942" y="0"/>
                    </a:moveTo>
                    <a:lnTo>
                      <a:pt x="218942" y="315"/>
                    </a:lnTo>
                    <a:lnTo>
                      <a:pt x="171373" y="146172"/>
                    </a:lnTo>
                    <a:lnTo>
                      <a:pt x="171689" y="146172"/>
                    </a:lnTo>
                    <a:lnTo>
                      <a:pt x="0" y="675098"/>
                    </a:lnTo>
                    <a:lnTo>
                      <a:pt x="33078" y="675098"/>
                    </a:lnTo>
                    <a:lnTo>
                      <a:pt x="33078" y="675098"/>
                    </a:lnTo>
                    <a:lnTo>
                      <a:pt x="193740" y="675098"/>
                    </a:lnTo>
                    <a:lnTo>
                      <a:pt x="412998" y="0"/>
                    </a:lnTo>
                    <a:close/>
                  </a:path>
                </a:pathLst>
              </a:custGeom>
              <a:grpFill/>
              <a:ln w="31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96" name="任意多边形: 形状 9"/>
              <p:cNvSpPr/>
              <p:nvPr/>
            </p:nvSpPr>
            <p:spPr>
              <a:xfrm>
                <a:off x="1575235" y="2567378"/>
                <a:ext cx="1195510" cy="1162126"/>
              </a:xfrm>
              <a:custGeom>
                <a:avLst/>
                <a:gdLst>
                  <a:gd name="connsiteX0" fmla="*/ 1147627 w 1195510"/>
                  <a:gd name="connsiteY0" fmla="*/ 147432 h 1162126"/>
                  <a:gd name="connsiteX1" fmla="*/ 1195511 w 1195510"/>
                  <a:gd name="connsiteY1" fmla="*/ 0 h 1162126"/>
                  <a:gd name="connsiteX2" fmla="*/ 644532 w 1195510"/>
                  <a:gd name="connsiteY2" fmla="*/ 0 h 1162126"/>
                  <a:gd name="connsiteX3" fmla="*/ 218619 w 1195510"/>
                  <a:gd name="connsiteY3" fmla="*/ 169168 h 1162126"/>
                  <a:gd name="connsiteX4" fmla="*/ 4402 w 1195510"/>
                  <a:gd name="connsiteY4" fmla="*/ 560429 h 1162126"/>
                  <a:gd name="connsiteX5" fmla="*/ 128837 w 1195510"/>
                  <a:gd name="connsiteY5" fmla="*/ 978467 h 1162126"/>
                  <a:gd name="connsiteX6" fmla="*/ 496471 w 1195510"/>
                  <a:gd name="connsiteY6" fmla="*/ 1161497 h 1162126"/>
                  <a:gd name="connsiteX7" fmla="*/ 657763 w 1195510"/>
                  <a:gd name="connsiteY7" fmla="*/ 1162127 h 1162126"/>
                  <a:gd name="connsiteX8" fmla="*/ 693361 w 1195510"/>
                  <a:gd name="connsiteY8" fmla="*/ 1052498 h 1162126"/>
                  <a:gd name="connsiteX9" fmla="*/ 693361 w 1195510"/>
                  <a:gd name="connsiteY9" fmla="*/ 1052498 h 1162126"/>
                  <a:gd name="connsiteX10" fmla="*/ 693361 w 1195510"/>
                  <a:gd name="connsiteY10" fmla="*/ 1052498 h 1162126"/>
                  <a:gd name="connsiteX11" fmla="*/ 700607 w 1195510"/>
                  <a:gd name="connsiteY11" fmla="*/ 1029816 h 1162126"/>
                  <a:gd name="connsiteX12" fmla="*/ 700607 w 1195510"/>
                  <a:gd name="connsiteY12" fmla="*/ 1029816 h 1162126"/>
                  <a:gd name="connsiteX13" fmla="*/ 722658 w 1195510"/>
                  <a:gd name="connsiteY13" fmla="*/ 961141 h 1162126"/>
                  <a:gd name="connsiteX14" fmla="*/ 555380 w 1195510"/>
                  <a:gd name="connsiteY14" fmla="*/ 961141 h 1162126"/>
                  <a:gd name="connsiteX15" fmla="*/ 286979 w 1195510"/>
                  <a:gd name="connsiteY15" fmla="*/ 854347 h 1162126"/>
                  <a:gd name="connsiteX16" fmla="*/ 207278 w 1195510"/>
                  <a:gd name="connsiteY16" fmla="*/ 649581 h 1162126"/>
                  <a:gd name="connsiteX17" fmla="*/ 206648 w 1195510"/>
                  <a:gd name="connsiteY17" fmla="*/ 622174 h 1162126"/>
                  <a:gd name="connsiteX18" fmla="*/ 209483 w 1195510"/>
                  <a:gd name="connsiteY18" fmla="*/ 580276 h 1162126"/>
                  <a:gd name="connsiteX19" fmla="*/ 356600 w 1195510"/>
                  <a:gd name="connsiteY19" fmla="*/ 315655 h 1162126"/>
                  <a:gd name="connsiteX20" fmla="*/ 629726 w 1195510"/>
                  <a:gd name="connsiteY20" fmla="*/ 200671 h 1162126"/>
                  <a:gd name="connsiteX21" fmla="*/ 1130300 w 1195510"/>
                  <a:gd name="connsiteY21" fmla="*/ 200356 h 1162126"/>
                  <a:gd name="connsiteX22" fmla="*/ 1136286 w 1195510"/>
                  <a:gd name="connsiteY22" fmla="*/ 182084 h 1162126"/>
                  <a:gd name="connsiteX23" fmla="*/ 1136286 w 1195510"/>
                  <a:gd name="connsiteY23" fmla="*/ 182084 h 1162126"/>
                  <a:gd name="connsiteX24" fmla="*/ 1147627 w 1195510"/>
                  <a:gd name="connsiteY24" fmla="*/ 147432 h 116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95510" h="1162126">
                    <a:moveTo>
                      <a:pt x="1147627" y="147432"/>
                    </a:moveTo>
                    <a:lnTo>
                      <a:pt x="1195511" y="0"/>
                    </a:lnTo>
                    <a:lnTo>
                      <a:pt x="644532" y="0"/>
                    </a:lnTo>
                    <a:cubicBezTo>
                      <a:pt x="489540" y="2520"/>
                      <a:pt x="338958" y="61745"/>
                      <a:pt x="218619" y="169168"/>
                    </a:cubicBezTo>
                    <a:cubicBezTo>
                      <a:pt x="99224" y="275647"/>
                      <a:pt x="22988" y="408587"/>
                      <a:pt x="4402" y="560429"/>
                    </a:cubicBezTo>
                    <a:cubicBezTo>
                      <a:pt x="-14815" y="717942"/>
                      <a:pt x="29289" y="866318"/>
                      <a:pt x="128837" y="978467"/>
                    </a:cubicBezTo>
                    <a:cubicBezTo>
                      <a:pt x="221769" y="1083370"/>
                      <a:pt x="352189" y="1154566"/>
                      <a:pt x="496471" y="1161497"/>
                    </a:cubicBezTo>
                    <a:cubicBezTo>
                      <a:pt x="505606" y="1161811"/>
                      <a:pt x="657763" y="1162127"/>
                      <a:pt x="657763" y="1162127"/>
                    </a:cubicBezTo>
                    <a:lnTo>
                      <a:pt x="693361" y="1052498"/>
                    </a:lnTo>
                    <a:lnTo>
                      <a:pt x="693361" y="1052498"/>
                    </a:lnTo>
                    <a:lnTo>
                      <a:pt x="693361" y="1052498"/>
                    </a:lnTo>
                    <a:lnTo>
                      <a:pt x="700607" y="1029816"/>
                    </a:lnTo>
                    <a:lnTo>
                      <a:pt x="700607" y="1029816"/>
                    </a:lnTo>
                    <a:lnTo>
                      <a:pt x="722658" y="961141"/>
                    </a:lnTo>
                    <a:lnTo>
                      <a:pt x="555380" y="961141"/>
                    </a:lnTo>
                    <a:cubicBezTo>
                      <a:pt x="440711" y="961141"/>
                      <a:pt x="350299" y="925543"/>
                      <a:pt x="286979" y="854347"/>
                    </a:cubicBezTo>
                    <a:cubicBezTo>
                      <a:pt x="239410" y="800793"/>
                      <a:pt x="212003" y="724242"/>
                      <a:pt x="207278" y="649581"/>
                    </a:cubicBezTo>
                    <a:cubicBezTo>
                      <a:pt x="207278" y="647376"/>
                      <a:pt x="206648" y="626584"/>
                      <a:pt x="206648" y="622174"/>
                    </a:cubicBezTo>
                    <a:cubicBezTo>
                      <a:pt x="206648" y="608313"/>
                      <a:pt x="207593" y="594137"/>
                      <a:pt x="209483" y="580276"/>
                    </a:cubicBezTo>
                    <a:cubicBezTo>
                      <a:pt x="222084" y="477263"/>
                      <a:pt x="274378" y="389056"/>
                      <a:pt x="356600" y="315655"/>
                    </a:cubicBezTo>
                    <a:cubicBezTo>
                      <a:pt x="434726" y="246034"/>
                      <a:pt x="531753" y="204451"/>
                      <a:pt x="629726" y="200671"/>
                    </a:cubicBezTo>
                    <a:lnTo>
                      <a:pt x="1130300" y="200356"/>
                    </a:lnTo>
                    <a:lnTo>
                      <a:pt x="1136286" y="182084"/>
                    </a:lnTo>
                    <a:lnTo>
                      <a:pt x="1136286" y="182084"/>
                    </a:lnTo>
                    <a:lnTo>
                      <a:pt x="1147627" y="147432"/>
                    </a:lnTo>
                    <a:close/>
                  </a:path>
                </a:pathLst>
              </a:custGeom>
              <a:grpFill/>
              <a:ln w="31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97" name="图形 1"/>
              <p:cNvGrpSpPr/>
              <p:nvPr/>
            </p:nvGrpSpPr>
            <p:grpSpPr>
              <a:xfrm>
                <a:off x="4875741" y="2546902"/>
                <a:ext cx="1143540" cy="1194889"/>
                <a:chOff x="4875741" y="2546902"/>
                <a:chExt cx="1143540" cy="1194889"/>
              </a:xfrm>
              <a:grpFill/>
            </p:grpSpPr>
            <p:sp>
              <p:nvSpPr>
                <p:cNvPr id="198" name="任意多边形: 形状 12"/>
                <p:cNvSpPr/>
                <p:nvPr/>
              </p:nvSpPr>
              <p:spPr>
                <a:xfrm>
                  <a:off x="5424515" y="3194593"/>
                  <a:ext cx="239103" cy="535227"/>
                </a:xfrm>
                <a:custGeom>
                  <a:avLst/>
                  <a:gdLst>
                    <a:gd name="connsiteX0" fmla="*/ 85372 w 239103"/>
                    <a:gd name="connsiteY0" fmla="*/ 0 h 535227"/>
                    <a:gd name="connsiteX1" fmla="*/ 53239 w 239103"/>
                    <a:gd name="connsiteY1" fmla="*/ 201616 h 535227"/>
                    <a:gd name="connsiteX2" fmla="*/ 53239 w 239103"/>
                    <a:gd name="connsiteY2" fmla="*/ 201616 h 535227"/>
                    <a:gd name="connsiteX3" fmla="*/ 0 w 239103"/>
                    <a:gd name="connsiteY3" fmla="*/ 535227 h 535227"/>
                    <a:gd name="connsiteX4" fmla="*/ 153732 w 239103"/>
                    <a:gd name="connsiteY4" fmla="*/ 535227 h 535227"/>
                    <a:gd name="connsiteX5" fmla="*/ 238789 w 239103"/>
                    <a:gd name="connsiteY5" fmla="*/ 2205 h 535227"/>
                    <a:gd name="connsiteX6" fmla="*/ 238789 w 239103"/>
                    <a:gd name="connsiteY6" fmla="*/ 2205 h 535227"/>
                    <a:gd name="connsiteX7" fmla="*/ 239104 w 239103"/>
                    <a:gd name="connsiteY7" fmla="*/ 0 h 535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103" h="535227">
                      <a:moveTo>
                        <a:pt x="85372" y="0"/>
                      </a:moveTo>
                      <a:lnTo>
                        <a:pt x="53239" y="201616"/>
                      </a:lnTo>
                      <a:lnTo>
                        <a:pt x="53239" y="201616"/>
                      </a:lnTo>
                      <a:lnTo>
                        <a:pt x="0" y="535227"/>
                      </a:lnTo>
                      <a:lnTo>
                        <a:pt x="153732" y="535227"/>
                      </a:lnTo>
                      <a:lnTo>
                        <a:pt x="238789" y="2205"/>
                      </a:lnTo>
                      <a:lnTo>
                        <a:pt x="238789" y="2205"/>
                      </a:lnTo>
                      <a:lnTo>
                        <a:pt x="239104" y="0"/>
                      </a:ln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9" name="任意多边形: 形状 13"/>
                <p:cNvSpPr/>
                <p:nvPr/>
              </p:nvSpPr>
              <p:spPr>
                <a:xfrm>
                  <a:off x="5204627" y="3194593"/>
                  <a:ext cx="239103" cy="535227"/>
                </a:xfrm>
                <a:custGeom>
                  <a:avLst/>
                  <a:gdLst>
                    <a:gd name="connsiteX0" fmla="*/ 235954 w 239103"/>
                    <a:gd name="connsiteY0" fmla="*/ 18901 h 535227"/>
                    <a:gd name="connsiteX1" fmla="*/ 238789 w 239103"/>
                    <a:gd name="connsiteY1" fmla="*/ 2205 h 535227"/>
                    <a:gd name="connsiteX2" fmla="*/ 238789 w 239103"/>
                    <a:gd name="connsiteY2" fmla="*/ 2205 h 535227"/>
                    <a:gd name="connsiteX3" fmla="*/ 239104 w 239103"/>
                    <a:gd name="connsiteY3" fmla="*/ 0 h 535227"/>
                    <a:gd name="connsiteX4" fmla="*/ 85372 w 239103"/>
                    <a:gd name="connsiteY4" fmla="*/ 0 h 535227"/>
                    <a:gd name="connsiteX5" fmla="*/ 59225 w 239103"/>
                    <a:gd name="connsiteY5" fmla="*/ 164443 h 535227"/>
                    <a:gd name="connsiteX6" fmla="*/ 0 w 239103"/>
                    <a:gd name="connsiteY6" fmla="*/ 535227 h 535227"/>
                    <a:gd name="connsiteX7" fmla="*/ 153732 w 239103"/>
                    <a:gd name="connsiteY7" fmla="*/ 535227 h 535227"/>
                    <a:gd name="connsiteX8" fmla="*/ 206972 w 239103"/>
                    <a:gd name="connsiteY8" fmla="*/ 201616 h 535227"/>
                    <a:gd name="connsiteX9" fmla="*/ 206972 w 239103"/>
                    <a:gd name="connsiteY9" fmla="*/ 201616 h 535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9103" h="535227">
                      <a:moveTo>
                        <a:pt x="235954" y="18901"/>
                      </a:moveTo>
                      <a:lnTo>
                        <a:pt x="238789" y="2205"/>
                      </a:lnTo>
                      <a:lnTo>
                        <a:pt x="238789" y="2205"/>
                      </a:lnTo>
                      <a:lnTo>
                        <a:pt x="239104" y="0"/>
                      </a:lnTo>
                      <a:lnTo>
                        <a:pt x="85372" y="0"/>
                      </a:lnTo>
                      <a:lnTo>
                        <a:pt x="59225" y="164443"/>
                      </a:lnTo>
                      <a:lnTo>
                        <a:pt x="0" y="535227"/>
                      </a:lnTo>
                      <a:lnTo>
                        <a:pt x="153732" y="535227"/>
                      </a:lnTo>
                      <a:lnTo>
                        <a:pt x="206972" y="201616"/>
                      </a:lnTo>
                      <a:lnTo>
                        <a:pt x="206972" y="201616"/>
                      </a:ln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任意多边形: 形状 14"/>
                <p:cNvSpPr/>
                <p:nvPr/>
              </p:nvSpPr>
              <p:spPr>
                <a:xfrm>
                  <a:off x="4875741" y="3194593"/>
                  <a:ext cx="346212" cy="543417"/>
                </a:xfrm>
                <a:custGeom>
                  <a:avLst/>
                  <a:gdLst>
                    <a:gd name="connsiteX0" fmla="*/ 346212 w 346212"/>
                    <a:gd name="connsiteY0" fmla="*/ 0 h 543417"/>
                    <a:gd name="connsiteX1" fmla="*/ 197521 w 346212"/>
                    <a:gd name="connsiteY1" fmla="*/ 0 h 543417"/>
                    <a:gd name="connsiteX2" fmla="*/ 193740 w 346212"/>
                    <a:gd name="connsiteY2" fmla="*/ 0 h 543417"/>
                    <a:gd name="connsiteX3" fmla="*/ 159403 w 346212"/>
                    <a:gd name="connsiteY3" fmla="*/ 201616 h 543417"/>
                    <a:gd name="connsiteX4" fmla="*/ 159403 w 346212"/>
                    <a:gd name="connsiteY4" fmla="*/ 201616 h 543417"/>
                    <a:gd name="connsiteX5" fmla="*/ 148377 w 346212"/>
                    <a:gd name="connsiteY5" fmla="*/ 266826 h 543417"/>
                    <a:gd name="connsiteX6" fmla="*/ 129476 w 346212"/>
                    <a:gd name="connsiteY6" fmla="*/ 329516 h 543417"/>
                    <a:gd name="connsiteX7" fmla="*/ 35283 w 346212"/>
                    <a:gd name="connsiteY7" fmla="*/ 389056 h 543417"/>
                    <a:gd name="connsiteX8" fmla="*/ 30243 w 346212"/>
                    <a:gd name="connsiteY8" fmla="*/ 389371 h 543417"/>
                    <a:gd name="connsiteX9" fmla="*/ 0 w 346212"/>
                    <a:gd name="connsiteY9" fmla="*/ 543418 h 543417"/>
                    <a:gd name="connsiteX10" fmla="*/ 35598 w 346212"/>
                    <a:gd name="connsiteY10" fmla="*/ 543103 h 543417"/>
                    <a:gd name="connsiteX11" fmla="*/ 261156 w 346212"/>
                    <a:gd name="connsiteY11" fmla="*/ 413943 h 543417"/>
                    <a:gd name="connsiteX12" fmla="*/ 304629 w 346212"/>
                    <a:gd name="connsiteY12" fmla="*/ 260841 h 543417"/>
                    <a:gd name="connsiteX13" fmla="*/ 314080 w 346212"/>
                    <a:gd name="connsiteY13" fmla="*/ 201301 h 543417"/>
                    <a:gd name="connsiteX14" fmla="*/ 314080 w 346212"/>
                    <a:gd name="connsiteY14" fmla="*/ 201301 h 543417"/>
                    <a:gd name="connsiteX15" fmla="*/ 346212 w 346212"/>
                    <a:gd name="connsiteY15" fmla="*/ 0 h 5434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46212" h="543417">
                      <a:moveTo>
                        <a:pt x="346212" y="0"/>
                      </a:moveTo>
                      <a:lnTo>
                        <a:pt x="197521" y="0"/>
                      </a:lnTo>
                      <a:lnTo>
                        <a:pt x="193740" y="0"/>
                      </a:lnTo>
                      <a:cubicBezTo>
                        <a:pt x="193740" y="0"/>
                        <a:pt x="172949" y="123175"/>
                        <a:pt x="159403" y="201616"/>
                      </a:cubicBezTo>
                      <a:lnTo>
                        <a:pt x="159403" y="201616"/>
                      </a:lnTo>
                      <a:cubicBezTo>
                        <a:pt x="153102" y="238789"/>
                        <a:pt x="148377" y="266196"/>
                        <a:pt x="148377" y="266826"/>
                      </a:cubicBezTo>
                      <a:cubicBezTo>
                        <a:pt x="146802" y="279427"/>
                        <a:pt x="143021" y="305259"/>
                        <a:pt x="129476" y="329516"/>
                      </a:cubicBezTo>
                      <a:cubicBezTo>
                        <a:pt x="107424" y="368264"/>
                        <a:pt x="77496" y="387165"/>
                        <a:pt x="35283" y="389056"/>
                      </a:cubicBezTo>
                      <a:lnTo>
                        <a:pt x="30243" y="389371"/>
                      </a:lnTo>
                      <a:lnTo>
                        <a:pt x="0" y="543418"/>
                      </a:lnTo>
                      <a:lnTo>
                        <a:pt x="35598" y="543103"/>
                      </a:lnTo>
                      <a:cubicBezTo>
                        <a:pt x="135146" y="540898"/>
                        <a:pt x="215162" y="495219"/>
                        <a:pt x="261156" y="413943"/>
                      </a:cubicBezTo>
                      <a:cubicBezTo>
                        <a:pt x="288878" y="365429"/>
                        <a:pt x="301794" y="287618"/>
                        <a:pt x="304629" y="260841"/>
                      </a:cubicBezTo>
                      <a:lnTo>
                        <a:pt x="314080" y="201301"/>
                      </a:lnTo>
                      <a:lnTo>
                        <a:pt x="314080" y="201301"/>
                      </a:lnTo>
                      <a:lnTo>
                        <a:pt x="346212" y="0"/>
                      </a:ln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2" name="任意多边形: 形状 15"/>
                <p:cNvSpPr/>
                <p:nvPr/>
              </p:nvSpPr>
              <p:spPr>
                <a:xfrm>
                  <a:off x="5293149" y="2546902"/>
                  <a:ext cx="726132" cy="586261"/>
                </a:xfrm>
                <a:custGeom>
                  <a:avLst/>
                  <a:gdLst>
                    <a:gd name="connsiteX0" fmla="*/ 7246 w 726132"/>
                    <a:gd name="connsiteY0" fmla="*/ 586261 h 586261"/>
                    <a:gd name="connsiteX1" fmla="*/ 600122 w 726132"/>
                    <a:gd name="connsiteY1" fmla="*/ 586261 h 586261"/>
                    <a:gd name="connsiteX2" fmla="*/ 644541 w 726132"/>
                    <a:gd name="connsiteY2" fmla="*/ 307149 h 586261"/>
                    <a:gd name="connsiteX3" fmla="*/ 488919 w 726132"/>
                    <a:gd name="connsiteY3" fmla="*/ 307149 h 586261"/>
                    <a:gd name="connsiteX4" fmla="*/ 468127 w 726132"/>
                    <a:gd name="connsiteY4" fmla="*/ 439460 h 586261"/>
                    <a:gd name="connsiteX5" fmla="*/ 183975 w 726132"/>
                    <a:gd name="connsiteY5" fmla="*/ 439460 h 586261"/>
                    <a:gd name="connsiteX6" fmla="*/ 215477 w 726132"/>
                    <a:gd name="connsiteY6" fmla="*/ 242254 h 586261"/>
                    <a:gd name="connsiteX7" fmla="*/ 696835 w 726132"/>
                    <a:gd name="connsiteY7" fmla="*/ 242254 h 586261"/>
                    <a:gd name="connsiteX8" fmla="*/ 726132 w 726132"/>
                    <a:gd name="connsiteY8" fmla="*/ 89782 h 586261"/>
                    <a:gd name="connsiteX9" fmla="*/ 457416 w 726132"/>
                    <a:gd name="connsiteY9" fmla="*/ 89782 h 586261"/>
                    <a:gd name="connsiteX10" fmla="*/ 474743 w 726132"/>
                    <a:gd name="connsiteY10" fmla="*/ 0 h 586261"/>
                    <a:gd name="connsiteX11" fmla="*/ 321325 w 726132"/>
                    <a:gd name="connsiteY11" fmla="*/ 0 h 586261"/>
                    <a:gd name="connsiteX12" fmla="*/ 303999 w 726132"/>
                    <a:gd name="connsiteY12" fmla="*/ 89782 h 586261"/>
                    <a:gd name="connsiteX13" fmla="*/ 29297 w 726132"/>
                    <a:gd name="connsiteY13" fmla="*/ 89782 h 586261"/>
                    <a:gd name="connsiteX14" fmla="*/ 0 w 726132"/>
                    <a:gd name="connsiteY14" fmla="*/ 242254 h 586261"/>
                    <a:gd name="connsiteX15" fmla="*/ 62060 w 726132"/>
                    <a:gd name="connsiteY15" fmla="*/ 242254 h 586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726132" h="586261">
                      <a:moveTo>
                        <a:pt x="7246" y="586261"/>
                      </a:moveTo>
                      <a:lnTo>
                        <a:pt x="600122" y="586261"/>
                      </a:lnTo>
                      <a:lnTo>
                        <a:pt x="644541" y="307149"/>
                      </a:lnTo>
                      <a:lnTo>
                        <a:pt x="488919" y="307149"/>
                      </a:lnTo>
                      <a:lnTo>
                        <a:pt x="468127" y="439460"/>
                      </a:lnTo>
                      <a:lnTo>
                        <a:pt x="183975" y="439460"/>
                      </a:lnTo>
                      <a:lnTo>
                        <a:pt x="215477" y="242254"/>
                      </a:lnTo>
                      <a:lnTo>
                        <a:pt x="696835" y="242254"/>
                      </a:lnTo>
                      <a:lnTo>
                        <a:pt x="726132" y="89782"/>
                      </a:lnTo>
                      <a:lnTo>
                        <a:pt x="457416" y="89782"/>
                      </a:lnTo>
                      <a:lnTo>
                        <a:pt x="474743" y="0"/>
                      </a:lnTo>
                      <a:lnTo>
                        <a:pt x="321325" y="0"/>
                      </a:lnTo>
                      <a:lnTo>
                        <a:pt x="303999" y="89782"/>
                      </a:lnTo>
                      <a:lnTo>
                        <a:pt x="29297" y="89782"/>
                      </a:lnTo>
                      <a:lnTo>
                        <a:pt x="0" y="242254"/>
                      </a:lnTo>
                      <a:lnTo>
                        <a:pt x="62060" y="242254"/>
                      </a:ln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任意多边形: 形状 16"/>
                <p:cNvSpPr/>
                <p:nvPr/>
              </p:nvSpPr>
              <p:spPr>
                <a:xfrm>
                  <a:off x="5034514" y="2567693"/>
                  <a:ext cx="225557" cy="220202"/>
                </a:xfrm>
                <a:custGeom>
                  <a:avLst/>
                  <a:gdLst>
                    <a:gd name="connsiteX0" fmla="*/ 225558 w 225557"/>
                    <a:gd name="connsiteY0" fmla="*/ 220202 h 220202"/>
                    <a:gd name="connsiteX1" fmla="*/ 157827 w 225557"/>
                    <a:gd name="connsiteY1" fmla="*/ 0 h 220202"/>
                    <a:gd name="connsiteX2" fmla="*/ 0 w 225557"/>
                    <a:gd name="connsiteY2" fmla="*/ 0 h 220202"/>
                    <a:gd name="connsiteX3" fmla="*/ 67730 w 225557"/>
                    <a:gd name="connsiteY3" fmla="*/ 220202 h 220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5557" h="220202">
                      <a:moveTo>
                        <a:pt x="225558" y="220202"/>
                      </a:moveTo>
                      <a:lnTo>
                        <a:pt x="157827" y="0"/>
                      </a:lnTo>
                      <a:lnTo>
                        <a:pt x="0" y="0"/>
                      </a:lnTo>
                      <a:lnTo>
                        <a:pt x="67730" y="220202"/>
                      </a:ln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4" name="任意多边形: 形状 17"/>
                <p:cNvSpPr/>
                <p:nvPr/>
              </p:nvSpPr>
              <p:spPr>
                <a:xfrm>
                  <a:off x="5679543" y="3194593"/>
                  <a:ext cx="323671" cy="547198"/>
                </a:xfrm>
                <a:custGeom>
                  <a:avLst/>
                  <a:gdLst>
                    <a:gd name="connsiteX0" fmla="*/ 168365 w 323671"/>
                    <a:gd name="connsiteY0" fmla="*/ 370154 h 547198"/>
                    <a:gd name="connsiteX1" fmla="*/ 154818 w 323671"/>
                    <a:gd name="connsiteY1" fmla="*/ 311560 h 547198"/>
                    <a:gd name="connsiteX2" fmla="*/ 203962 w 323671"/>
                    <a:gd name="connsiteY2" fmla="*/ 1260 h 547198"/>
                    <a:gd name="connsiteX3" fmla="*/ 203962 w 323671"/>
                    <a:gd name="connsiteY3" fmla="*/ 1260 h 547198"/>
                    <a:gd name="connsiteX4" fmla="*/ 204277 w 323671"/>
                    <a:gd name="connsiteY4" fmla="*/ 0 h 547198"/>
                    <a:gd name="connsiteX5" fmla="*/ 48340 w 323671"/>
                    <a:gd name="connsiteY5" fmla="*/ 0 h 547198"/>
                    <a:gd name="connsiteX6" fmla="*/ 16207 w 323671"/>
                    <a:gd name="connsiteY6" fmla="*/ 201616 h 547198"/>
                    <a:gd name="connsiteX7" fmla="*/ 16207 w 323671"/>
                    <a:gd name="connsiteY7" fmla="*/ 201616 h 547198"/>
                    <a:gd name="connsiteX8" fmla="*/ 2661 w 323671"/>
                    <a:gd name="connsiteY8" fmla="*/ 286673 h 547198"/>
                    <a:gd name="connsiteX9" fmla="*/ 50230 w 323671"/>
                    <a:gd name="connsiteY9" fmla="*/ 468757 h 547198"/>
                    <a:gd name="connsiteX10" fmla="*/ 217193 w 323671"/>
                    <a:gd name="connsiteY10" fmla="*/ 546568 h 547198"/>
                    <a:gd name="connsiteX11" fmla="*/ 293429 w 323671"/>
                    <a:gd name="connsiteY11" fmla="*/ 547198 h 547198"/>
                    <a:gd name="connsiteX12" fmla="*/ 323672 w 323671"/>
                    <a:gd name="connsiteY12" fmla="*/ 393151 h 547198"/>
                    <a:gd name="connsiteX13" fmla="*/ 227274 w 323671"/>
                    <a:gd name="connsiteY13" fmla="*/ 393151 h 547198"/>
                    <a:gd name="connsiteX14" fmla="*/ 168365 w 323671"/>
                    <a:gd name="connsiteY14" fmla="*/ 370154 h 547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23671" h="547198">
                      <a:moveTo>
                        <a:pt x="168365" y="370154"/>
                      </a:moveTo>
                      <a:cubicBezTo>
                        <a:pt x="150093" y="349047"/>
                        <a:pt x="154503" y="311560"/>
                        <a:pt x="154818" y="311560"/>
                      </a:cubicBezTo>
                      <a:lnTo>
                        <a:pt x="203962" y="1260"/>
                      </a:lnTo>
                      <a:lnTo>
                        <a:pt x="203962" y="1260"/>
                      </a:lnTo>
                      <a:lnTo>
                        <a:pt x="204277" y="0"/>
                      </a:lnTo>
                      <a:lnTo>
                        <a:pt x="48340" y="0"/>
                      </a:lnTo>
                      <a:lnTo>
                        <a:pt x="16207" y="201616"/>
                      </a:lnTo>
                      <a:lnTo>
                        <a:pt x="16207" y="201616"/>
                      </a:lnTo>
                      <a:lnTo>
                        <a:pt x="2661" y="286673"/>
                      </a:lnTo>
                      <a:cubicBezTo>
                        <a:pt x="-174" y="304314"/>
                        <a:pt x="-11515" y="395356"/>
                        <a:pt x="50230" y="468757"/>
                      </a:cubicBezTo>
                      <a:cubicBezTo>
                        <a:pt x="88978" y="514751"/>
                        <a:pt x="145053" y="540898"/>
                        <a:pt x="217193" y="546568"/>
                      </a:cubicBezTo>
                      <a:lnTo>
                        <a:pt x="293429" y="547198"/>
                      </a:lnTo>
                      <a:lnTo>
                        <a:pt x="323672" y="393151"/>
                      </a:lnTo>
                      <a:lnTo>
                        <a:pt x="227274" y="393151"/>
                      </a:lnTo>
                      <a:cubicBezTo>
                        <a:pt x="199552" y="390316"/>
                        <a:pt x="179075" y="382440"/>
                        <a:pt x="168365" y="370154"/>
                      </a:cubicBez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5" name="任意多边形: 形状 18"/>
                <p:cNvSpPr/>
                <p:nvPr/>
              </p:nvSpPr>
              <p:spPr>
                <a:xfrm>
                  <a:off x="5001121" y="2856886"/>
                  <a:ext cx="234063" cy="275961"/>
                </a:xfrm>
                <a:custGeom>
                  <a:avLst/>
                  <a:gdLst>
                    <a:gd name="connsiteX0" fmla="*/ 234064 w 234063"/>
                    <a:gd name="connsiteY0" fmla="*/ 275962 h 275961"/>
                    <a:gd name="connsiteX1" fmla="*/ 157827 w 234063"/>
                    <a:gd name="connsiteY1" fmla="*/ 0 h 275961"/>
                    <a:gd name="connsiteX2" fmla="*/ 0 w 234063"/>
                    <a:gd name="connsiteY2" fmla="*/ 0 h 275961"/>
                    <a:gd name="connsiteX3" fmla="*/ 76551 w 234063"/>
                    <a:gd name="connsiteY3" fmla="*/ 275962 h 275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4063" h="275961">
                      <a:moveTo>
                        <a:pt x="234064" y="275962"/>
                      </a:moveTo>
                      <a:lnTo>
                        <a:pt x="157827" y="0"/>
                      </a:lnTo>
                      <a:lnTo>
                        <a:pt x="0" y="0"/>
                      </a:lnTo>
                      <a:lnTo>
                        <a:pt x="76551" y="275962"/>
                      </a:lnTo>
                      <a:close/>
                    </a:path>
                  </a:pathLst>
                </a:custGeom>
                <a:grpFill/>
                <a:ln w="31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6" name="任意多边形: 形状 11"/>
              <p:cNvSpPr/>
              <p:nvPr/>
            </p:nvSpPr>
            <p:spPr>
              <a:xfrm>
                <a:off x="2834066" y="2567693"/>
                <a:ext cx="907586" cy="1162126"/>
              </a:xfrm>
              <a:custGeom>
                <a:avLst/>
                <a:gdLst>
                  <a:gd name="connsiteX0" fmla="*/ 67100 w 907586"/>
                  <a:gd name="connsiteY0" fmla="*/ 0 h 1162126"/>
                  <a:gd name="connsiteX1" fmla="*/ 26147 w 907586"/>
                  <a:gd name="connsiteY1" fmla="*/ 126640 h 1162126"/>
                  <a:gd name="connsiteX2" fmla="*/ 23627 w 907586"/>
                  <a:gd name="connsiteY2" fmla="*/ 133886 h 1162126"/>
                  <a:gd name="connsiteX3" fmla="*/ 23312 w 907586"/>
                  <a:gd name="connsiteY3" fmla="*/ 133886 h 1162126"/>
                  <a:gd name="connsiteX4" fmla="*/ 0 w 907586"/>
                  <a:gd name="connsiteY4" fmla="*/ 198466 h 1162126"/>
                  <a:gd name="connsiteX5" fmla="*/ 631625 w 907586"/>
                  <a:gd name="connsiteY5" fmla="*/ 198466 h 1162126"/>
                  <a:gd name="connsiteX6" fmla="*/ 315655 w 907586"/>
                  <a:gd name="connsiteY6" fmla="*/ 1162127 h 1162126"/>
                  <a:gd name="connsiteX7" fmla="*/ 349678 w 907586"/>
                  <a:gd name="connsiteY7" fmla="*/ 1162127 h 1162126"/>
                  <a:gd name="connsiteX8" fmla="*/ 349678 w 907586"/>
                  <a:gd name="connsiteY8" fmla="*/ 1162127 h 1162126"/>
                  <a:gd name="connsiteX9" fmla="*/ 530187 w 907586"/>
                  <a:gd name="connsiteY9" fmla="*/ 1162127 h 1162126"/>
                  <a:gd name="connsiteX10" fmla="*/ 530187 w 907586"/>
                  <a:gd name="connsiteY10" fmla="*/ 1162127 h 1162126"/>
                  <a:gd name="connsiteX11" fmla="*/ 854032 w 907586"/>
                  <a:gd name="connsiteY11" fmla="*/ 164758 h 1162126"/>
                  <a:gd name="connsiteX12" fmla="*/ 905066 w 907586"/>
                  <a:gd name="connsiteY12" fmla="*/ 7876 h 1162126"/>
                  <a:gd name="connsiteX13" fmla="*/ 907587 w 907586"/>
                  <a:gd name="connsiteY13" fmla="*/ 0 h 116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07586" h="1162126">
                    <a:moveTo>
                      <a:pt x="67100" y="0"/>
                    </a:moveTo>
                    <a:lnTo>
                      <a:pt x="26147" y="126640"/>
                    </a:lnTo>
                    <a:lnTo>
                      <a:pt x="23627" y="133886"/>
                    </a:lnTo>
                    <a:lnTo>
                      <a:pt x="23312" y="133886"/>
                    </a:lnTo>
                    <a:lnTo>
                      <a:pt x="0" y="198466"/>
                    </a:lnTo>
                    <a:lnTo>
                      <a:pt x="631625" y="198466"/>
                    </a:lnTo>
                    <a:lnTo>
                      <a:pt x="315655" y="1162127"/>
                    </a:lnTo>
                    <a:lnTo>
                      <a:pt x="349678" y="1162127"/>
                    </a:lnTo>
                    <a:lnTo>
                      <a:pt x="349678" y="1162127"/>
                    </a:lnTo>
                    <a:lnTo>
                      <a:pt x="530187" y="1162127"/>
                    </a:lnTo>
                    <a:lnTo>
                      <a:pt x="530187" y="1162127"/>
                    </a:lnTo>
                    <a:lnTo>
                      <a:pt x="854032" y="164758"/>
                    </a:lnTo>
                    <a:lnTo>
                      <a:pt x="905066" y="7876"/>
                    </a:lnTo>
                    <a:lnTo>
                      <a:pt x="907587" y="0"/>
                    </a:lnTo>
                    <a:close/>
                  </a:path>
                </a:pathLst>
              </a:custGeom>
              <a:grpFill/>
              <a:ln w="31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  <a:sym typeface="+mn-ea"/>
              </a:rPr>
              <a:t>系统基础架构</a:t>
            </a:r>
            <a:r>
              <a:rPr lang="en-US" altLang="zh-CN" dirty="0" smtClean="0">
                <a:solidFill>
                  <a:prstClr val="black"/>
                </a:solidFill>
                <a:sym typeface="+mn-ea"/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  <a:sym typeface="+mn-ea"/>
              </a:rPr>
              <a:t>业务量增长受影响的服务扩容</a:t>
            </a:r>
            <a:r>
              <a:rPr lang="zh-CN" altLang="en-US" dirty="0" smtClean="0">
                <a:solidFill>
                  <a:prstClr val="black"/>
                </a:solidFill>
                <a:sym typeface="+mn-ea"/>
              </a:rPr>
              <a:t>策略</a:t>
            </a:r>
            <a:endParaRPr lang="zh-CN" altLang="en-US" dirty="0" smtClean="0">
              <a:solidFill>
                <a:prstClr val="black"/>
              </a:solidFill>
              <a:sym typeface="+mn-ea"/>
            </a:endParaRPr>
          </a:p>
        </p:txBody>
      </p:sp>
      <p:graphicFrame>
        <p:nvGraphicFramePr>
          <p:cNvPr id="117" name="表格 11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8140" y="1062990"/>
          <a:ext cx="11534361" cy="2971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9940"/>
                <a:gridCol w="1615290"/>
                <a:gridCol w="942240"/>
                <a:gridCol w="997981"/>
                <a:gridCol w="1541458"/>
                <a:gridCol w="1541458"/>
                <a:gridCol w="1123399"/>
                <a:gridCol w="2982595"/>
              </a:tblGrid>
              <a:tr h="489585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序号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服务清单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业务描述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部署配置</a:t>
                      </a:r>
                      <a:endParaRPr lang="zh-CN" altLang="en-US" sz="1200" b="1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6860">
                <a:tc vMerge="1">
                  <a:tcPr/>
                </a:tc>
                <a:tc vMerge="1">
                  <a:tcPr marL="68580" marR="68580" marT="0" marB="0" anchor="ctr"/>
                </a:tc>
                <a:tc vMerge="1"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当前配置</a:t>
                      </a:r>
                      <a:endParaRPr lang="zh-CN" altLang="en-US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影响指标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应对策略</a:t>
                      </a:r>
                      <a:endParaRPr lang="zh-CN" altLang="en-US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触发条件</a:t>
                      </a:r>
                      <a:endParaRPr lang="zh-CN" altLang="en-US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业务规模增长影响说明</a:t>
                      </a:r>
                      <a:endParaRPr lang="zh-CN" altLang="en-US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62103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altLang="zh-CN" sz="12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tms-busi-financial-center</a:t>
                      </a:r>
                      <a:endParaRPr lang="en-US" altLang="zh-CN" sz="14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结算服务</a:t>
                      </a:r>
                      <a:endParaRPr lang="zh-CN" altLang="en-US" sz="10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核</a:t>
                      </a:r>
                      <a:r>
                        <a:rPr lang="en-US" altLang="zh-CN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| 2G | 2</a:t>
                      </a: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副本</a:t>
                      </a:r>
                      <a:endParaRPr lang="zh-CN" altLang="en-US" sz="10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日单量</a:t>
                      </a:r>
                      <a:endParaRPr lang="zh-CN" altLang="en-US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副本数增至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CPU &gt; 70%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每增加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1000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单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日，结算处理压力增加约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20%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59499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altLang="zh-CN" sz="12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tms-busi-order-center</a:t>
                      </a:r>
                      <a:endParaRPr lang="en-US" altLang="zh-CN" sz="14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业务订单中心</a:t>
                      </a:r>
                      <a:endParaRPr lang="zh-CN" altLang="en-US" sz="10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核</a:t>
                      </a:r>
                      <a:r>
                        <a:rPr lang="en-US" altLang="zh-CN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| 4G | 4</a:t>
                      </a: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副本</a:t>
                      </a:r>
                      <a:endParaRPr lang="zh-CN" altLang="en-US" sz="10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日单量、并发用户</a:t>
                      </a:r>
                      <a:endParaRPr lang="zh-CN" altLang="en-US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CPU 3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核、内存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6G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、副本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QPS &gt; 2000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订单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API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调用与单量成正比，并发压力线性上升</a:t>
                      </a:r>
                      <a:endParaRPr lang="zh-CN" altLang="en-US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83693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altLang="zh-CN" sz="12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tms-busi</a:t>
                      </a:r>
                      <a:r>
                        <a:rPr lang="en-US" altLang="zh-CN" sz="12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-realtimecomputing-center</a:t>
                      </a:r>
                      <a:endParaRPr lang="en-US" altLang="zh-CN" sz="12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业务实时计算</a:t>
                      </a:r>
                      <a:endParaRPr lang="zh-CN" altLang="en-US" sz="10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核</a:t>
                      </a:r>
                      <a:r>
                        <a:rPr lang="en-US" altLang="zh-CN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| 2G | 2</a:t>
                      </a:r>
                      <a:r>
                        <a:rPr lang="zh-CN" altLang="en-US" sz="1000" b="0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副本</a:t>
                      </a:r>
                      <a:endParaRPr lang="zh-CN" altLang="en-US" sz="1000" b="0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并发用户、实时数据流</a:t>
                      </a:r>
                      <a:endParaRPr lang="zh-CN" altLang="en-US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CPU 3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核、内存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4G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延迟</a:t>
                      </a:r>
                      <a:r>
                        <a:rPr lang="en-US" altLang="zh-CN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&gt; 500ms</a:t>
                      </a:r>
                      <a:endParaRPr lang="en-US" altLang="zh-CN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实时计算压力随活跃司机数增加（影响事件</a:t>
                      </a: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数量）</a:t>
                      </a:r>
                      <a:endParaRPr lang="zh-CN" altLang="en-US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  <a:p>
                      <a:pPr algn="l" fontAlgn="ctr" latinLnBrk="0">
                        <a:buNone/>
                      </a:pPr>
                      <a:r>
                        <a:rPr lang="zh-CN" altLang="en-US" sz="1000" b="1" i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而增加</a:t>
                      </a:r>
                      <a:endParaRPr lang="zh-CN" altLang="en-US" sz="1000" b="1" i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8270">
                <a:tc>
                  <a:txBody>
                    <a:bodyPr/>
                    <a:p>
                      <a:pPr algn="ctr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 fontAlgn="ctr" latinLnBrk="0">
                        <a:buNone/>
                      </a:pPr>
                      <a:endParaRPr lang="en-US" altLang="zh-CN" sz="1000" b="0" i="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8140" y="4298950"/>
            <a:ext cx="11534140" cy="1814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业务量增长对系统的影响主要集中在三个核心服务，应对策略：</a:t>
            </a:r>
            <a:endParaRPr lang="zh-CN" altLang="en-US" sz="1600" b="1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订单中心：业务量增加</a:t>
            </a:r>
            <a:r>
              <a:rPr lang="en-US" altLang="zh-CN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 </a:t>
            </a:r>
            <a:r>
              <a:rPr lang="en-US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-&gt; </a:t>
            </a:r>
            <a:r>
              <a:rPr lang="en-US" altLang="zh-CN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API</a:t>
            </a: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调用增加</a:t>
            </a:r>
            <a:r>
              <a:rPr lang="en-US" altLang="zh-CN" sz="160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en-US" altLang="en-US" sz="160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-&gt; </a:t>
            </a: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需增加计算和存储资源</a:t>
            </a:r>
            <a:endParaRPr lang="en-US" altLang="zh-CN" sz="160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结算服务：结算单量增加</a:t>
            </a:r>
            <a:r>
              <a:rPr lang="en-US" altLang="zh-CN" sz="160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en-US" altLang="en-US" sz="160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-&gt; </a:t>
            </a: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需增加处理能力（副本数）</a:t>
            </a:r>
            <a:endParaRPr lang="en-US" altLang="zh-CN" sz="160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实时计算：并发用户增加</a:t>
            </a:r>
            <a:r>
              <a:rPr lang="en-US" altLang="zh-CN" sz="160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</a:t>
            </a:r>
            <a:r>
              <a:rPr lang="en-US" altLang="en-US" sz="160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-&gt; </a:t>
            </a: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需提升计算性能（</a:t>
            </a:r>
            <a:r>
              <a:rPr lang="en-US" altLang="zh-CN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CPU/</a:t>
            </a:r>
            <a:r>
              <a:rPr lang="zh-CN" altLang="en-US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内存</a:t>
            </a:r>
            <a:r>
              <a:rPr lang="en-US" altLang="zh-CN" sz="160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</a:rPr>
              <a:t>)</a:t>
            </a:r>
            <a:endParaRPr lang="en-US" altLang="zh-CN" sz="160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系统基础架构</a:t>
            </a:r>
            <a:r>
              <a:rPr lang="en-US" altLang="zh-CN" dirty="0" smtClean="0">
                <a:solidFill>
                  <a:prstClr val="black"/>
                </a:solidFill>
              </a:rPr>
              <a:t>--</a:t>
            </a:r>
            <a:r>
              <a:rPr lang="zh-CN" altLang="en-US" dirty="0" smtClean="0">
                <a:solidFill>
                  <a:prstClr val="black"/>
                </a:solidFill>
              </a:rPr>
              <a:t>硬件资源配置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graphicFrame>
        <p:nvGraphicFramePr>
          <p:cNvPr id="117" name="表格 11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15415" y="1424305"/>
          <a:ext cx="9288780" cy="406082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01215"/>
                <a:gridCol w="1211580"/>
                <a:gridCol w="1211580"/>
                <a:gridCol w="767715"/>
                <a:gridCol w="883285"/>
                <a:gridCol w="1247140"/>
                <a:gridCol w="1866265"/>
              </a:tblGrid>
              <a:tr h="244475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TPCC</a:t>
                      </a:r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操作系统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244475">
                <a:tc vMerge="1">
                  <a:tcPr/>
                </a:tc>
                <a:tc vMerge="1"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磁盘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/>
                </a:tc>
                <a:tc vMerge="1"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负载均衡器</a:t>
                      </a:r>
                      <a:r>
                        <a:rPr lang="en-US" altLang="zh-CN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小型，双节点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cPr marL="68580" marR="68580" marT="0" marB="0" anchor="ctr"/>
                </a:tc>
                <a:tc hMerge="1"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86385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应用服务器</a:t>
                      </a: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16Cores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7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麒麟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嵌入式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Tomcat</a:t>
                      </a:r>
                      <a:endParaRPr lang="en-US" alt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每个节点两个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JVM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实例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目前是共享集群资源</a:t>
                      </a:r>
                      <a:endParaRPr lang="zh-CN" sz="1200" b="1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175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应用服务器</a:t>
                      </a: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16Cores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/>
                </a:tc>
                <a:tc vMerge="1">
                  <a:tcPr/>
                </a:tc>
              </a:tr>
              <a:tr h="287655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应用服务器</a:t>
                      </a: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16Cores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/>
                </a:tc>
                <a:tc vMerge="1">
                  <a:tcPr marL="68580" marR="68580" marT="0" marB="0" anchor="ctr"/>
                </a:tc>
              </a:tr>
              <a:tr h="286385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应用服务器</a:t>
                      </a: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16Cores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/>
                </a:tc>
                <a:tc vMerge="1">
                  <a:tcPr/>
                </a:tc>
              </a:tr>
              <a:tr h="520065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数据库服务器</a:t>
                      </a: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12Cores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/>
                </a:tc>
                <a:tc vMerge="1">
                  <a:tcPr/>
                </a:tc>
              </a:tr>
              <a:tr h="0">
                <a:tc vMerge="1">
                  <a:tcPr marL="68580" marR="68580" marT="0" marB="0"/>
                </a:tc>
                <a:tc vMerge="1">
                  <a:tcPr/>
                </a:tc>
                <a:tc vMerge="1">
                  <a:tcPr marL="68580" marR="68580" marT="0" marB="0"/>
                </a:tc>
                <a:tc vMerge="1">
                  <a:tcPr marL="68580" marR="68580" marT="0" marB="0"/>
                </a:tc>
                <a:tc vMerge="1">
                  <a:tcPr marL="68580" marR="68580" marT="0" marB="0"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MySQL 5.7</a:t>
                      </a:r>
                      <a:endParaRPr lang="en-US" sz="120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286385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数据库服务器</a:t>
                      </a: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10000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12Cores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sz="120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00G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/>
                </a:tc>
                <a:tc vMerge="1"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NAS(SAS)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500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中型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kern="1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r>
                        <a:rPr lang="en-US" altLang="zh-CN" sz="1200" kern="1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</a:t>
                      </a: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17500"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Redis 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缓存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服务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8G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内存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使用云组件提供的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服务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17500"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RabbitMQ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消息中间件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服务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16G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内存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 marL="68580" marR="68580" marT="0" marB="0" anchor="ctr"/>
                </a:tc>
              </a:tr>
              <a:tr h="317500"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对象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存储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en-US" altLang="zh-CN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hMerge="1"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1TB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marL="0" indent="0" algn="ctr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 vMerge="1"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15098" y="5620821"/>
            <a:ext cx="921702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dirty="0">
                <a:solidFill>
                  <a:prstClr val="black"/>
                </a:solidFill>
              </a:rPr>
              <a:t>其中，需保证：</a:t>
            </a:r>
            <a:endParaRPr lang="en-US" altLang="zh-CN" dirty="0">
              <a:solidFill>
                <a:prstClr val="black"/>
              </a:solidFill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</a:rPr>
              <a:t>系统上线后半年设备</a:t>
            </a:r>
            <a:r>
              <a:rPr lang="en-US" altLang="zh-CN" dirty="0">
                <a:solidFill>
                  <a:prstClr val="black"/>
                </a:solidFill>
              </a:rPr>
              <a:t>CPU</a:t>
            </a:r>
            <a:r>
              <a:rPr lang="zh-CN" altLang="en-US" dirty="0">
                <a:solidFill>
                  <a:prstClr val="black"/>
                </a:solidFill>
              </a:rPr>
              <a:t>和内存平均利用率达到</a:t>
            </a: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en-US" altLang="zh-CN" dirty="0">
                <a:solidFill>
                  <a:prstClr val="black"/>
                </a:solidFill>
              </a:rPr>
              <a:t>0%</a:t>
            </a:r>
            <a:r>
              <a:rPr lang="zh-CN" altLang="en-US" dirty="0">
                <a:solidFill>
                  <a:prstClr val="black"/>
                </a:solidFill>
              </a:rPr>
              <a:t>；</a:t>
            </a:r>
            <a:endParaRPr lang="en-US" altLang="zh-CN" dirty="0">
              <a:solidFill>
                <a:prstClr val="black"/>
              </a:solidFill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</a:rPr>
              <a:t>系统上线</a:t>
            </a: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 dirty="0">
                <a:solidFill>
                  <a:prstClr val="black"/>
                </a:solidFill>
              </a:rPr>
              <a:t>年设备</a:t>
            </a:r>
            <a:r>
              <a:rPr lang="en-US" altLang="zh-CN" dirty="0">
                <a:solidFill>
                  <a:prstClr val="black"/>
                </a:solidFill>
              </a:rPr>
              <a:t>CPU</a:t>
            </a:r>
            <a:r>
              <a:rPr lang="zh-CN" altLang="en-US" dirty="0">
                <a:solidFill>
                  <a:prstClr val="black"/>
                </a:solidFill>
              </a:rPr>
              <a:t>和内存平均利用率达到</a:t>
            </a:r>
            <a:r>
              <a:rPr lang="en-US" altLang="zh-CN" dirty="0">
                <a:solidFill>
                  <a:prstClr val="black"/>
                </a:solidFill>
              </a:rPr>
              <a:t>6</a:t>
            </a:r>
            <a:r>
              <a:rPr lang="en-US" altLang="zh-CN" dirty="0">
                <a:solidFill>
                  <a:prstClr val="black"/>
                </a:solidFill>
              </a:rPr>
              <a:t>0%</a:t>
            </a:r>
            <a:r>
              <a:rPr lang="zh-CN" altLang="en-US" dirty="0">
                <a:solidFill>
                  <a:prstClr val="black"/>
                </a:solidFill>
              </a:rPr>
              <a:t>；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5480" y="920279"/>
            <a:ext cx="92170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dirty="0">
                <a:solidFill>
                  <a:prstClr val="black"/>
                </a:solidFill>
              </a:rPr>
              <a:t>按照</a:t>
            </a:r>
            <a:r>
              <a:rPr lang="en-US" altLang="zh-CN" b="1" dirty="0">
                <a:solidFill>
                  <a:prstClr val="black"/>
                </a:solidFill>
              </a:rPr>
              <a:t>1</a:t>
            </a:r>
            <a:r>
              <a:rPr lang="zh-CN" altLang="en-US" b="1" dirty="0">
                <a:solidFill>
                  <a:prstClr val="black"/>
                </a:solidFill>
              </a:rPr>
              <a:t>年</a:t>
            </a:r>
            <a:r>
              <a:rPr lang="zh-CN" altLang="en-US" dirty="0">
                <a:solidFill>
                  <a:prstClr val="black"/>
                </a:solidFill>
              </a:rPr>
              <a:t>业务规模负载情况申请资源配置清单：</a:t>
            </a:r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prstClr val="black"/>
                </a:solidFill>
              </a:rPr>
              <a:t>系统安全架构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2650" y="864235"/>
            <a:ext cx="10206355" cy="566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矩形 2"/>
          <p:cNvSpPr/>
          <p:nvPr/>
        </p:nvSpPr>
        <p:spPr>
          <a:xfrm>
            <a:off x="2372678" y="4176028"/>
            <a:ext cx="7515225" cy="792162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6" name="矩形 3"/>
          <p:cNvSpPr/>
          <p:nvPr/>
        </p:nvSpPr>
        <p:spPr>
          <a:xfrm>
            <a:off x="2371090" y="2940050"/>
            <a:ext cx="7515225" cy="792480"/>
          </a:xfrm>
          <a:prstGeom prst="rect">
            <a:avLst/>
          </a:prstGeom>
          <a:solidFill>
            <a:schemeClr val="accent6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prstClr val="white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77" name="矩形 4"/>
          <p:cNvSpPr/>
          <p:nvPr/>
        </p:nvSpPr>
        <p:spPr>
          <a:xfrm>
            <a:off x="2367915" y="4176028"/>
            <a:ext cx="868363" cy="792162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3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8" name="矩形 5"/>
          <p:cNvSpPr/>
          <p:nvPr/>
        </p:nvSpPr>
        <p:spPr>
          <a:xfrm>
            <a:off x="2367915" y="2940214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2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79" name="文本框 47"/>
          <p:cNvSpPr txBox="1">
            <a:spLocks noChangeArrowheads="1"/>
          </p:cNvSpPr>
          <p:nvPr/>
        </p:nvSpPr>
        <p:spPr bwMode="auto">
          <a:xfrm>
            <a:off x="3268028" y="4337416"/>
            <a:ext cx="645795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下一步工作计划与分工确认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文本框 48"/>
          <p:cNvSpPr txBox="1">
            <a:spLocks noChangeArrowheads="1"/>
          </p:cNvSpPr>
          <p:nvPr/>
        </p:nvSpPr>
        <p:spPr bwMode="auto">
          <a:xfrm>
            <a:off x="3268028" y="3125952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系统功能与流程介绍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1" name="矩形 10"/>
          <p:cNvSpPr/>
          <p:nvPr/>
        </p:nvSpPr>
        <p:spPr>
          <a:xfrm>
            <a:off x="3236278" y="1688943"/>
            <a:ext cx="6650037" cy="792163"/>
          </a:xfrm>
          <a:prstGeom prst="rect">
            <a:avLst/>
          </a:prstGeom>
          <a:solidFill>
            <a:schemeClr val="accent6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solidFill>
                <a:schemeClr val="tx1"/>
              </a:solidFill>
              <a:latin typeface="Calibri" panose="020F0502020204030204"/>
              <a:ea typeface="造字工房悦黑体验版常规体" pitchFamily="50" charset="-122"/>
            </a:endParaRPr>
          </a:p>
        </p:txBody>
      </p:sp>
      <p:sp>
        <p:nvSpPr>
          <p:cNvPr id="1048682" name="矩形 11"/>
          <p:cNvSpPr/>
          <p:nvPr/>
        </p:nvSpPr>
        <p:spPr>
          <a:xfrm>
            <a:off x="2367915" y="1688943"/>
            <a:ext cx="868363" cy="792163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dirty="0">
                <a:solidFill>
                  <a:srgbClr val="7C7C7C"/>
                </a:solidFill>
                <a:latin typeface="Arial Black" panose="020B0A04020102020204" pitchFamily="34" charset="0"/>
              </a:rPr>
              <a:t>1</a:t>
            </a:r>
            <a:endParaRPr lang="zh-CN" altLang="en-US" sz="3600" b="1" dirty="0">
              <a:solidFill>
                <a:srgbClr val="7C7C7C"/>
              </a:solidFill>
              <a:latin typeface="Arial Black" panose="020B0A04020102020204" pitchFamily="34" charset="0"/>
            </a:endParaRPr>
          </a:p>
        </p:txBody>
      </p:sp>
      <p:sp>
        <p:nvSpPr>
          <p:cNvPr id="1048683" name="文本框 48"/>
          <p:cNvSpPr txBox="1">
            <a:spLocks noChangeArrowheads="1"/>
          </p:cNvSpPr>
          <p:nvPr/>
        </p:nvSpPr>
        <p:spPr bwMode="auto">
          <a:xfrm>
            <a:off x="3268028" y="1874681"/>
            <a:ext cx="6459537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TMS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系统上线准备情况汇报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8325" y="2706370"/>
            <a:ext cx="8680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下一步工作计划与分工确认</a:t>
            </a:r>
            <a:endParaRPr lang="zh-CN" altLang="en-US" dirty="0" smtClean="0">
              <a:solidFill>
                <a:prstClr val="black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60045" y="950595"/>
          <a:ext cx="11513185" cy="465455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34060"/>
                <a:gridCol w="2305685"/>
                <a:gridCol w="1134110"/>
                <a:gridCol w="1134110"/>
                <a:gridCol w="1264920"/>
                <a:gridCol w="1134745"/>
                <a:gridCol w="1416050"/>
                <a:gridCol w="2389505"/>
              </a:tblGrid>
              <a:tr h="465455"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事项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开始时间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结束时间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时长</a:t>
                      </a:r>
                      <a:r>
                        <a:rPr lang="en-US" altLang="zh-CN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分钟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培训对象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操作培训（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PPT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讲解）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签到表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G7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易流主讲，郭曼辅助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操作答疑（现场提问）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会议纪要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 vMerge="1">
                  <a:tcPr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系统实操（计提管理）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签到表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中场休息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分钟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系统实操（答疑）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会议纪要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G7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易流主讲，郭曼辅助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系统实操（结算管理）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签到表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中场休息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分钟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系统实操（答疑）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会议纪要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G7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易流主讲，郭曼辅助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培训考核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答疑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大区营运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签到表</a:t>
                      </a:r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成绩单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 vMerge="1">
                  <a:tcPr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财务宣贯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15:00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大区财务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签到表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 vMerge="1">
                  <a:tcPr/>
                </a:tc>
              </a:tr>
              <a:tr h="465455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物流商宣贯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16:30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物流商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签到表</a:t>
                      </a:r>
                      <a:endParaRPr lang="zh-CN" altLang="en-US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017" marR="13017" marT="13017" marB="0" anchor="ctr" anchorCtr="0"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07035" y="58489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、功能</a:t>
            </a:r>
            <a:r>
              <a:rPr lang="zh-CN" altLang="en-US"/>
              <a:t>发布；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、分批</a:t>
            </a:r>
            <a:r>
              <a:rPr lang="zh-CN" altLang="en-US"/>
              <a:t>培训；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、辅助测试</a:t>
            </a:r>
            <a:r>
              <a:rPr lang="en-US" altLang="zh-CN"/>
              <a:t>&amp;</a:t>
            </a:r>
            <a:r>
              <a:rPr lang="zh-CN" altLang="en-US"/>
              <a:t>应用；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602236" y="880930"/>
            <a:ext cx="10856592" cy="4707070"/>
            <a:chOff x="1701570" y="68130"/>
            <a:chExt cx="9192355" cy="4131354"/>
          </a:xfrm>
        </p:grpSpPr>
        <p:sp>
          <p:nvSpPr>
            <p:cNvPr id="27" name="矩形 26"/>
            <p:cNvSpPr/>
            <p:nvPr/>
          </p:nvSpPr>
          <p:spPr bwMode="auto">
            <a:xfrm>
              <a:off x="3863752" y="2495874"/>
              <a:ext cx="6804248" cy="933126"/>
            </a:xfrm>
            <a:prstGeom prst="rect">
              <a:avLst/>
            </a:prstGeom>
            <a:solidFill>
              <a:srgbClr val="328E4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8" name="文本框 29"/>
            <p:cNvSpPr txBox="1">
              <a:spLocks noChangeAspect="1"/>
            </p:cNvSpPr>
            <p:nvPr/>
          </p:nvSpPr>
          <p:spPr>
            <a:xfrm>
              <a:off x="4397763" y="2651767"/>
              <a:ext cx="6496162" cy="621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THANK YOU !</a:t>
              </a:r>
              <a:endParaRPr kumimoji="0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842077" y="915292"/>
              <a:ext cx="237232" cy="237232"/>
            </a:xfrm>
            <a:prstGeom prst="rect">
              <a:avLst/>
            </a:prstGeom>
            <a:solidFill>
              <a:srgbClr val="FFFFCC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31" name="组合 30"/>
            <p:cNvGrpSpPr>
              <a:grpSpLocks noChangeAspect="1"/>
            </p:cNvGrpSpPr>
            <p:nvPr/>
          </p:nvGrpSpPr>
          <p:grpSpPr>
            <a:xfrm>
              <a:off x="1701570" y="68130"/>
              <a:ext cx="4510551" cy="4131354"/>
              <a:chOff x="1215683" y="533562"/>
              <a:chExt cx="5638189" cy="5164192"/>
            </a:xfrm>
          </p:grpSpPr>
          <p:grpSp>
            <p:nvGrpSpPr>
              <p:cNvPr id="32" name="后翅膀"/>
              <p:cNvGrpSpPr/>
              <p:nvPr/>
            </p:nvGrpSpPr>
            <p:grpSpPr>
              <a:xfrm>
                <a:off x="1581707" y="533562"/>
                <a:ext cx="3445850" cy="3231270"/>
                <a:chOff x="1844890" y="304962"/>
                <a:chExt cx="3445850" cy="3231270"/>
              </a:xfrm>
            </p:grpSpPr>
            <p:sp>
              <p:nvSpPr>
                <p:cNvPr id="44" name="等腰三角形 15"/>
                <p:cNvSpPr/>
                <p:nvPr/>
              </p:nvSpPr>
              <p:spPr>
                <a:xfrm rot="1247463">
                  <a:off x="3151989" y="304962"/>
                  <a:ext cx="1784535" cy="2162021"/>
                </a:xfrm>
                <a:custGeom>
                  <a:avLst/>
                  <a:gdLst>
                    <a:gd name="connsiteX0" fmla="*/ 0 w 1422400"/>
                    <a:gd name="connsiteY0" fmla="*/ 1272729 h 1272729"/>
                    <a:gd name="connsiteX1" fmla="*/ 711200 w 1422400"/>
                    <a:gd name="connsiteY1" fmla="*/ 0 h 1272729"/>
                    <a:gd name="connsiteX2" fmla="*/ 1422400 w 1422400"/>
                    <a:gd name="connsiteY2" fmla="*/ 1272729 h 1272729"/>
                    <a:gd name="connsiteX3" fmla="*/ 0 w 1422400"/>
                    <a:gd name="connsiteY3" fmla="*/ 1272729 h 1272729"/>
                    <a:gd name="connsiteX0-1" fmla="*/ 0 w 1727276"/>
                    <a:gd name="connsiteY0-2" fmla="*/ 1452206 h 1452206"/>
                    <a:gd name="connsiteX1-3" fmla="*/ 1016076 w 1727276"/>
                    <a:gd name="connsiteY1-4" fmla="*/ 0 h 1452206"/>
                    <a:gd name="connsiteX2-5" fmla="*/ 1727276 w 1727276"/>
                    <a:gd name="connsiteY2-6" fmla="*/ 1272729 h 1452206"/>
                    <a:gd name="connsiteX3-7" fmla="*/ 0 w 1727276"/>
                    <a:gd name="connsiteY3-8" fmla="*/ 1452206 h 1452206"/>
                    <a:gd name="connsiteX0-9" fmla="*/ 0 w 1727276"/>
                    <a:gd name="connsiteY0-10" fmla="*/ 1167474 h 1167474"/>
                    <a:gd name="connsiteX1-11" fmla="*/ 1292677 w 1727276"/>
                    <a:gd name="connsiteY1-12" fmla="*/ 0 h 1167474"/>
                    <a:gd name="connsiteX2-13" fmla="*/ 1727276 w 1727276"/>
                    <a:gd name="connsiteY2-14" fmla="*/ 987997 h 1167474"/>
                    <a:gd name="connsiteX3-15" fmla="*/ 0 w 1727276"/>
                    <a:gd name="connsiteY3-16" fmla="*/ 1167474 h 1167474"/>
                    <a:gd name="connsiteX0-17" fmla="*/ 0 w 1721932"/>
                    <a:gd name="connsiteY0-18" fmla="*/ 1167474 h 1178422"/>
                    <a:gd name="connsiteX1-19" fmla="*/ 1292677 w 1721932"/>
                    <a:gd name="connsiteY1-20" fmla="*/ 0 h 1178422"/>
                    <a:gd name="connsiteX2-21" fmla="*/ 1721932 w 1721932"/>
                    <a:gd name="connsiteY2-22" fmla="*/ 1178422 h 1178422"/>
                    <a:gd name="connsiteX3-23" fmla="*/ 0 w 1721932"/>
                    <a:gd name="connsiteY3-24" fmla="*/ 1167474 h 1178422"/>
                    <a:gd name="connsiteX0-25" fmla="*/ 0 w 1721932"/>
                    <a:gd name="connsiteY0-26" fmla="*/ 1308706 h 1319654"/>
                    <a:gd name="connsiteX1-27" fmla="*/ 1421150 w 1721932"/>
                    <a:gd name="connsiteY1-28" fmla="*/ 0 h 1319654"/>
                    <a:gd name="connsiteX2-29" fmla="*/ 1721932 w 1721932"/>
                    <a:gd name="connsiteY2-30" fmla="*/ 1319654 h 1319654"/>
                    <a:gd name="connsiteX3-31" fmla="*/ 0 w 1721932"/>
                    <a:gd name="connsiteY3-32" fmla="*/ 1308706 h 1319654"/>
                    <a:gd name="connsiteX0-33" fmla="*/ 0 w 2096662"/>
                    <a:gd name="connsiteY0-34" fmla="*/ 1308706 h 1308706"/>
                    <a:gd name="connsiteX1-35" fmla="*/ 1421150 w 2096662"/>
                    <a:gd name="connsiteY1-36" fmla="*/ 0 h 1308706"/>
                    <a:gd name="connsiteX2-37" fmla="*/ 2096662 w 2096662"/>
                    <a:gd name="connsiteY2-38" fmla="*/ 1276812 h 1308706"/>
                    <a:gd name="connsiteX3-39" fmla="*/ 0 w 2096662"/>
                    <a:gd name="connsiteY3-40" fmla="*/ 1308706 h 1308706"/>
                    <a:gd name="connsiteX0-41" fmla="*/ 0 w 1975832"/>
                    <a:gd name="connsiteY0-42" fmla="*/ 1308706 h 1326782"/>
                    <a:gd name="connsiteX1-43" fmla="*/ 1421150 w 1975832"/>
                    <a:gd name="connsiteY1-44" fmla="*/ 0 h 1326782"/>
                    <a:gd name="connsiteX2-45" fmla="*/ 1975832 w 1975832"/>
                    <a:gd name="connsiteY2-46" fmla="*/ 1326782 h 1326782"/>
                    <a:gd name="connsiteX3-47" fmla="*/ 0 w 1975832"/>
                    <a:gd name="connsiteY3-48" fmla="*/ 1308706 h 1326782"/>
                    <a:gd name="connsiteX0-49" fmla="*/ 0 w 1975832"/>
                    <a:gd name="connsiteY0-50" fmla="*/ 1271236 h 1289312"/>
                    <a:gd name="connsiteX1-51" fmla="*/ 1488705 w 1975832"/>
                    <a:gd name="connsiteY1-52" fmla="*/ 0 h 1289312"/>
                    <a:gd name="connsiteX2-53" fmla="*/ 1975832 w 1975832"/>
                    <a:gd name="connsiteY2-54" fmla="*/ 1289312 h 1289312"/>
                    <a:gd name="connsiteX3-55" fmla="*/ 0 w 1975832"/>
                    <a:gd name="connsiteY3-56" fmla="*/ 1271236 h 1289312"/>
                    <a:gd name="connsiteX0-57" fmla="*/ 0 w 1961900"/>
                    <a:gd name="connsiteY0-58" fmla="*/ 1268496 h 1289312"/>
                    <a:gd name="connsiteX1-59" fmla="*/ 1474773 w 1961900"/>
                    <a:gd name="connsiteY1-60" fmla="*/ 0 h 1289312"/>
                    <a:gd name="connsiteX2-61" fmla="*/ 1961900 w 1961900"/>
                    <a:gd name="connsiteY2-62" fmla="*/ 1289312 h 1289312"/>
                    <a:gd name="connsiteX3-63" fmla="*/ 0 w 1961900"/>
                    <a:gd name="connsiteY3-64" fmla="*/ 1268496 h 1289312"/>
                    <a:gd name="connsiteX0-65" fmla="*/ 0 w 1960530"/>
                    <a:gd name="connsiteY0-66" fmla="*/ 1275462 h 1289312"/>
                    <a:gd name="connsiteX1-67" fmla="*/ 1473403 w 1960530"/>
                    <a:gd name="connsiteY1-68" fmla="*/ 0 h 1289312"/>
                    <a:gd name="connsiteX2-69" fmla="*/ 1960530 w 1960530"/>
                    <a:gd name="connsiteY2-70" fmla="*/ 1289312 h 1289312"/>
                    <a:gd name="connsiteX3-71" fmla="*/ 0 w 1960530"/>
                    <a:gd name="connsiteY3-72" fmla="*/ 1275462 h 1289312"/>
                    <a:gd name="connsiteX0-73" fmla="*/ 0 w 1960530"/>
                    <a:gd name="connsiteY0-74" fmla="*/ 1721302 h 1735152"/>
                    <a:gd name="connsiteX1-75" fmla="*/ 1120897 w 1960530"/>
                    <a:gd name="connsiteY1-76" fmla="*/ 0 h 1735152"/>
                    <a:gd name="connsiteX2-77" fmla="*/ 1960530 w 1960530"/>
                    <a:gd name="connsiteY2-78" fmla="*/ 1735152 h 1735152"/>
                    <a:gd name="connsiteX3-79" fmla="*/ 0 w 1960530"/>
                    <a:gd name="connsiteY3-80" fmla="*/ 1721302 h 1735152"/>
                    <a:gd name="connsiteX0-81" fmla="*/ 0 w 1960530"/>
                    <a:gd name="connsiteY0-82" fmla="*/ 1740031 h 1753881"/>
                    <a:gd name="connsiteX1-83" fmla="*/ 1098401 w 1960530"/>
                    <a:gd name="connsiteY1-84" fmla="*/ 0 h 1753881"/>
                    <a:gd name="connsiteX2-85" fmla="*/ 1960530 w 1960530"/>
                    <a:gd name="connsiteY2-86" fmla="*/ 1753881 h 1753881"/>
                    <a:gd name="connsiteX3-87" fmla="*/ 0 w 1960530"/>
                    <a:gd name="connsiteY3-88" fmla="*/ 1740031 h 1753881"/>
                    <a:gd name="connsiteX0-89" fmla="*/ 0 w 1960530"/>
                    <a:gd name="connsiteY0-90" fmla="*/ 1687945 h 1701795"/>
                    <a:gd name="connsiteX1-91" fmla="*/ 1363334 w 1960530"/>
                    <a:gd name="connsiteY1-92" fmla="*/ 0 h 1701795"/>
                    <a:gd name="connsiteX2-93" fmla="*/ 1960530 w 1960530"/>
                    <a:gd name="connsiteY2-94" fmla="*/ 1701795 h 1701795"/>
                    <a:gd name="connsiteX3-95" fmla="*/ 0 w 1960530"/>
                    <a:gd name="connsiteY3-96" fmla="*/ 1687945 h 1701795"/>
                    <a:gd name="connsiteX0-97" fmla="*/ 0 w 1960530"/>
                    <a:gd name="connsiteY0-98" fmla="*/ 1718094 h 1731944"/>
                    <a:gd name="connsiteX1-99" fmla="*/ 1340040 w 1960530"/>
                    <a:gd name="connsiteY1-100" fmla="*/ 0 h 1731944"/>
                    <a:gd name="connsiteX2-101" fmla="*/ 1960530 w 1960530"/>
                    <a:gd name="connsiteY2-102" fmla="*/ 1731944 h 1731944"/>
                    <a:gd name="connsiteX3-103" fmla="*/ 0 w 1960530"/>
                    <a:gd name="connsiteY3-104" fmla="*/ 1718094 h 1731944"/>
                    <a:gd name="connsiteX0-105" fmla="*/ 0 w 1960530"/>
                    <a:gd name="connsiteY0-106" fmla="*/ 1708043 h 1721893"/>
                    <a:gd name="connsiteX1-107" fmla="*/ 1347805 w 1960530"/>
                    <a:gd name="connsiteY1-108" fmla="*/ 0 h 1721893"/>
                    <a:gd name="connsiteX2-109" fmla="*/ 1960530 w 1960530"/>
                    <a:gd name="connsiteY2-110" fmla="*/ 1721893 h 1721893"/>
                    <a:gd name="connsiteX3-111" fmla="*/ 0 w 1960530"/>
                    <a:gd name="connsiteY3-112" fmla="*/ 1708043 h 1721893"/>
                    <a:gd name="connsiteX0-113" fmla="*/ 0 w 1960530"/>
                    <a:gd name="connsiteY0-114" fmla="*/ 2219474 h 2233324"/>
                    <a:gd name="connsiteX1-115" fmla="*/ 1688517 w 1960530"/>
                    <a:gd name="connsiteY1-116" fmla="*/ 0 h 2233324"/>
                    <a:gd name="connsiteX2-117" fmla="*/ 1960530 w 1960530"/>
                    <a:gd name="connsiteY2-118" fmla="*/ 2233324 h 2233324"/>
                    <a:gd name="connsiteX3-119" fmla="*/ 0 w 1960530"/>
                    <a:gd name="connsiteY3-120" fmla="*/ 2219474 h 2233324"/>
                    <a:gd name="connsiteX0-121" fmla="*/ 0 w 1788142"/>
                    <a:gd name="connsiteY0-122" fmla="*/ 2219474 h 2219474"/>
                    <a:gd name="connsiteX1-123" fmla="*/ 1688517 w 1788142"/>
                    <a:gd name="connsiteY1-124" fmla="*/ 0 h 2219474"/>
                    <a:gd name="connsiteX2-125" fmla="*/ 1788142 w 1788142"/>
                    <a:gd name="connsiteY2-126" fmla="*/ 974277 h 2219474"/>
                    <a:gd name="connsiteX3-127" fmla="*/ 0 w 1788142"/>
                    <a:gd name="connsiteY3-128" fmla="*/ 2219474 h 2219474"/>
                    <a:gd name="connsiteX0-129" fmla="*/ 0 w 1788142"/>
                    <a:gd name="connsiteY0-130" fmla="*/ 2205950 h 2205950"/>
                    <a:gd name="connsiteX1-131" fmla="*/ 1652898 w 1788142"/>
                    <a:gd name="connsiteY1-132" fmla="*/ 0 h 2205950"/>
                    <a:gd name="connsiteX2-133" fmla="*/ 1788142 w 1788142"/>
                    <a:gd name="connsiteY2-134" fmla="*/ 960753 h 2205950"/>
                    <a:gd name="connsiteX3-135" fmla="*/ 0 w 1788142"/>
                    <a:gd name="connsiteY3-136" fmla="*/ 2205950 h 2205950"/>
                    <a:gd name="connsiteX0-137" fmla="*/ 0 w 1788142"/>
                    <a:gd name="connsiteY0-138" fmla="*/ 2158950 h 2158950"/>
                    <a:gd name="connsiteX1-139" fmla="*/ 1609613 w 1788142"/>
                    <a:gd name="connsiteY1-140" fmla="*/ 0 h 2158950"/>
                    <a:gd name="connsiteX2-141" fmla="*/ 1788142 w 1788142"/>
                    <a:gd name="connsiteY2-142" fmla="*/ 913753 h 2158950"/>
                    <a:gd name="connsiteX3-143" fmla="*/ 0 w 1788142"/>
                    <a:gd name="connsiteY3-144" fmla="*/ 2158950 h 2158950"/>
                    <a:gd name="connsiteX0-145" fmla="*/ 0 w 1785380"/>
                    <a:gd name="connsiteY0-146" fmla="*/ 2158950 h 2158950"/>
                    <a:gd name="connsiteX1-147" fmla="*/ 1609613 w 1785380"/>
                    <a:gd name="connsiteY1-148" fmla="*/ 0 h 2158950"/>
                    <a:gd name="connsiteX2-149" fmla="*/ 1785380 w 1785380"/>
                    <a:gd name="connsiteY2-150" fmla="*/ 919897 h 2158950"/>
                    <a:gd name="connsiteX3-151" fmla="*/ 0 w 1785380"/>
                    <a:gd name="connsiteY3-152" fmla="*/ 2158950 h 2158950"/>
                    <a:gd name="connsiteX0-153" fmla="*/ 0 w 1783154"/>
                    <a:gd name="connsiteY0-154" fmla="*/ 2158950 h 2158950"/>
                    <a:gd name="connsiteX1-155" fmla="*/ 1609613 w 1783154"/>
                    <a:gd name="connsiteY1-156" fmla="*/ 0 h 2158950"/>
                    <a:gd name="connsiteX2-157" fmla="*/ 1783154 w 1783154"/>
                    <a:gd name="connsiteY2-158" fmla="*/ 920742 h 2158950"/>
                    <a:gd name="connsiteX3-159" fmla="*/ 0 w 1783154"/>
                    <a:gd name="connsiteY3-160" fmla="*/ 2158950 h 2158950"/>
                    <a:gd name="connsiteX0-161" fmla="*/ 0 w 1784535"/>
                    <a:gd name="connsiteY0-162" fmla="*/ 2162021 h 2162021"/>
                    <a:gd name="connsiteX1-163" fmla="*/ 1610994 w 1784535"/>
                    <a:gd name="connsiteY1-164" fmla="*/ 0 h 2162021"/>
                    <a:gd name="connsiteX2-165" fmla="*/ 1784535 w 1784535"/>
                    <a:gd name="connsiteY2-166" fmla="*/ 920742 h 2162021"/>
                    <a:gd name="connsiteX3-167" fmla="*/ 0 w 1784535"/>
                    <a:gd name="connsiteY3-168" fmla="*/ 2162021 h 21620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784535" h="2162021">
                      <a:moveTo>
                        <a:pt x="0" y="2162021"/>
                      </a:moveTo>
                      <a:lnTo>
                        <a:pt x="1610994" y="0"/>
                      </a:lnTo>
                      <a:lnTo>
                        <a:pt x="1784535" y="920742"/>
                      </a:lnTo>
                      <a:lnTo>
                        <a:pt x="0" y="2162021"/>
                      </a:lnTo>
                      <a:close/>
                    </a:path>
                  </a:pathLst>
                </a:custGeom>
                <a:solidFill>
                  <a:srgbClr val="F2B8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45" name="等腰三角形 18"/>
                <p:cNvSpPr/>
                <p:nvPr/>
              </p:nvSpPr>
              <p:spPr>
                <a:xfrm>
                  <a:off x="4690665" y="632230"/>
                  <a:ext cx="600075" cy="268381"/>
                </a:xfrm>
                <a:custGeom>
                  <a:avLst/>
                  <a:gdLst>
                    <a:gd name="connsiteX0" fmla="*/ 0 w 390525"/>
                    <a:gd name="connsiteY0" fmla="*/ 119156 h 119156"/>
                    <a:gd name="connsiteX1" fmla="*/ 195263 w 390525"/>
                    <a:gd name="connsiteY1" fmla="*/ 0 h 119156"/>
                    <a:gd name="connsiteX2" fmla="*/ 390525 w 390525"/>
                    <a:gd name="connsiteY2" fmla="*/ 119156 h 119156"/>
                    <a:gd name="connsiteX3" fmla="*/ 0 w 390525"/>
                    <a:gd name="connsiteY3" fmla="*/ 119156 h 119156"/>
                    <a:gd name="connsiteX0-1" fmla="*/ 0 w 428625"/>
                    <a:gd name="connsiteY0-2" fmla="*/ 157256 h 157256"/>
                    <a:gd name="connsiteX1-3" fmla="*/ 233363 w 428625"/>
                    <a:gd name="connsiteY1-4" fmla="*/ 0 h 157256"/>
                    <a:gd name="connsiteX2-5" fmla="*/ 428625 w 428625"/>
                    <a:gd name="connsiteY2-6" fmla="*/ 119156 h 157256"/>
                    <a:gd name="connsiteX3-7" fmla="*/ 0 w 428625"/>
                    <a:gd name="connsiteY3-8" fmla="*/ 157256 h 157256"/>
                    <a:gd name="connsiteX0-9" fmla="*/ 0 w 533400"/>
                    <a:gd name="connsiteY0-10" fmla="*/ 236631 h 236631"/>
                    <a:gd name="connsiteX1-11" fmla="*/ 338138 w 533400"/>
                    <a:gd name="connsiteY1-12" fmla="*/ 0 h 236631"/>
                    <a:gd name="connsiteX2-13" fmla="*/ 533400 w 533400"/>
                    <a:gd name="connsiteY2-14" fmla="*/ 119156 h 236631"/>
                    <a:gd name="connsiteX3-15" fmla="*/ 0 w 533400"/>
                    <a:gd name="connsiteY3-16" fmla="*/ 236631 h 236631"/>
                    <a:gd name="connsiteX0-17" fmla="*/ 0 w 571500"/>
                    <a:gd name="connsiteY0-18" fmla="*/ 252506 h 252506"/>
                    <a:gd name="connsiteX1-19" fmla="*/ 376238 w 571500"/>
                    <a:gd name="connsiteY1-20" fmla="*/ 0 h 252506"/>
                    <a:gd name="connsiteX2-21" fmla="*/ 571500 w 571500"/>
                    <a:gd name="connsiteY2-22" fmla="*/ 119156 h 252506"/>
                    <a:gd name="connsiteX3-23" fmla="*/ 0 w 571500"/>
                    <a:gd name="connsiteY3-24" fmla="*/ 252506 h 252506"/>
                    <a:gd name="connsiteX0-25" fmla="*/ 0 w 600075"/>
                    <a:gd name="connsiteY0-26" fmla="*/ 268381 h 268381"/>
                    <a:gd name="connsiteX1-27" fmla="*/ 404813 w 600075"/>
                    <a:gd name="connsiteY1-28" fmla="*/ 0 h 268381"/>
                    <a:gd name="connsiteX2-29" fmla="*/ 600075 w 600075"/>
                    <a:gd name="connsiteY2-30" fmla="*/ 119156 h 268381"/>
                    <a:gd name="connsiteX3-31" fmla="*/ 0 w 600075"/>
                    <a:gd name="connsiteY3-32" fmla="*/ 268381 h 26838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00075" h="268381">
                      <a:moveTo>
                        <a:pt x="0" y="268381"/>
                      </a:moveTo>
                      <a:lnTo>
                        <a:pt x="404813" y="0"/>
                      </a:lnTo>
                      <a:lnTo>
                        <a:pt x="600075" y="119156"/>
                      </a:lnTo>
                      <a:lnTo>
                        <a:pt x="0" y="268381"/>
                      </a:lnTo>
                      <a:close/>
                    </a:path>
                  </a:pathLst>
                </a:custGeom>
                <a:solidFill>
                  <a:srgbClr val="FFD3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46" name="等腰三角形 15"/>
                <p:cNvSpPr/>
                <p:nvPr/>
              </p:nvSpPr>
              <p:spPr>
                <a:xfrm rot="2261504">
                  <a:off x="3137649" y="1145480"/>
                  <a:ext cx="1960530" cy="1721893"/>
                </a:xfrm>
                <a:custGeom>
                  <a:avLst/>
                  <a:gdLst>
                    <a:gd name="connsiteX0" fmla="*/ 0 w 1422400"/>
                    <a:gd name="connsiteY0" fmla="*/ 1272729 h 1272729"/>
                    <a:gd name="connsiteX1" fmla="*/ 711200 w 1422400"/>
                    <a:gd name="connsiteY1" fmla="*/ 0 h 1272729"/>
                    <a:gd name="connsiteX2" fmla="*/ 1422400 w 1422400"/>
                    <a:gd name="connsiteY2" fmla="*/ 1272729 h 1272729"/>
                    <a:gd name="connsiteX3" fmla="*/ 0 w 1422400"/>
                    <a:gd name="connsiteY3" fmla="*/ 1272729 h 1272729"/>
                    <a:gd name="connsiteX0-1" fmla="*/ 0 w 1727276"/>
                    <a:gd name="connsiteY0-2" fmla="*/ 1452206 h 1452206"/>
                    <a:gd name="connsiteX1-3" fmla="*/ 1016076 w 1727276"/>
                    <a:gd name="connsiteY1-4" fmla="*/ 0 h 1452206"/>
                    <a:gd name="connsiteX2-5" fmla="*/ 1727276 w 1727276"/>
                    <a:gd name="connsiteY2-6" fmla="*/ 1272729 h 1452206"/>
                    <a:gd name="connsiteX3-7" fmla="*/ 0 w 1727276"/>
                    <a:gd name="connsiteY3-8" fmla="*/ 1452206 h 1452206"/>
                    <a:gd name="connsiteX0-9" fmla="*/ 0 w 1727276"/>
                    <a:gd name="connsiteY0-10" fmla="*/ 1167474 h 1167474"/>
                    <a:gd name="connsiteX1-11" fmla="*/ 1292677 w 1727276"/>
                    <a:gd name="connsiteY1-12" fmla="*/ 0 h 1167474"/>
                    <a:gd name="connsiteX2-13" fmla="*/ 1727276 w 1727276"/>
                    <a:gd name="connsiteY2-14" fmla="*/ 987997 h 1167474"/>
                    <a:gd name="connsiteX3-15" fmla="*/ 0 w 1727276"/>
                    <a:gd name="connsiteY3-16" fmla="*/ 1167474 h 1167474"/>
                    <a:gd name="connsiteX0-17" fmla="*/ 0 w 1721932"/>
                    <a:gd name="connsiteY0-18" fmla="*/ 1167474 h 1178422"/>
                    <a:gd name="connsiteX1-19" fmla="*/ 1292677 w 1721932"/>
                    <a:gd name="connsiteY1-20" fmla="*/ 0 h 1178422"/>
                    <a:gd name="connsiteX2-21" fmla="*/ 1721932 w 1721932"/>
                    <a:gd name="connsiteY2-22" fmla="*/ 1178422 h 1178422"/>
                    <a:gd name="connsiteX3-23" fmla="*/ 0 w 1721932"/>
                    <a:gd name="connsiteY3-24" fmla="*/ 1167474 h 1178422"/>
                    <a:gd name="connsiteX0-25" fmla="*/ 0 w 1721932"/>
                    <a:gd name="connsiteY0-26" fmla="*/ 1308706 h 1319654"/>
                    <a:gd name="connsiteX1-27" fmla="*/ 1421150 w 1721932"/>
                    <a:gd name="connsiteY1-28" fmla="*/ 0 h 1319654"/>
                    <a:gd name="connsiteX2-29" fmla="*/ 1721932 w 1721932"/>
                    <a:gd name="connsiteY2-30" fmla="*/ 1319654 h 1319654"/>
                    <a:gd name="connsiteX3-31" fmla="*/ 0 w 1721932"/>
                    <a:gd name="connsiteY3-32" fmla="*/ 1308706 h 1319654"/>
                    <a:gd name="connsiteX0-33" fmla="*/ 0 w 2096662"/>
                    <a:gd name="connsiteY0-34" fmla="*/ 1308706 h 1308706"/>
                    <a:gd name="connsiteX1-35" fmla="*/ 1421150 w 2096662"/>
                    <a:gd name="connsiteY1-36" fmla="*/ 0 h 1308706"/>
                    <a:gd name="connsiteX2-37" fmla="*/ 2096662 w 2096662"/>
                    <a:gd name="connsiteY2-38" fmla="*/ 1276812 h 1308706"/>
                    <a:gd name="connsiteX3-39" fmla="*/ 0 w 2096662"/>
                    <a:gd name="connsiteY3-40" fmla="*/ 1308706 h 1308706"/>
                    <a:gd name="connsiteX0-41" fmla="*/ 0 w 1975832"/>
                    <a:gd name="connsiteY0-42" fmla="*/ 1308706 h 1326782"/>
                    <a:gd name="connsiteX1-43" fmla="*/ 1421150 w 1975832"/>
                    <a:gd name="connsiteY1-44" fmla="*/ 0 h 1326782"/>
                    <a:gd name="connsiteX2-45" fmla="*/ 1975832 w 1975832"/>
                    <a:gd name="connsiteY2-46" fmla="*/ 1326782 h 1326782"/>
                    <a:gd name="connsiteX3-47" fmla="*/ 0 w 1975832"/>
                    <a:gd name="connsiteY3-48" fmla="*/ 1308706 h 1326782"/>
                    <a:gd name="connsiteX0-49" fmla="*/ 0 w 1975832"/>
                    <a:gd name="connsiteY0-50" fmla="*/ 1271236 h 1289312"/>
                    <a:gd name="connsiteX1-51" fmla="*/ 1488705 w 1975832"/>
                    <a:gd name="connsiteY1-52" fmla="*/ 0 h 1289312"/>
                    <a:gd name="connsiteX2-53" fmla="*/ 1975832 w 1975832"/>
                    <a:gd name="connsiteY2-54" fmla="*/ 1289312 h 1289312"/>
                    <a:gd name="connsiteX3-55" fmla="*/ 0 w 1975832"/>
                    <a:gd name="connsiteY3-56" fmla="*/ 1271236 h 1289312"/>
                    <a:gd name="connsiteX0-57" fmla="*/ 0 w 1961900"/>
                    <a:gd name="connsiteY0-58" fmla="*/ 1268496 h 1289312"/>
                    <a:gd name="connsiteX1-59" fmla="*/ 1474773 w 1961900"/>
                    <a:gd name="connsiteY1-60" fmla="*/ 0 h 1289312"/>
                    <a:gd name="connsiteX2-61" fmla="*/ 1961900 w 1961900"/>
                    <a:gd name="connsiteY2-62" fmla="*/ 1289312 h 1289312"/>
                    <a:gd name="connsiteX3-63" fmla="*/ 0 w 1961900"/>
                    <a:gd name="connsiteY3-64" fmla="*/ 1268496 h 1289312"/>
                    <a:gd name="connsiteX0-65" fmla="*/ 0 w 1960530"/>
                    <a:gd name="connsiteY0-66" fmla="*/ 1275462 h 1289312"/>
                    <a:gd name="connsiteX1-67" fmla="*/ 1473403 w 1960530"/>
                    <a:gd name="connsiteY1-68" fmla="*/ 0 h 1289312"/>
                    <a:gd name="connsiteX2-69" fmla="*/ 1960530 w 1960530"/>
                    <a:gd name="connsiteY2-70" fmla="*/ 1289312 h 1289312"/>
                    <a:gd name="connsiteX3-71" fmla="*/ 0 w 1960530"/>
                    <a:gd name="connsiteY3-72" fmla="*/ 1275462 h 1289312"/>
                    <a:gd name="connsiteX0-73" fmla="*/ 0 w 1960530"/>
                    <a:gd name="connsiteY0-74" fmla="*/ 1721302 h 1735152"/>
                    <a:gd name="connsiteX1-75" fmla="*/ 1120897 w 1960530"/>
                    <a:gd name="connsiteY1-76" fmla="*/ 0 h 1735152"/>
                    <a:gd name="connsiteX2-77" fmla="*/ 1960530 w 1960530"/>
                    <a:gd name="connsiteY2-78" fmla="*/ 1735152 h 1735152"/>
                    <a:gd name="connsiteX3-79" fmla="*/ 0 w 1960530"/>
                    <a:gd name="connsiteY3-80" fmla="*/ 1721302 h 1735152"/>
                    <a:gd name="connsiteX0-81" fmla="*/ 0 w 1960530"/>
                    <a:gd name="connsiteY0-82" fmla="*/ 1740031 h 1753881"/>
                    <a:gd name="connsiteX1-83" fmla="*/ 1098401 w 1960530"/>
                    <a:gd name="connsiteY1-84" fmla="*/ 0 h 1753881"/>
                    <a:gd name="connsiteX2-85" fmla="*/ 1960530 w 1960530"/>
                    <a:gd name="connsiteY2-86" fmla="*/ 1753881 h 1753881"/>
                    <a:gd name="connsiteX3-87" fmla="*/ 0 w 1960530"/>
                    <a:gd name="connsiteY3-88" fmla="*/ 1740031 h 1753881"/>
                    <a:gd name="connsiteX0-89" fmla="*/ 0 w 1960530"/>
                    <a:gd name="connsiteY0-90" fmla="*/ 1687945 h 1701795"/>
                    <a:gd name="connsiteX1-91" fmla="*/ 1363334 w 1960530"/>
                    <a:gd name="connsiteY1-92" fmla="*/ 0 h 1701795"/>
                    <a:gd name="connsiteX2-93" fmla="*/ 1960530 w 1960530"/>
                    <a:gd name="connsiteY2-94" fmla="*/ 1701795 h 1701795"/>
                    <a:gd name="connsiteX3-95" fmla="*/ 0 w 1960530"/>
                    <a:gd name="connsiteY3-96" fmla="*/ 1687945 h 1701795"/>
                    <a:gd name="connsiteX0-97" fmla="*/ 0 w 1960530"/>
                    <a:gd name="connsiteY0-98" fmla="*/ 1718094 h 1731944"/>
                    <a:gd name="connsiteX1-99" fmla="*/ 1340040 w 1960530"/>
                    <a:gd name="connsiteY1-100" fmla="*/ 0 h 1731944"/>
                    <a:gd name="connsiteX2-101" fmla="*/ 1960530 w 1960530"/>
                    <a:gd name="connsiteY2-102" fmla="*/ 1731944 h 1731944"/>
                    <a:gd name="connsiteX3-103" fmla="*/ 0 w 1960530"/>
                    <a:gd name="connsiteY3-104" fmla="*/ 1718094 h 1731944"/>
                    <a:gd name="connsiteX0-105" fmla="*/ 0 w 1960530"/>
                    <a:gd name="connsiteY0-106" fmla="*/ 1708043 h 1721893"/>
                    <a:gd name="connsiteX1-107" fmla="*/ 1347805 w 1960530"/>
                    <a:gd name="connsiteY1-108" fmla="*/ 0 h 1721893"/>
                    <a:gd name="connsiteX2-109" fmla="*/ 1960530 w 1960530"/>
                    <a:gd name="connsiteY2-110" fmla="*/ 1721893 h 1721893"/>
                    <a:gd name="connsiteX3-111" fmla="*/ 0 w 1960530"/>
                    <a:gd name="connsiteY3-112" fmla="*/ 1708043 h 17218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960530" h="1721893">
                      <a:moveTo>
                        <a:pt x="0" y="1708043"/>
                      </a:moveTo>
                      <a:lnTo>
                        <a:pt x="1347805" y="0"/>
                      </a:lnTo>
                      <a:lnTo>
                        <a:pt x="1960530" y="1721893"/>
                      </a:lnTo>
                      <a:lnTo>
                        <a:pt x="0" y="1708043"/>
                      </a:lnTo>
                      <a:close/>
                    </a:path>
                  </a:pathLst>
                </a:custGeom>
                <a:solidFill>
                  <a:srgbClr val="FFC40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47" name="等腰三角形 15"/>
                <p:cNvSpPr/>
                <p:nvPr/>
              </p:nvSpPr>
              <p:spPr>
                <a:xfrm rot="19291348">
                  <a:off x="1844890" y="2246920"/>
                  <a:ext cx="1975832" cy="1289312"/>
                </a:xfrm>
                <a:custGeom>
                  <a:avLst/>
                  <a:gdLst>
                    <a:gd name="connsiteX0" fmla="*/ 0 w 1422400"/>
                    <a:gd name="connsiteY0" fmla="*/ 1272729 h 1272729"/>
                    <a:gd name="connsiteX1" fmla="*/ 711200 w 1422400"/>
                    <a:gd name="connsiteY1" fmla="*/ 0 h 1272729"/>
                    <a:gd name="connsiteX2" fmla="*/ 1422400 w 1422400"/>
                    <a:gd name="connsiteY2" fmla="*/ 1272729 h 1272729"/>
                    <a:gd name="connsiteX3" fmla="*/ 0 w 1422400"/>
                    <a:gd name="connsiteY3" fmla="*/ 1272729 h 1272729"/>
                    <a:gd name="connsiteX0-1" fmla="*/ 0 w 1727276"/>
                    <a:gd name="connsiteY0-2" fmla="*/ 1452206 h 1452206"/>
                    <a:gd name="connsiteX1-3" fmla="*/ 1016076 w 1727276"/>
                    <a:gd name="connsiteY1-4" fmla="*/ 0 h 1452206"/>
                    <a:gd name="connsiteX2-5" fmla="*/ 1727276 w 1727276"/>
                    <a:gd name="connsiteY2-6" fmla="*/ 1272729 h 1452206"/>
                    <a:gd name="connsiteX3-7" fmla="*/ 0 w 1727276"/>
                    <a:gd name="connsiteY3-8" fmla="*/ 1452206 h 1452206"/>
                    <a:gd name="connsiteX0-9" fmla="*/ 0 w 1727276"/>
                    <a:gd name="connsiteY0-10" fmla="*/ 1167474 h 1167474"/>
                    <a:gd name="connsiteX1-11" fmla="*/ 1292677 w 1727276"/>
                    <a:gd name="connsiteY1-12" fmla="*/ 0 h 1167474"/>
                    <a:gd name="connsiteX2-13" fmla="*/ 1727276 w 1727276"/>
                    <a:gd name="connsiteY2-14" fmla="*/ 987997 h 1167474"/>
                    <a:gd name="connsiteX3-15" fmla="*/ 0 w 1727276"/>
                    <a:gd name="connsiteY3-16" fmla="*/ 1167474 h 1167474"/>
                    <a:gd name="connsiteX0-17" fmla="*/ 0 w 1721932"/>
                    <a:gd name="connsiteY0-18" fmla="*/ 1167474 h 1178422"/>
                    <a:gd name="connsiteX1-19" fmla="*/ 1292677 w 1721932"/>
                    <a:gd name="connsiteY1-20" fmla="*/ 0 h 1178422"/>
                    <a:gd name="connsiteX2-21" fmla="*/ 1721932 w 1721932"/>
                    <a:gd name="connsiteY2-22" fmla="*/ 1178422 h 1178422"/>
                    <a:gd name="connsiteX3-23" fmla="*/ 0 w 1721932"/>
                    <a:gd name="connsiteY3-24" fmla="*/ 1167474 h 1178422"/>
                    <a:gd name="connsiteX0-25" fmla="*/ 0 w 1721932"/>
                    <a:gd name="connsiteY0-26" fmla="*/ 1308706 h 1319654"/>
                    <a:gd name="connsiteX1-27" fmla="*/ 1421150 w 1721932"/>
                    <a:gd name="connsiteY1-28" fmla="*/ 0 h 1319654"/>
                    <a:gd name="connsiteX2-29" fmla="*/ 1721932 w 1721932"/>
                    <a:gd name="connsiteY2-30" fmla="*/ 1319654 h 1319654"/>
                    <a:gd name="connsiteX3-31" fmla="*/ 0 w 1721932"/>
                    <a:gd name="connsiteY3-32" fmla="*/ 1308706 h 1319654"/>
                    <a:gd name="connsiteX0-33" fmla="*/ 0 w 2096662"/>
                    <a:gd name="connsiteY0-34" fmla="*/ 1308706 h 1308706"/>
                    <a:gd name="connsiteX1-35" fmla="*/ 1421150 w 2096662"/>
                    <a:gd name="connsiteY1-36" fmla="*/ 0 h 1308706"/>
                    <a:gd name="connsiteX2-37" fmla="*/ 2096662 w 2096662"/>
                    <a:gd name="connsiteY2-38" fmla="*/ 1276812 h 1308706"/>
                    <a:gd name="connsiteX3-39" fmla="*/ 0 w 2096662"/>
                    <a:gd name="connsiteY3-40" fmla="*/ 1308706 h 1308706"/>
                    <a:gd name="connsiteX0-41" fmla="*/ 0 w 1975832"/>
                    <a:gd name="connsiteY0-42" fmla="*/ 1308706 h 1326782"/>
                    <a:gd name="connsiteX1-43" fmla="*/ 1421150 w 1975832"/>
                    <a:gd name="connsiteY1-44" fmla="*/ 0 h 1326782"/>
                    <a:gd name="connsiteX2-45" fmla="*/ 1975832 w 1975832"/>
                    <a:gd name="connsiteY2-46" fmla="*/ 1326782 h 1326782"/>
                    <a:gd name="connsiteX3-47" fmla="*/ 0 w 1975832"/>
                    <a:gd name="connsiteY3-48" fmla="*/ 1308706 h 1326782"/>
                    <a:gd name="connsiteX0-49" fmla="*/ 0 w 1975832"/>
                    <a:gd name="connsiteY0-50" fmla="*/ 1271236 h 1289312"/>
                    <a:gd name="connsiteX1-51" fmla="*/ 1488705 w 1975832"/>
                    <a:gd name="connsiteY1-52" fmla="*/ 0 h 1289312"/>
                    <a:gd name="connsiteX2-53" fmla="*/ 1975832 w 1975832"/>
                    <a:gd name="connsiteY2-54" fmla="*/ 1289312 h 1289312"/>
                    <a:gd name="connsiteX3-55" fmla="*/ 0 w 1975832"/>
                    <a:gd name="connsiteY3-56" fmla="*/ 1271236 h 128931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975832" h="1289312">
                      <a:moveTo>
                        <a:pt x="0" y="1271236"/>
                      </a:moveTo>
                      <a:lnTo>
                        <a:pt x="1488705" y="0"/>
                      </a:lnTo>
                      <a:lnTo>
                        <a:pt x="1975832" y="1289312"/>
                      </a:lnTo>
                      <a:lnTo>
                        <a:pt x="0" y="1271236"/>
                      </a:lnTo>
                      <a:close/>
                    </a:path>
                  </a:pathLst>
                </a:custGeom>
                <a:solidFill>
                  <a:srgbClr val="FFD3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</p:grpSp>
          <p:grpSp>
            <p:nvGrpSpPr>
              <p:cNvPr id="33" name="身体"/>
              <p:cNvGrpSpPr/>
              <p:nvPr/>
            </p:nvGrpSpPr>
            <p:grpSpPr>
              <a:xfrm>
                <a:off x="1215683" y="3055031"/>
                <a:ext cx="4420524" cy="2642723"/>
                <a:chOff x="2823257" y="2614410"/>
                <a:chExt cx="4420524" cy="2642723"/>
              </a:xfrm>
            </p:grpSpPr>
            <p:sp>
              <p:nvSpPr>
                <p:cNvPr id="40" name="直角三角形 39"/>
                <p:cNvSpPr/>
                <p:nvPr/>
              </p:nvSpPr>
              <p:spPr>
                <a:xfrm rot="7802093">
                  <a:off x="2824051" y="2733568"/>
                  <a:ext cx="584200" cy="585788"/>
                </a:xfrm>
                <a:prstGeom prst="rtTriangle">
                  <a:avLst/>
                </a:prstGeom>
                <a:solidFill>
                  <a:srgbClr val="FEC2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41" name="直角三角形 4"/>
                <p:cNvSpPr/>
                <p:nvPr/>
              </p:nvSpPr>
              <p:spPr>
                <a:xfrm rot="20722384">
                  <a:off x="5661780" y="3518194"/>
                  <a:ext cx="1582001" cy="1738939"/>
                </a:xfrm>
                <a:custGeom>
                  <a:avLst/>
                  <a:gdLst>
                    <a:gd name="connsiteX0" fmla="*/ 0 w 1040580"/>
                    <a:gd name="connsiteY0" fmla="*/ 1603491 h 1603491"/>
                    <a:gd name="connsiteX1" fmla="*/ 0 w 1040580"/>
                    <a:gd name="connsiteY1" fmla="*/ 0 h 1603491"/>
                    <a:gd name="connsiteX2" fmla="*/ 1040580 w 1040580"/>
                    <a:gd name="connsiteY2" fmla="*/ 1603491 h 1603491"/>
                    <a:gd name="connsiteX3" fmla="*/ 0 w 1040580"/>
                    <a:gd name="connsiteY3" fmla="*/ 1603491 h 1603491"/>
                    <a:gd name="connsiteX0-1" fmla="*/ 0 w 1040580"/>
                    <a:gd name="connsiteY0-2" fmla="*/ 1601086 h 1601086"/>
                    <a:gd name="connsiteX1-3" fmla="*/ 9216 w 1040580"/>
                    <a:gd name="connsiteY1-4" fmla="*/ 0 h 1601086"/>
                    <a:gd name="connsiteX2-5" fmla="*/ 1040580 w 1040580"/>
                    <a:gd name="connsiteY2-6" fmla="*/ 1601086 h 1601086"/>
                    <a:gd name="connsiteX3-7" fmla="*/ 0 w 1040580"/>
                    <a:gd name="connsiteY3-8" fmla="*/ 1601086 h 1601086"/>
                    <a:gd name="connsiteX0-9" fmla="*/ 0 w 1040580"/>
                    <a:gd name="connsiteY0-10" fmla="*/ 1602689 h 1602689"/>
                    <a:gd name="connsiteX1-11" fmla="*/ 3072 w 1040580"/>
                    <a:gd name="connsiteY1-12" fmla="*/ 0 h 1602689"/>
                    <a:gd name="connsiteX2-13" fmla="*/ 1040580 w 1040580"/>
                    <a:gd name="connsiteY2-14" fmla="*/ 1602689 h 1602689"/>
                    <a:gd name="connsiteX3-15" fmla="*/ 0 w 1040580"/>
                    <a:gd name="connsiteY3-16" fmla="*/ 1602689 h 1602689"/>
                    <a:gd name="connsiteX0-17" fmla="*/ 0 w 1285252"/>
                    <a:gd name="connsiteY0-18" fmla="*/ 1602689 h 1795696"/>
                    <a:gd name="connsiteX1-19" fmla="*/ 3072 w 1285252"/>
                    <a:gd name="connsiteY1-20" fmla="*/ 0 h 1795696"/>
                    <a:gd name="connsiteX2-21" fmla="*/ 1285252 w 1285252"/>
                    <a:gd name="connsiteY2-22" fmla="*/ 1795696 h 1795696"/>
                    <a:gd name="connsiteX3-23" fmla="*/ 0 w 1285252"/>
                    <a:gd name="connsiteY3-24" fmla="*/ 1602689 h 1795696"/>
                    <a:gd name="connsiteX0-25" fmla="*/ 34389 w 1282180"/>
                    <a:gd name="connsiteY0-26" fmla="*/ 1609638 h 1795696"/>
                    <a:gd name="connsiteX1-27" fmla="*/ 0 w 1282180"/>
                    <a:gd name="connsiteY1-28" fmla="*/ 0 h 1795696"/>
                    <a:gd name="connsiteX2-29" fmla="*/ 1282180 w 1282180"/>
                    <a:gd name="connsiteY2-30" fmla="*/ 1795696 h 1795696"/>
                    <a:gd name="connsiteX3-31" fmla="*/ 34389 w 1282180"/>
                    <a:gd name="connsiteY3-32" fmla="*/ 1609638 h 1795696"/>
                    <a:gd name="connsiteX0-33" fmla="*/ 51382 w 1282180"/>
                    <a:gd name="connsiteY0-34" fmla="*/ 1622478 h 1795696"/>
                    <a:gd name="connsiteX1-35" fmla="*/ 0 w 1282180"/>
                    <a:gd name="connsiteY1-36" fmla="*/ 0 h 1795696"/>
                    <a:gd name="connsiteX2-37" fmla="*/ 1282180 w 1282180"/>
                    <a:gd name="connsiteY2-38" fmla="*/ 1795696 h 1795696"/>
                    <a:gd name="connsiteX3-39" fmla="*/ 51382 w 1282180"/>
                    <a:gd name="connsiteY3-40" fmla="*/ 1622478 h 1795696"/>
                    <a:gd name="connsiteX0-41" fmla="*/ 56064 w 1282180"/>
                    <a:gd name="connsiteY0-42" fmla="*/ 1623346 h 1795696"/>
                    <a:gd name="connsiteX1-43" fmla="*/ 0 w 1282180"/>
                    <a:gd name="connsiteY1-44" fmla="*/ 0 h 1795696"/>
                    <a:gd name="connsiteX2-45" fmla="*/ 1282180 w 1282180"/>
                    <a:gd name="connsiteY2-46" fmla="*/ 1795696 h 1795696"/>
                    <a:gd name="connsiteX3-47" fmla="*/ 56064 w 1282180"/>
                    <a:gd name="connsiteY3-48" fmla="*/ 1623346 h 1795696"/>
                    <a:gd name="connsiteX0-49" fmla="*/ 56064 w 1582001"/>
                    <a:gd name="connsiteY0-50" fmla="*/ 1623346 h 1738939"/>
                    <a:gd name="connsiteX1-51" fmla="*/ 0 w 1582001"/>
                    <a:gd name="connsiteY1-52" fmla="*/ 0 h 1738939"/>
                    <a:gd name="connsiteX2-53" fmla="*/ 1582001 w 1582001"/>
                    <a:gd name="connsiteY2-54" fmla="*/ 1738939 h 1738939"/>
                    <a:gd name="connsiteX3-55" fmla="*/ 56064 w 1582001"/>
                    <a:gd name="connsiteY3-56" fmla="*/ 1623346 h 173893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82001" h="1738939">
                      <a:moveTo>
                        <a:pt x="56064" y="1623346"/>
                      </a:moveTo>
                      <a:lnTo>
                        <a:pt x="0" y="0"/>
                      </a:lnTo>
                      <a:lnTo>
                        <a:pt x="1582001" y="1738939"/>
                      </a:lnTo>
                      <a:lnTo>
                        <a:pt x="56064" y="1623346"/>
                      </a:lnTo>
                      <a:close/>
                    </a:path>
                  </a:pathLst>
                </a:custGeom>
                <a:solidFill>
                  <a:srgbClr val="FEC2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42" name="矩形 2"/>
                <p:cNvSpPr/>
                <p:nvPr/>
              </p:nvSpPr>
              <p:spPr>
                <a:xfrm>
                  <a:off x="3078051" y="2614410"/>
                  <a:ext cx="2459864" cy="1574576"/>
                </a:xfrm>
                <a:custGeom>
                  <a:avLst/>
                  <a:gdLst>
                    <a:gd name="connsiteX0" fmla="*/ 0 w 1815921"/>
                    <a:gd name="connsiteY0" fmla="*/ 0 h 1403798"/>
                    <a:gd name="connsiteX1" fmla="*/ 1815921 w 1815921"/>
                    <a:gd name="connsiteY1" fmla="*/ 0 h 1403798"/>
                    <a:gd name="connsiteX2" fmla="*/ 1815921 w 1815921"/>
                    <a:gd name="connsiteY2" fmla="*/ 1403798 h 1403798"/>
                    <a:gd name="connsiteX3" fmla="*/ 0 w 1815921"/>
                    <a:gd name="connsiteY3" fmla="*/ 1403798 h 1403798"/>
                    <a:gd name="connsiteX4" fmla="*/ 0 w 1815921"/>
                    <a:gd name="connsiteY4" fmla="*/ 0 h 1403798"/>
                    <a:gd name="connsiteX0-1" fmla="*/ 0 w 2472743"/>
                    <a:gd name="connsiteY0-2" fmla="*/ 0 h 1584102"/>
                    <a:gd name="connsiteX1-3" fmla="*/ 2472743 w 2472743"/>
                    <a:gd name="connsiteY1-4" fmla="*/ 180304 h 1584102"/>
                    <a:gd name="connsiteX2-5" fmla="*/ 2472743 w 2472743"/>
                    <a:gd name="connsiteY2-6" fmla="*/ 1584102 h 1584102"/>
                    <a:gd name="connsiteX3-7" fmla="*/ 656822 w 2472743"/>
                    <a:gd name="connsiteY3-8" fmla="*/ 1584102 h 1584102"/>
                    <a:gd name="connsiteX4-9" fmla="*/ 0 w 2472743"/>
                    <a:gd name="connsiteY4-10" fmla="*/ 0 h 1584102"/>
                    <a:gd name="connsiteX0-11" fmla="*/ 0 w 2472743"/>
                    <a:gd name="connsiteY0-12" fmla="*/ 0 h 1584102"/>
                    <a:gd name="connsiteX1-13" fmla="*/ 2472743 w 2472743"/>
                    <a:gd name="connsiteY1-14" fmla="*/ 180304 h 1584102"/>
                    <a:gd name="connsiteX2-15" fmla="*/ 2459864 w 2472743"/>
                    <a:gd name="connsiteY2-16" fmla="*/ 1210615 h 1584102"/>
                    <a:gd name="connsiteX3-17" fmla="*/ 656822 w 2472743"/>
                    <a:gd name="connsiteY3-18" fmla="*/ 1584102 h 1584102"/>
                    <a:gd name="connsiteX4-19" fmla="*/ 0 w 2472743"/>
                    <a:gd name="connsiteY4-20" fmla="*/ 0 h 1584102"/>
                    <a:gd name="connsiteX0-21" fmla="*/ 0 w 2459864"/>
                    <a:gd name="connsiteY0-22" fmla="*/ 0 h 1584102"/>
                    <a:gd name="connsiteX1-23" fmla="*/ 2253802 w 2459864"/>
                    <a:gd name="connsiteY1-24" fmla="*/ 347730 h 1584102"/>
                    <a:gd name="connsiteX2-25" fmla="*/ 2459864 w 2459864"/>
                    <a:gd name="connsiteY2-26" fmla="*/ 1210615 h 1584102"/>
                    <a:gd name="connsiteX3-27" fmla="*/ 656822 w 2459864"/>
                    <a:gd name="connsiteY3-28" fmla="*/ 1584102 h 1584102"/>
                    <a:gd name="connsiteX4-29" fmla="*/ 0 w 2459864"/>
                    <a:gd name="connsiteY4-30" fmla="*/ 0 h 1584102"/>
                    <a:gd name="connsiteX0-31" fmla="*/ 0 w 2459864"/>
                    <a:gd name="connsiteY0-32" fmla="*/ 0 h 1579339"/>
                    <a:gd name="connsiteX1-33" fmla="*/ 2253802 w 2459864"/>
                    <a:gd name="connsiteY1-34" fmla="*/ 347730 h 1579339"/>
                    <a:gd name="connsiteX2-35" fmla="*/ 2459864 w 2459864"/>
                    <a:gd name="connsiteY2-36" fmla="*/ 1210615 h 1579339"/>
                    <a:gd name="connsiteX3-37" fmla="*/ 666347 w 2459864"/>
                    <a:gd name="connsiteY3-38" fmla="*/ 1579339 h 1579339"/>
                    <a:gd name="connsiteX4-39" fmla="*/ 0 w 2459864"/>
                    <a:gd name="connsiteY4-40" fmla="*/ 0 h 1579339"/>
                    <a:gd name="connsiteX0-41" fmla="*/ 0 w 2459864"/>
                    <a:gd name="connsiteY0-42" fmla="*/ 0 h 1579339"/>
                    <a:gd name="connsiteX1-43" fmla="*/ 2253802 w 2459864"/>
                    <a:gd name="connsiteY1-44" fmla="*/ 347730 h 1579339"/>
                    <a:gd name="connsiteX2-45" fmla="*/ 2459864 w 2459864"/>
                    <a:gd name="connsiteY2-46" fmla="*/ 1210615 h 1579339"/>
                    <a:gd name="connsiteX3-47" fmla="*/ 661584 w 2459864"/>
                    <a:gd name="connsiteY3-48" fmla="*/ 1579339 h 1579339"/>
                    <a:gd name="connsiteX4-49" fmla="*/ 0 w 2459864"/>
                    <a:gd name="connsiteY4-50" fmla="*/ 0 h 1579339"/>
                    <a:gd name="connsiteX0-51" fmla="*/ 0 w 2459864"/>
                    <a:gd name="connsiteY0-52" fmla="*/ 0 h 1574576"/>
                    <a:gd name="connsiteX1-53" fmla="*/ 2253802 w 2459864"/>
                    <a:gd name="connsiteY1-54" fmla="*/ 347730 h 1574576"/>
                    <a:gd name="connsiteX2-55" fmla="*/ 2459864 w 2459864"/>
                    <a:gd name="connsiteY2-56" fmla="*/ 1210615 h 1574576"/>
                    <a:gd name="connsiteX3-57" fmla="*/ 659203 w 2459864"/>
                    <a:gd name="connsiteY3-58" fmla="*/ 1574576 h 1574576"/>
                    <a:gd name="connsiteX4-59" fmla="*/ 0 w 2459864"/>
                    <a:gd name="connsiteY4-60" fmla="*/ 0 h 1574576"/>
                    <a:gd name="connsiteX0-61" fmla="*/ 0 w 2459864"/>
                    <a:gd name="connsiteY0-62" fmla="*/ 0 h 1574576"/>
                    <a:gd name="connsiteX1-63" fmla="*/ 2253802 w 2459864"/>
                    <a:gd name="connsiteY1-64" fmla="*/ 347730 h 1574576"/>
                    <a:gd name="connsiteX2-65" fmla="*/ 2459864 w 2459864"/>
                    <a:gd name="connsiteY2-66" fmla="*/ 1210615 h 1574576"/>
                    <a:gd name="connsiteX3-67" fmla="*/ 656822 w 2459864"/>
                    <a:gd name="connsiteY3-68" fmla="*/ 1574576 h 1574576"/>
                    <a:gd name="connsiteX4-69" fmla="*/ 0 w 2459864"/>
                    <a:gd name="connsiteY4-70" fmla="*/ 0 h 1574576"/>
                    <a:gd name="connsiteX0-71" fmla="*/ 0 w 2459864"/>
                    <a:gd name="connsiteY0-72" fmla="*/ 0 h 1579338"/>
                    <a:gd name="connsiteX1-73" fmla="*/ 2253802 w 2459864"/>
                    <a:gd name="connsiteY1-74" fmla="*/ 347730 h 1579338"/>
                    <a:gd name="connsiteX2-75" fmla="*/ 2459864 w 2459864"/>
                    <a:gd name="connsiteY2-76" fmla="*/ 1210615 h 1579338"/>
                    <a:gd name="connsiteX3-77" fmla="*/ 656822 w 2459864"/>
                    <a:gd name="connsiteY3-78" fmla="*/ 1579338 h 1579338"/>
                    <a:gd name="connsiteX4-79" fmla="*/ 0 w 2459864"/>
                    <a:gd name="connsiteY4-80" fmla="*/ 0 h 1579338"/>
                    <a:gd name="connsiteX0-81" fmla="*/ 0 w 2459864"/>
                    <a:gd name="connsiteY0-82" fmla="*/ 0 h 1572194"/>
                    <a:gd name="connsiteX1-83" fmla="*/ 2253802 w 2459864"/>
                    <a:gd name="connsiteY1-84" fmla="*/ 347730 h 1572194"/>
                    <a:gd name="connsiteX2-85" fmla="*/ 2459864 w 2459864"/>
                    <a:gd name="connsiteY2-86" fmla="*/ 1210615 h 1572194"/>
                    <a:gd name="connsiteX3-87" fmla="*/ 659203 w 2459864"/>
                    <a:gd name="connsiteY3-88" fmla="*/ 1572194 h 1572194"/>
                    <a:gd name="connsiteX4-89" fmla="*/ 0 w 2459864"/>
                    <a:gd name="connsiteY4-90" fmla="*/ 0 h 1572194"/>
                    <a:gd name="connsiteX0-91" fmla="*/ 0 w 2459864"/>
                    <a:gd name="connsiteY0-92" fmla="*/ 0 h 1574575"/>
                    <a:gd name="connsiteX1-93" fmla="*/ 2253802 w 2459864"/>
                    <a:gd name="connsiteY1-94" fmla="*/ 347730 h 1574575"/>
                    <a:gd name="connsiteX2-95" fmla="*/ 2459864 w 2459864"/>
                    <a:gd name="connsiteY2-96" fmla="*/ 1210615 h 1574575"/>
                    <a:gd name="connsiteX3-97" fmla="*/ 656822 w 2459864"/>
                    <a:gd name="connsiteY3-98" fmla="*/ 1574575 h 1574575"/>
                    <a:gd name="connsiteX4-99" fmla="*/ 0 w 2459864"/>
                    <a:gd name="connsiteY4-100" fmla="*/ 0 h 1574575"/>
                    <a:gd name="connsiteX0-101" fmla="*/ 0 w 2459864"/>
                    <a:gd name="connsiteY0-102" fmla="*/ 0 h 1572194"/>
                    <a:gd name="connsiteX1-103" fmla="*/ 2253802 w 2459864"/>
                    <a:gd name="connsiteY1-104" fmla="*/ 347730 h 1572194"/>
                    <a:gd name="connsiteX2-105" fmla="*/ 2459864 w 2459864"/>
                    <a:gd name="connsiteY2-106" fmla="*/ 1210615 h 1572194"/>
                    <a:gd name="connsiteX3-107" fmla="*/ 649679 w 2459864"/>
                    <a:gd name="connsiteY3-108" fmla="*/ 1572194 h 1572194"/>
                    <a:gd name="connsiteX4-109" fmla="*/ 0 w 2459864"/>
                    <a:gd name="connsiteY4-110" fmla="*/ 0 h 1572194"/>
                    <a:gd name="connsiteX0-111" fmla="*/ 0 w 2459864"/>
                    <a:gd name="connsiteY0-112" fmla="*/ 0 h 1572194"/>
                    <a:gd name="connsiteX1-113" fmla="*/ 2253802 w 2459864"/>
                    <a:gd name="connsiteY1-114" fmla="*/ 347730 h 1572194"/>
                    <a:gd name="connsiteX2-115" fmla="*/ 2459864 w 2459864"/>
                    <a:gd name="connsiteY2-116" fmla="*/ 1210615 h 1572194"/>
                    <a:gd name="connsiteX3-117" fmla="*/ 644917 w 2459864"/>
                    <a:gd name="connsiteY3-118" fmla="*/ 1572194 h 1572194"/>
                    <a:gd name="connsiteX4-119" fmla="*/ 0 w 2459864"/>
                    <a:gd name="connsiteY4-120" fmla="*/ 0 h 1572194"/>
                    <a:gd name="connsiteX0-121" fmla="*/ 0 w 2459864"/>
                    <a:gd name="connsiteY0-122" fmla="*/ 0 h 1574576"/>
                    <a:gd name="connsiteX1-123" fmla="*/ 2253802 w 2459864"/>
                    <a:gd name="connsiteY1-124" fmla="*/ 347730 h 1574576"/>
                    <a:gd name="connsiteX2-125" fmla="*/ 2459864 w 2459864"/>
                    <a:gd name="connsiteY2-126" fmla="*/ 1210615 h 1574576"/>
                    <a:gd name="connsiteX3-127" fmla="*/ 647298 w 2459864"/>
                    <a:gd name="connsiteY3-128" fmla="*/ 1574576 h 1574576"/>
                    <a:gd name="connsiteX4-129" fmla="*/ 0 w 2459864"/>
                    <a:gd name="connsiteY4-130" fmla="*/ 0 h 157457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2459864" h="1574576">
                      <a:moveTo>
                        <a:pt x="0" y="0"/>
                      </a:moveTo>
                      <a:lnTo>
                        <a:pt x="2253802" y="347730"/>
                      </a:lnTo>
                      <a:lnTo>
                        <a:pt x="2459864" y="1210615"/>
                      </a:lnTo>
                      <a:lnTo>
                        <a:pt x="647298" y="15745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D96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43" name="直角三角形 3"/>
                <p:cNvSpPr/>
                <p:nvPr/>
              </p:nvSpPr>
              <p:spPr>
                <a:xfrm rot="10800000">
                  <a:off x="3725408" y="3814081"/>
                  <a:ext cx="1973978" cy="698950"/>
                </a:xfrm>
                <a:custGeom>
                  <a:avLst/>
                  <a:gdLst>
                    <a:gd name="connsiteX0" fmla="*/ 0 w 2061029"/>
                    <a:gd name="connsiteY0" fmla="*/ 682172 h 682172"/>
                    <a:gd name="connsiteX1" fmla="*/ 0 w 2061029"/>
                    <a:gd name="connsiteY1" fmla="*/ 0 h 682172"/>
                    <a:gd name="connsiteX2" fmla="*/ 2061029 w 2061029"/>
                    <a:gd name="connsiteY2" fmla="*/ 682172 h 682172"/>
                    <a:gd name="connsiteX3" fmla="*/ 0 w 2061029"/>
                    <a:gd name="connsiteY3" fmla="*/ 682172 h 682172"/>
                    <a:gd name="connsiteX0-1" fmla="*/ 0 w 2340429"/>
                    <a:gd name="connsiteY0-2" fmla="*/ 682172 h 809172"/>
                    <a:gd name="connsiteX1-3" fmla="*/ 0 w 2340429"/>
                    <a:gd name="connsiteY1-4" fmla="*/ 0 h 809172"/>
                    <a:gd name="connsiteX2-5" fmla="*/ 2340429 w 2340429"/>
                    <a:gd name="connsiteY2-6" fmla="*/ 809172 h 809172"/>
                    <a:gd name="connsiteX3-7" fmla="*/ 0 w 2340429"/>
                    <a:gd name="connsiteY3-8" fmla="*/ 682172 h 809172"/>
                    <a:gd name="connsiteX0-9" fmla="*/ 558800 w 2340429"/>
                    <a:gd name="connsiteY0-10" fmla="*/ 1183822 h 1183822"/>
                    <a:gd name="connsiteX1-11" fmla="*/ 0 w 2340429"/>
                    <a:gd name="connsiteY1-12" fmla="*/ 0 h 1183822"/>
                    <a:gd name="connsiteX2-13" fmla="*/ 2340429 w 2340429"/>
                    <a:gd name="connsiteY2-14" fmla="*/ 809172 h 1183822"/>
                    <a:gd name="connsiteX3-15" fmla="*/ 558800 w 2340429"/>
                    <a:gd name="connsiteY3-16" fmla="*/ 1183822 h 1183822"/>
                    <a:gd name="connsiteX0-17" fmla="*/ 222250 w 2003879"/>
                    <a:gd name="connsiteY0-18" fmla="*/ 618672 h 618672"/>
                    <a:gd name="connsiteX1-19" fmla="*/ 0 w 2003879"/>
                    <a:gd name="connsiteY1-20" fmla="*/ 0 h 618672"/>
                    <a:gd name="connsiteX2-21" fmla="*/ 2003879 w 2003879"/>
                    <a:gd name="connsiteY2-22" fmla="*/ 244022 h 618672"/>
                    <a:gd name="connsiteX3-23" fmla="*/ 222250 w 2003879"/>
                    <a:gd name="connsiteY3-24" fmla="*/ 618672 h 618672"/>
                    <a:gd name="connsiteX0-25" fmla="*/ 196850 w 1978479"/>
                    <a:gd name="connsiteY0-26" fmla="*/ 675822 h 675822"/>
                    <a:gd name="connsiteX1-27" fmla="*/ 0 w 1978479"/>
                    <a:gd name="connsiteY1-28" fmla="*/ 0 h 675822"/>
                    <a:gd name="connsiteX2-29" fmla="*/ 1978479 w 1978479"/>
                    <a:gd name="connsiteY2-30" fmla="*/ 301172 h 675822"/>
                    <a:gd name="connsiteX3-31" fmla="*/ 196850 w 1978479"/>
                    <a:gd name="connsiteY3-32" fmla="*/ 675822 h 675822"/>
                    <a:gd name="connsiteX0-33" fmla="*/ 184150 w 1965779"/>
                    <a:gd name="connsiteY0-34" fmla="*/ 685347 h 685347"/>
                    <a:gd name="connsiteX1-35" fmla="*/ 0 w 1965779"/>
                    <a:gd name="connsiteY1-36" fmla="*/ 0 h 685347"/>
                    <a:gd name="connsiteX2-37" fmla="*/ 1965779 w 1965779"/>
                    <a:gd name="connsiteY2-38" fmla="*/ 310697 h 685347"/>
                    <a:gd name="connsiteX3-39" fmla="*/ 184150 w 1965779"/>
                    <a:gd name="connsiteY3-40" fmla="*/ 685347 h 685347"/>
                    <a:gd name="connsiteX0-41" fmla="*/ 184150 w 1984829"/>
                    <a:gd name="connsiteY0-42" fmla="*/ 685347 h 685347"/>
                    <a:gd name="connsiteX1-43" fmla="*/ 0 w 1984829"/>
                    <a:gd name="connsiteY1-44" fmla="*/ 0 h 685347"/>
                    <a:gd name="connsiteX2-45" fmla="*/ 1984829 w 1984829"/>
                    <a:gd name="connsiteY2-46" fmla="*/ 310697 h 685347"/>
                    <a:gd name="connsiteX3-47" fmla="*/ 184150 w 1984829"/>
                    <a:gd name="connsiteY3-48" fmla="*/ 685347 h 685347"/>
                    <a:gd name="connsiteX0-49" fmla="*/ 184150 w 1984829"/>
                    <a:gd name="connsiteY0-50" fmla="*/ 685347 h 685347"/>
                    <a:gd name="connsiteX1-51" fmla="*/ 0 w 1984829"/>
                    <a:gd name="connsiteY1-52" fmla="*/ 0 h 685347"/>
                    <a:gd name="connsiteX2-53" fmla="*/ 1984829 w 1984829"/>
                    <a:gd name="connsiteY2-54" fmla="*/ 317047 h 685347"/>
                    <a:gd name="connsiteX3-55" fmla="*/ 184150 w 1984829"/>
                    <a:gd name="connsiteY3-56" fmla="*/ 685347 h 685347"/>
                    <a:gd name="connsiteX0-57" fmla="*/ 184150 w 1988004"/>
                    <a:gd name="connsiteY0-58" fmla="*/ 685347 h 685347"/>
                    <a:gd name="connsiteX1-59" fmla="*/ 0 w 1988004"/>
                    <a:gd name="connsiteY1-60" fmla="*/ 0 h 685347"/>
                    <a:gd name="connsiteX2-61" fmla="*/ 1988004 w 1988004"/>
                    <a:gd name="connsiteY2-62" fmla="*/ 320222 h 685347"/>
                    <a:gd name="connsiteX3-63" fmla="*/ 184150 w 1988004"/>
                    <a:gd name="connsiteY3-64" fmla="*/ 685347 h 685347"/>
                    <a:gd name="connsiteX0-65" fmla="*/ 184150 w 1997529"/>
                    <a:gd name="connsiteY0-66" fmla="*/ 685347 h 685347"/>
                    <a:gd name="connsiteX1-67" fmla="*/ 0 w 1997529"/>
                    <a:gd name="connsiteY1-68" fmla="*/ 0 h 685347"/>
                    <a:gd name="connsiteX2-69" fmla="*/ 1997529 w 1997529"/>
                    <a:gd name="connsiteY2-70" fmla="*/ 313872 h 685347"/>
                    <a:gd name="connsiteX3-71" fmla="*/ 184150 w 1997529"/>
                    <a:gd name="connsiteY3-72" fmla="*/ 685347 h 685347"/>
                    <a:gd name="connsiteX0-73" fmla="*/ 184150 w 1997529"/>
                    <a:gd name="connsiteY0-74" fmla="*/ 694872 h 694872"/>
                    <a:gd name="connsiteX1-75" fmla="*/ 0 w 1997529"/>
                    <a:gd name="connsiteY1-76" fmla="*/ 0 h 694872"/>
                    <a:gd name="connsiteX2-77" fmla="*/ 1997529 w 1997529"/>
                    <a:gd name="connsiteY2-78" fmla="*/ 313872 h 694872"/>
                    <a:gd name="connsiteX3-79" fmla="*/ 184150 w 1997529"/>
                    <a:gd name="connsiteY3-80" fmla="*/ 694872 h 694872"/>
                    <a:gd name="connsiteX0-81" fmla="*/ 191293 w 1997529"/>
                    <a:gd name="connsiteY0-82" fmla="*/ 694872 h 694872"/>
                    <a:gd name="connsiteX1-83" fmla="*/ 0 w 1997529"/>
                    <a:gd name="connsiteY1-84" fmla="*/ 0 h 694872"/>
                    <a:gd name="connsiteX2-85" fmla="*/ 1997529 w 1997529"/>
                    <a:gd name="connsiteY2-86" fmla="*/ 313872 h 694872"/>
                    <a:gd name="connsiteX3-87" fmla="*/ 191293 w 1997529"/>
                    <a:gd name="connsiteY3-88" fmla="*/ 694872 h 694872"/>
                    <a:gd name="connsiteX0-89" fmla="*/ 186530 w 1997529"/>
                    <a:gd name="connsiteY0-90" fmla="*/ 694872 h 694872"/>
                    <a:gd name="connsiteX1-91" fmla="*/ 0 w 1997529"/>
                    <a:gd name="connsiteY1-92" fmla="*/ 0 h 694872"/>
                    <a:gd name="connsiteX2-93" fmla="*/ 1997529 w 1997529"/>
                    <a:gd name="connsiteY2-94" fmla="*/ 313872 h 694872"/>
                    <a:gd name="connsiteX3-95" fmla="*/ 186530 w 1997529"/>
                    <a:gd name="connsiteY3-96" fmla="*/ 694872 h 694872"/>
                    <a:gd name="connsiteX0-97" fmla="*/ 186530 w 1992767"/>
                    <a:gd name="connsiteY0-98" fmla="*/ 694872 h 694872"/>
                    <a:gd name="connsiteX1-99" fmla="*/ 0 w 1992767"/>
                    <a:gd name="connsiteY1-100" fmla="*/ 0 h 694872"/>
                    <a:gd name="connsiteX2-101" fmla="*/ 1992767 w 1992767"/>
                    <a:gd name="connsiteY2-102" fmla="*/ 313872 h 694872"/>
                    <a:gd name="connsiteX3-103" fmla="*/ 186530 w 1992767"/>
                    <a:gd name="connsiteY3-104" fmla="*/ 694872 h 694872"/>
                    <a:gd name="connsiteX0-105" fmla="*/ 186530 w 1989592"/>
                    <a:gd name="connsiteY0-106" fmla="*/ 694872 h 694872"/>
                    <a:gd name="connsiteX1-107" fmla="*/ 0 w 1989592"/>
                    <a:gd name="connsiteY1-108" fmla="*/ 0 h 694872"/>
                    <a:gd name="connsiteX2-109" fmla="*/ 1989592 w 1989592"/>
                    <a:gd name="connsiteY2-110" fmla="*/ 313872 h 694872"/>
                    <a:gd name="connsiteX3-111" fmla="*/ 186530 w 1989592"/>
                    <a:gd name="connsiteY3-112" fmla="*/ 694872 h 694872"/>
                    <a:gd name="connsiteX0-113" fmla="*/ 186530 w 1989592"/>
                    <a:gd name="connsiteY0-114" fmla="*/ 694872 h 694872"/>
                    <a:gd name="connsiteX1-115" fmla="*/ 0 w 1989592"/>
                    <a:gd name="connsiteY1-116" fmla="*/ 0 h 694872"/>
                    <a:gd name="connsiteX2-117" fmla="*/ 1989592 w 1989592"/>
                    <a:gd name="connsiteY2-118" fmla="*/ 317047 h 694872"/>
                    <a:gd name="connsiteX3-119" fmla="*/ 186530 w 1989592"/>
                    <a:gd name="connsiteY3-120" fmla="*/ 694872 h 694872"/>
                    <a:gd name="connsiteX0-121" fmla="*/ 186530 w 1989592"/>
                    <a:gd name="connsiteY0-122" fmla="*/ 694872 h 694872"/>
                    <a:gd name="connsiteX1-123" fmla="*/ 0 w 1989592"/>
                    <a:gd name="connsiteY1-124" fmla="*/ 0 h 694872"/>
                    <a:gd name="connsiteX2-125" fmla="*/ 1989592 w 1989592"/>
                    <a:gd name="connsiteY2-126" fmla="*/ 317047 h 694872"/>
                    <a:gd name="connsiteX3-127" fmla="*/ 186530 w 1989592"/>
                    <a:gd name="connsiteY3-128" fmla="*/ 694872 h 694872"/>
                    <a:gd name="connsiteX0-129" fmla="*/ 186530 w 1992767"/>
                    <a:gd name="connsiteY0-130" fmla="*/ 694872 h 694872"/>
                    <a:gd name="connsiteX1-131" fmla="*/ 0 w 1992767"/>
                    <a:gd name="connsiteY1-132" fmla="*/ 0 h 694872"/>
                    <a:gd name="connsiteX2-133" fmla="*/ 1992767 w 1992767"/>
                    <a:gd name="connsiteY2-134" fmla="*/ 317047 h 694872"/>
                    <a:gd name="connsiteX3-135" fmla="*/ 186530 w 1992767"/>
                    <a:gd name="connsiteY3-136" fmla="*/ 694872 h 694872"/>
                    <a:gd name="connsiteX0-137" fmla="*/ 186530 w 1999117"/>
                    <a:gd name="connsiteY0-138" fmla="*/ 694872 h 694872"/>
                    <a:gd name="connsiteX1-139" fmla="*/ 0 w 1999117"/>
                    <a:gd name="connsiteY1-140" fmla="*/ 0 h 694872"/>
                    <a:gd name="connsiteX2-141" fmla="*/ 1999117 w 1999117"/>
                    <a:gd name="connsiteY2-142" fmla="*/ 317047 h 694872"/>
                    <a:gd name="connsiteX3-143" fmla="*/ 186530 w 1999117"/>
                    <a:gd name="connsiteY3-144" fmla="*/ 694872 h 694872"/>
                    <a:gd name="connsiteX0-145" fmla="*/ 186530 w 1989592"/>
                    <a:gd name="connsiteY0-146" fmla="*/ 694872 h 694872"/>
                    <a:gd name="connsiteX1-147" fmla="*/ 0 w 1989592"/>
                    <a:gd name="connsiteY1-148" fmla="*/ 0 h 694872"/>
                    <a:gd name="connsiteX2-149" fmla="*/ 1989592 w 1989592"/>
                    <a:gd name="connsiteY2-150" fmla="*/ 320222 h 694872"/>
                    <a:gd name="connsiteX3-151" fmla="*/ 186530 w 1989592"/>
                    <a:gd name="connsiteY3-152" fmla="*/ 694872 h 694872"/>
                    <a:gd name="connsiteX0-153" fmla="*/ 186530 w 1995942"/>
                    <a:gd name="connsiteY0-154" fmla="*/ 694872 h 694872"/>
                    <a:gd name="connsiteX1-155" fmla="*/ 0 w 1995942"/>
                    <a:gd name="connsiteY1-156" fmla="*/ 0 h 694872"/>
                    <a:gd name="connsiteX2-157" fmla="*/ 1995942 w 1995942"/>
                    <a:gd name="connsiteY2-158" fmla="*/ 323397 h 694872"/>
                    <a:gd name="connsiteX3-159" fmla="*/ 186530 w 1995942"/>
                    <a:gd name="connsiteY3-160" fmla="*/ 694872 h 694872"/>
                    <a:gd name="connsiteX0-161" fmla="*/ 180180 w 1989592"/>
                    <a:gd name="connsiteY0-162" fmla="*/ 704397 h 704397"/>
                    <a:gd name="connsiteX1-163" fmla="*/ 0 w 1989592"/>
                    <a:gd name="connsiteY1-164" fmla="*/ 0 h 704397"/>
                    <a:gd name="connsiteX2-165" fmla="*/ 1989592 w 1989592"/>
                    <a:gd name="connsiteY2-166" fmla="*/ 332922 h 704397"/>
                    <a:gd name="connsiteX3-167" fmla="*/ 180180 w 1989592"/>
                    <a:gd name="connsiteY3-168" fmla="*/ 704397 h 704397"/>
                    <a:gd name="connsiteX0-169" fmla="*/ 173830 w 1983242"/>
                    <a:gd name="connsiteY0-170" fmla="*/ 694872 h 694872"/>
                    <a:gd name="connsiteX1-171" fmla="*/ 0 w 1983242"/>
                    <a:gd name="connsiteY1-172" fmla="*/ 0 h 694872"/>
                    <a:gd name="connsiteX2-173" fmla="*/ 1983242 w 1983242"/>
                    <a:gd name="connsiteY2-174" fmla="*/ 323397 h 694872"/>
                    <a:gd name="connsiteX3-175" fmla="*/ 173830 w 1983242"/>
                    <a:gd name="connsiteY3-176" fmla="*/ 694872 h 694872"/>
                    <a:gd name="connsiteX0-177" fmla="*/ 177005 w 1986417"/>
                    <a:gd name="connsiteY0-178" fmla="*/ 694872 h 694872"/>
                    <a:gd name="connsiteX1-179" fmla="*/ 0 w 1986417"/>
                    <a:gd name="connsiteY1-180" fmla="*/ 0 h 694872"/>
                    <a:gd name="connsiteX2-181" fmla="*/ 1986417 w 1986417"/>
                    <a:gd name="connsiteY2-182" fmla="*/ 323397 h 694872"/>
                    <a:gd name="connsiteX3-183" fmla="*/ 177005 w 1986417"/>
                    <a:gd name="connsiteY3-184" fmla="*/ 694872 h 694872"/>
                    <a:gd name="connsiteX0-185" fmla="*/ 164566 w 1973978"/>
                    <a:gd name="connsiteY0-186" fmla="*/ 698950 h 698950"/>
                    <a:gd name="connsiteX1-187" fmla="*/ 0 w 1973978"/>
                    <a:gd name="connsiteY1-188" fmla="*/ 0 h 698950"/>
                    <a:gd name="connsiteX2-189" fmla="*/ 1973978 w 1973978"/>
                    <a:gd name="connsiteY2-190" fmla="*/ 327475 h 698950"/>
                    <a:gd name="connsiteX3-191" fmla="*/ 164566 w 1973978"/>
                    <a:gd name="connsiteY3-192" fmla="*/ 698950 h 69895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973978" h="698950">
                      <a:moveTo>
                        <a:pt x="164566" y="698950"/>
                      </a:moveTo>
                      <a:lnTo>
                        <a:pt x="0" y="0"/>
                      </a:lnTo>
                      <a:lnTo>
                        <a:pt x="1973978" y="327475"/>
                      </a:lnTo>
                      <a:lnTo>
                        <a:pt x="164566" y="698950"/>
                      </a:lnTo>
                      <a:close/>
                    </a:path>
                  </a:pathLst>
                </a:custGeom>
                <a:solidFill>
                  <a:srgbClr val="FFCD2D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</p:grpSp>
          <p:sp>
            <p:nvSpPr>
              <p:cNvPr id="34" name="等腰三角形 13"/>
              <p:cNvSpPr/>
              <p:nvPr/>
            </p:nvSpPr>
            <p:spPr>
              <a:xfrm rot="1711284">
                <a:off x="5812420" y="1880306"/>
                <a:ext cx="1041452" cy="593712"/>
              </a:xfrm>
              <a:custGeom>
                <a:avLst/>
                <a:gdLst>
                  <a:gd name="connsiteX0" fmla="*/ 0 w 1257300"/>
                  <a:gd name="connsiteY0" fmla="*/ 431800 h 431800"/>
                  <a:gd name="connsiteX1" fmla="*/ 628650 w 1257300"/>
                  <a:gd name="connsiteY1" fmla="*/ 0 h 431800"/>
                  <a:gd name="connsiteX2" fmla="*/ 1257300 w 1257300"/>
                  <a:gd name="connsiteY2" fmla="*/ 431800 h 431800"/>
                  <a:gd name="connsiteX3" fmla="*/ 0 w 1257300"/>
                  <a:gd name="connsiteY3" fmla="*/ 431800 h 431800"/>
                  <a:gd name="connsiteX0-1" fmla="*/ 0 w 1505370"/>
                  <a:gd name="connsiteY0-2" fmla="*/ 593712 h 593712"/>
                  <a:gd name="connsiteX1-3" fmla="*/ 876720 w 1505370"/>
                  <a:gd name="connsiteY1-4" fmla="*/ 0 h 593712"/>
                  <a:gd name="connsiteX2-5" fmla="*/ 1505370 w 1505370"/>
                  <a:gd name="connsiteY2-6" fmla="*/ 431800 h 593712"/>
                  <a:gd name="connsiteX3-7" fmla="*/ 0 w 1505370"/>
                  <a:gd name="connsiteY3-8" fmla="*/ 593712 h 593712"/>
                  <a:gd name="connsiteX0-9" fmla="*/ 0 w 1048275"/>
                  <a:gd name="connsiteY0-10" fmla="*/ 593712 h 593712"/>
                  <a:gd name="connsiteX1-11" fmla="*/ 876720 w 1048275"/>
                  <a:gd name="connsiteY1-12" fmla="*/ 0 h 593712"/>
                  <a:gd name="connsiteX2-13" fmla="*/ 1048275 w 1048275"/>
                  <a:gd name="connsiteY2-14" fmla="*/ 89389 h 593712"/>
                  <a:gd name="connsiteX3-15" fmla="*/ 0 w 1048275"/>
                  <a:gd name="connsiteY3-16" fmla="*/ 593712 h 593712"/>
                  <a:gd name="connsiteX0-17" fmla="*/ 0 w 1041452"/>
                  <a:gd name="connsiteY0-18" fmla="*/ 593712 h 593712"/>
                  <a:gd name="connsiteX1-19" fmla="*/ 876720 w 1041452"/>
                  <a:gd name="connsiteY1-20" fmla="*/ 0 h 593712"/>
                  <a:gd name="connsiteX2-21" fmla="*/ 1041452 w 1041452"/>
                  <a:gd name="connsiteY2-22" fmla="*/ 76835 h 593712"/>
                  <a:gd name="connsiteX3-23" fmla="*/ 0 w 1041452"/>
                  <a:gd name="connsiteY3-24" fmla="*/ 593712 h 59371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041452" h="593712">
                    <a:moveTo>
                      <a:pt x="0" y="593712"/>
                    </a:moveTo>
                    <a:lnTo>
                      <a:pt x="876720" y="0"/>
                    </a:lnTo>
                    <a:lnTo>
                      <a:pt x="1041452" y="76835"/>
                    </a:lnTo>
                    <a:lnTo>
                      <a:pt x="0" y="593712"/>
                    </a:lnTo>
                    <a:close/>
                  </a:path>
                </a:pathLst>
              </a:custGeom>
              <a:solidFill>
                <a:srgbClr val="FFE38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grpSp>
            <p:nvGrpSpPr>
              <p:cNvPr id="35" name="前翅膀"/>
              <p:cNvGrpSpPr/>
              <p:nvPr/>
            </p:nvGrpSpPr>
            <p:grpSpPr>
              <a:xfrm>
                <a:off x="2126060" y="1651641"/>
                <a:ext cx="4680956" cy="2639549"/>
                <a:chOff x="2389243" y="1423041"/>
                <a:chExt cx="4680956" cy="2639549"/>
              </a:xfrm>
            </p:grpSpPr>
            <p:sp>
              <p:nvSpPr>
                <p:cNvPr id="37" name="直角三角形 7"/>
                <p:cNvSpPr/>
                <p:nvPr/>
              </p:nvSpPr>
              <p:spPr>
                <a:xfrm>
                  <a:off x="2389243" y="2123614"/>
                  <a:ext cx="2510973" cy="1938976"/>
                </a:xfrm>
                <a:custGeom>
                  <a:avLst/>
                  <a:gdLst>
                    <a:gd name="connsiteX0" fmla="*/ 0 w 5428343"/>
                    <a:gd name="connsiteY0" fmla="*/ 2845210 h 2845210"/>
                    <a:gd name="connsiteX1" fmla="*/ 0 w 5428343"/>
                    <a:gd name="connsiteY1" fmla="*/ 0 h 2845210"/>
                    <a:gd name="connsiteX2" fmla="*/ 5428343 w 5428343"/>
                    <a:gd name="connsiteY2" fmla="*/ 2845210 h 2845210"/>
                    <a:gd name="connsiteX3" fmla="*/ 0 w 5428343"/>
                    <a:gd name="connsiteY3" fmla="*/ 2845210 h 2845210"/>
                    <a:gd name="connsiteX0-1" fmla="*/ 0 w 5428343"/>
                    <a:gd name="connsiteY0-2" fmla="*/ 2932296 h 2932296"/>
                    <a:gd name="connsiteX1-3" fmla="*/ 3497943 w 5428343"/>
                    <a:gd name="connsiteY1-4" fmla="*/ 0 h 2932296"/>
                    <a:gd name="connsiteX2-5" fmla="*/ 5428343 w 5428343"/>
                    <a:gd name="connsiteY2-6" fmla="*/ 2932296 h 2932296"/>
                    <a:gd name="connsiteX3-7" fmla="*/ 0 w 5428343"/>
                    <a:gd name="connsiteY3-8" fmla="*/ 2932296 h 2932296"/>
                    <a:gd name="connsiteX0-9" fmla="*/ 0 w 5428343"/>
                    <a:gd name="connsiteY0-10" fmla="*/ 2554925 h 2554925"/>
                    <a:gd name="connsiteX1-11" fmla="*/ 1712686 w 5428343"/>
                    <a:gd name="connsiteY1-12" fmla="*/ 0 h 2554925"/>
                    <a:gd name="connsiteX2-13" fmla="*/ 5428343 w 5428343"/>
                    <a:gd name="connsiteY2-14" fmla="*/ 2554925 h 2554925"/>
                    <a:gd name="connsiteX3-15" fmla="*/ 0 w 5428343"/>
                    <a:gd name="connsiteY3-16" fmla="*/ 2554925 h 2554925"/>
                    <a:gd name="connsiteX0-17" fmla="*/ 0 w 7649029"/>
                    <a:gd name="connsiteY0-18" fmla="*/ 2554925 h 2554925"/>
                    <a:gd name="connsiteX1-19" fmla="*/ 1712686 w 7649029"/>
                    <a:gd name="connsiteY1-20" fmla="*/ 0 h 2554925"/>
                    <a:gd name="connsiteX2-21" fmla="*/ 7649029 w 7649029"/>
                    <a:gd name="connsiteY2-22" fmla="*/ 2075953 h 2554925"/>
                    <a:gd name="connsiteX3-23" fmla="*/ 0 w 7649029"/>
                    <a:gd name="connsiteY3-24" fmla="*/ 2554925 h 2554925"/>
                    <a:gd name="connsiteX0-25" fmla="*/ 0 w 7649029"/>
                    <a:gd name="connsiteY0-26" fmla="*/ 2772640 h 2772640"/>
                    <a:gd name="connsiteX1-27" fmla="*/ 1611086 w 7649029"/>
                    <a:gd name="connsiteY1-28" fmla="*/ 0 h 2772640"/>
                    <a:gd name="connsiteX2-29" fmla="*/ 7649029 w 7649029"/>
                    <a:gd name="connsiteY2-30" fmla="*/ 2293668 h 2772640"/>
                    <a:gd name="connsiteX3-31" fmla="*/ 0 w 7649029"/>
                    <a:gd name="connsiteY3-32" fmla="*/ 2772640 h 2772640"/>
                    <a:gd name="connsiteX0-33" fmla="*/ 0 w 7881258"/>
                    <a:gd name="connsiteY0-34" fmla="*/ 2816183 h 2816183"/>
                    <a:gd name="connsiteX1-35" fmla="*/ 1843315 w 7881258"/>
                    <a:gd name="connsiteY1-36" fmla="*/ 0 h 2816183"/>
                    <a:gd name="connsiteX2-37" fmla="*/ 7881258 w 7881258"/>
                    <a:gd name="connsiteY2-38" fmla="*/ 2293668 h 2816183"/>
                    <a:gd name="connsiteX3-39" fmla="*/ 0 w 7881258"/>
                    <a:gd name="connsiteY3-40" fmla="*/ 2816183 h 2816183"/>
                    <a:gd name="connsiteX0-41" fmla="*/ 0 w 7881258"/>
                    <a:gd name="connsiteY0-42" fmla="*/ 3120983 h 3120983"/>
                    <a:gd name="connsiteX1-43" fmla="*/ 1727200 w 7881258"/>
                    <a:gd name="connsiteY1-44" fmla="*/ 0 h 3120983"/>
                    <a:gd name="connsiteX2-45" fmla="*/ 7881258 w 7881258"/>
                    <a:gd name="connsiteY2-46" fmla="*/ 2598468 h 3120983"/>
                    <a:gd name="connsiteX3-47" fmla="*/ 0 w 7881258"/>
                    <a:gd name="connsiteY3-48" fmla="*/ 3120983 h 3120983"/>
                    <a:gd name="connsiteX0-49" fmla="*/ 0 w 7881258"/>
                    <a:gd name="connsiteY0-50" fmla="*/ 3114633 h 3114633"/>
                    <a:gd name="connsiteX1-51" fmla="*/ 1724025 w 7881258"/>
                    <a:gd name="connsiteY1-52" fmla="*/ 0 h 3114633"/>
                    <a:gd name="connsiteX2-53" fmla="*/ 7881258 w 7881258"/>
                    <a:gd name="connsiteY2-54" fmla="*/ 2592118 h 3114633"/>
                    <a:gd name="connsiteX3-55" fmla="*/ 0 w 7881258"/>
                    <a:gd name="connsiteY3-56" fmla="*/ 3114633 h 3114633"/>
                    <a:gd name="connsiteX0-57" fmla="*/ 0 w 7881258"/>
                    <a:gd name="connsiteY0-58" fmla="*/ 1866404 h 1866404"/>
                    <a:gd name="connsiteX1-59" fmla="*/ 1114425 w 7881258"/>
                    <a:gd name="connsiteY1-60" fmla="*/ 0 h 1866404"/>
                    <a:gd name="connsiteX2-61" fmla="*/ 7881258 w 7881258"/>
                    <a:gd name="connsiteY2-62" fmla="*/ 1343889 h 1866404"/>
                    <a:gd name="connsiteX3-63" fmla="*/ 0 w 7881258"/>
                    <a:gd name="connsiteY3-64" fmla="*/ 1866404 h 1866404"/>
                    <a:gd name="connsiteX0-65" fmla="*/ 0 w 2510973"/>
                    <a:gd name="connsiteY0-66" fmla="*/ 1866404 h 1866404"/>
                    <a:gd name="connsiteX1-67" fmla="*/ 1114425 w 2510973"/>
                    <a:gd name="connsiteY1-68" fmla="*/ 0 h 1866404"/>
                    <a:gd name="connsiteX2-69" fmla="*/ 2510973 w 2510973"/>
                    <a:gd name="connsiteY2-70" fmla="*/ 1648689 h 1866404"/>
                    <a:gd name="connsiteX3-71" fmla="*/ 0 w 2510973"/>
                    <a:gd name="connsiteY3-72" fmla="*/ 1866404 h 1866404"/>
                    <a:gd name="connsiteX0-73" fmla="*/ 0 w 2510973"/>
                    <a:gd name="connsiteY0-74" fmla="*/ 1866404 h 1866404"/>
                    <a:gd name="connsiteX1-75" fmla="*/ 1114425 w 2510973"/>
                    <a:gd name="connsiteY1-76" fmla="*/ 0 h 1866404"/>
                    <a:gd name="connsiteX2-77" fmla="*/ 2510973 w 2510973"/>
                    <a:gd name="connsiteY2-78" fmla="*/ 1692232 h 1866404"/>
                    <a:gd name="connsiteX3-79" fmla="*/ 0 w 2510973"/>
                    <a:gd name="connsiteY3-80" fmla="*/ 1866404 h 1866404"/>
                    <a:gd name="connsiteX0-81" fmla="*/ 0 w 2510973"/>
                    <a:gd name="connsiteY0-82" fmla="*/ 1880919 h 1880919"/>
                    <a:gd name="connsiteX1-83" fmla="*/ 1767567 w 2510973"/>
                    <a:gd name="connsiteY1-84" fmla="*/ 0 h 1880919"/>
                    <a:gd name="connsiteX2-85" fmla="*/ 2510973 w 2510973"/>
                    <a:gd name="connsiteY2-86" fmla="*/ 1706747 h 1880919"/>
                    <a:gd name="connsiteX3-87" fmla="*/ 0 w 2510973"/>
                    <a:gd name="connsiteY3-88" fmla="*/ 1880919 h 1880919"/>
                    <a:gd name="connsiteX0-89" fmla="*/ 0 w 2510973"/>
                    <a:gd name="connsiteY0-90" fmla="*/ 1895433 h 1895433"/>
                    <a:gd name="connsiteX1-91" fmla="*/ 1724024 w 2510973"/>
                    <a:gd name="connsiteY1-92" fmla="*/ 0 h 1895433"/>
                    <a:gd name="connsiteX2-93" fmla="*/ 2510973 w 2510973"/>
                    <a:gd name="connsiteY2-94" fmla="*/ 1721261 h 1895433"/>
                    <a:gd name="connsiteX3-95" fmla="*/ 0 w 2510973"/>
                    <a:gd name="connsiteY3-96" fmla="*/ 1895433 h 1895433"/>
                    <a:gd name="connsiteX0-97" fmla="*/ 0 w 2510973"/>
                    <a:gd name="connsiteY0-98" fmla="*/ 1938976 h 1938976"/>
                    <a:gd name="connsiteX1-99" fmla="*/ 1840138 w 2510973"/>
                    <a:gd name="connsiteY1-100" fmla="*/ 0 h 1938976"/>
                    <a:gd name="connsiteX2-101" fmla="*/ 2510973 w 2510973"/>
                    <a:gd name="connsiteY2-102" fmla="*/ 1764804 h 1938976"/>
                    <a:gd name="connsiteX3-103" fmla="*/ 0 w 2510973"/>
                    <a:gd name="connsiteY3-104" fmla="*/ 1938976 h 193897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510973" h="1938976">
                      <a:moveTo>
                        <a:pt x="0" y="1938976"/>
                      </a:moveTo>
                      <a:lnTo>
                        <a:pt x="1840138" y="0"/>
                      </a:lnTo>
                      <a:lnTo>
                        <a:pt x="2510973" y="1764804"/>
                      </a:lnTo>
                      <a:lnTo>
                        <a:pt x="0" y="1938976"/>
                      </a:lnTo>
                      <a:close/>
                    </a:path>
                  </a:pathLst>
                </a:custGeom>
                <a:solidFill>
                  <a:srgbClr val="FFE38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38" name="直角三角形 7"/>
                <p:cNvSpPr/>
                <p:nvPr/>
              </p:nvSpPr>
              <p:spPr>
                <a:xfrm rot="10800000">
                  <a:off x="4225564" y="2127361"/>
                  <a:ext cx="2010911" cy="1764804"/>
                </a:xfrm>
                <a:custGeom>
                  <a:avLst/>
                  <a:gdLst>
                    <a:gd name="connsiteX0" fmla="*/ 0 w 5428343"/>
                    <a:gd name="connsiteY0" fmla="*/ 2845210 h 2845210"/>
                    <a:gd name="connsiteX1" fmla="*/ 0 w 5428343"/>
                    <a:gd name="connsiteY1" fmla="*/ 0 h 2845210"/>
                    <a:gd name="connsiteX2" fmla="*/ 5428343 w 5428343"/>
                    <a:gd name="connsiteY2" fmla="*/ 2845210 h 2845210"/>
                    <a:gd name="connsiteX3" fmla="*/ 0 w 5428343"/>
                    <a:gd name="connsiteY3" fmla="*/ 2845210 h 2845210"/>
                    <a:gd name="connsiteX0-1" fmla="*/ 0 w 5428343"/>
                    <a:gd name="connsiteY0-2" fmla="*/ 2932296 h 2932296"/>
                    <a:gd name="connsiteX1-3" fmla="*/ 3497943 w 5428343"/>
                    <a:gd name="connsiteY1-4" fmla="*/ 0 h 2932296"/>
                    <a:gd name="connsiteX2-5" fmla="*/ 5428343 w 5428343"/>
                    <a:gd name="connsiteY2-6" fmla="*/ 2932296 h 2932296"/>
                    <a:gd name="connsiteX3-7" fmla="*/ 0 w 5428343"/>
                    <a:gd name="connsiteY3-8" fmla="*/ 2932296 h 2932296"/>
                    <a:gd name="connsiteX0-9" fmla="*/ 0 w 5428343"/>
                    <a:gd name="connsiteY0-10" fmla="*/ 2554925 h 2554925"/>
                    <a:gd name="connsiteX1-11" fmla="*/ 1712686 w 5428343"/>
                    <a:gd name="connsiteY1-12" fmla="*/ 0 h 2554925"/>
                    <a:gd name="connsiteX2-13" fmla="*/ 5428343 w 5428343"/>
                    <a:gd name="connsiteY2-14" fmla="*/ 2554925 h 2554925"/>
                    <a:gd name="connsiteX3-15" fmla="*/ 0 w 5428343"/>
                    <a:gd name="connsiteY3-16" fmla="*/ 2554925 h 2554925"/>
                    <a:gd name="connsiteX0-17" fmla="*/ 0 w 7649029"/>
                    <a:gd name="connsiteY0-18" fmla="*/ 2554925 h 2554925"/>
                    <a:gd name="connsiteX1-19" fmla="*/ 1712686 w 7649029"/>
                    <a:gd name="connsiteY1-20" fmla="*/ 0 h 2554925"/>
                    <a:gd name="connsiteX2-21" fmla="*/ 7649029 w 7649029"/>
                    <a:gd name="connsiteY2-22" fmla="*/ 2075953 h 2554925"/>
                    <a:gd name="connsiteX3-23" fmla="*/ 0 w 7649029"/>
                    <a:gd name="connsiteY3-24" fmla="*/ 2554925 h 2554925"/>
                    <a:gd name="connsiteX0-25" fmla="*/ 0 w 7649029"/>
                    <a:gd name="connsiteY0-26" fmla="*/ 2772640 h 2772640"/>
                    <a:gd name="connsiteX1-27" fmla="*/ 1611086 w 7649029"/>
                    <a:gd name="connsiteY1-28" fmla="*/ 0 h 2772640"/>
                    <a:gd name="connsiteX2-29" fmla="*/ 7649029 w 7649029"/>
                    <a:gd name="connsiteY2-30" fmla="*/ 2293668 h 2772640"/>
                    <a:gd name="connsiteX3-31" fmla="*/ 0 w 7649029"/>
                    <a:gd name="connsiteY3-32" fmla="*/ 2772640 h 2772640"/>
                    <a:gd name="connsiteX0-33" fmla="*/ 0 w 7881258"/>
                    <a:gd name="connsiteY0-34" fmla="*/ 2816183 h 2816183"/>
                    <a:gd name="connsiteX1-35" fmla="*/ 1843315 w 7881258"/>
                    <a:gd name="connsiteY1-36" fmla="*/ 0 h 2816183"/>
                    <a:gd name="connsiteX2-37" fmla="*/ 7881258 w 7881258"/>
                    <a:gd name="connsiteY2-38" fmla="*/ 2293668 h 2816183"/>
                    <a:gd name="connsiteX3-39" fmla="*/ 0 w 7881258"/>
                    <a:gd name="connsiteY3-40" fmla="*/ 2816183 h 2816183"/>
                    <a:gd name="connsiteX0-41" fmla="*/ 0 w 7881258"/>
                    <a:gd name="connsiteY0-42" fmla="*/ 3120983 h 3120983"/>
                    <a:gd name="connsiteX1-43" fmla="*/ 1727200 w 7881258"/>
                    <a:gd name="connsiteY1-44" fmla="*/ 0 h 3120983"/>
                    <a:gd name="connsiteX2-45" fmla="*/ 7881258 w 7881258"/>
                    <a:gd name="connsiteY2-46" fmla="*/ 2598468 h 3120983"/>
                    <a:gd name="connsiteX3-47" fmla="*/ 0 w 7881258"/>
                    <a:gd name="connsiteY3-48" fmla="*/ 3120983 h 3120983"/>
                    <a:gd name="connsiteX0-49" fmla="*/ 0 w 7881258"/>
                    <a:gd name="connsiteY0-50" fmla="*/ 3114633 h 3114633"/>
                    <a:gd name="connsiteX1-51" fmla="*/ 1724025 w 7881258"/>
                    <a:gd name="connsiteY1-52" fmla="*/ 0 h 3114633"/>
                    <a:gd name="connsiteX2-53" fmla="*/ 7881258 w 7881258"/>
                    <a:gd name="connsiteY2-54" fmla="*/ 2592118 h 3114633"/>
                    <a:gd name="connsiteX3-55" fmla="*/ 0 w 7881258"/>
                    <a:gd name="connsiteY3-56" fmla="*/ 3114633 h 3114633"/>
                    <a:gd name="connsiteX0-57" fmla="*/ 0 w 7881258"/>
                    <a:gd name="connsiteY0-58" fmla="*/ 1866404 h 1866404"/>
                    <a:gd name="connsiteX1-59" fmla="*/ 1114425 w 7881258"/>
                    <a:gd name="connsiteY1-60" fmla="*/ 0 h 1866404"/>
                    <a:gd name="connsiteX2-61" fmla="*/ 7881258 w 7881258"/>
                    <a:gd name="connsiteY2-62" fmla="*/ 1343889 h 1866404"/>
                    <a:gd name="connsiteX3-63" fmla="*/ 0 w 7881258"/>
                    <a:gd name="connsiteY3-64" fmla="*/ 1866404 h 1866404"/>
                    <a:gd name="connsiteX0-65" fmla="*/ 0 w 2510973"/>
                    <a:gd name="connsiteY0-66" fmla="*/ 1866404 h 1866404"/>
                    <a:gd name="connsiteX1-67" fmla="*/ 1114425 w 2510973"/>
                    <a:gd name="connsiteY1-68" fmla="*/ 0 h 1866404"/>
                    <a:gd name="connsiteX2-69" fmla="*/ 2510973 w 2510973"/>
                    <a:gd name="connsiteY2-70" fmla="*/ 1648689 h 1866404"/>
                    <a:gd name="connsiteX3-71" fmla="*/ 0 w 2510973"/>
                    <a:gd name="connsiteY3-72" fmla="*/ 1866404 h 1866404"/>
                    <a:gd name="connsiteX0-73" fmla="*/ 0 w 2510973"/>
                    <a:gd name="connsiteY0-74" fmla="*/ 1866404 h 1866404"/>
                    <a:gd name="connsiteX1-75" fmla="*/ 1114425 w 2510973"/>
                    <a:gd name="connsiteY1-76" fmla="*/ 0 h 1866404"/>
                    <a:gd name="connsiteX2-77" fmla="*/ 2510973 w 2510973"/>
                    <a:gd name="connsiteY2-78" fmla="*/ 1692232 h 1866404"/>
                    <a:gd name="connsiteX3-79" fmla="*/ 0 w 2510973"/>
                    <a:gd name="connsiteY3-80" fmla="*/ 1866404 h 1866404"/>
                    <a:gd name="connsiteX0-81" fmla="*/ 0 w 2510973"/>
                    <a:gd name="connsiteY0-82" fmla="*/ 1880919 h 1880919"/>
                    <a:gd name="connsiteX1-83" fmla="*/ 1767567 w 2510973"/>
                    <a:gd name="connsiteY1-84" fmla="*/ 0 h 1880919"/>
                    <a:gd name="connsiteX2-85" fmla="*/ 2510973 w 2510973"/>
                    <a:gd name="connsiteY2-86" fmla="*/ 1706747 h 1880919"/>
                    <a:gd name="connsiteX3-87" fmla="*/ 0 w 2510973"/>
                    <a:gd name="connsiteY3-88" fmla="*/ 1880919 h 1880919"/>
                    <a:gd name="connsiteX0-89" fmla="*/ 0 w 2510973"/>
                    <a:gd name="connsiteY0-90" fmla="*/ 1895433 h 1895433"/>
                    <a:gd name="connsiteX1-91" fmla="*/ 1724024 w 2510973"/>
                    <a:gd name="connsiteY1-92" fmla="*/ 0 h 1895433"/>
                    <a:gd name="connsiteX2-93" fmla="*/ 2510973 w 2510973"/>
                    <a:gd name="connsiteY2-94" fmla="*/ 1721261 h 1895433"/>
                    <a:gd name="connsiteX3-95" fmla="*/ 0 w 2510973"/>
                    <a:gd name="connsiteY3-96" fmla="*/ 1895433 h 1895433"/>
                    <a:gd name="connsiteX0-97" fmla="*/ 0 w 2510973"/>
                    <a:gd name="connsiteY0-98" fmla="*/ 1938976 h 1938976"/>
                    <a:gd name="connsiteX1-99" fmla="*/ 1840138 w 2510973"/>
                    <a:gd name="connsiteY1-100" fmla="*/ 0 h 1938976"/>
                    <a:gd name="connsiteX2-101" fmla="*/ 2510973 w 2510973"/>
                    <a:gd name="connsiteY2-102" fmla="*/ 1764804 h 1938976"/>
                    <a:gd name="connsiteX3-103" fmla="*/ 0 w 2510973"/>
                    <a:gd name="connsiteY3-104" fmla="*/ 1938976 h 1938976"/>
                    <a:gd name="connsiteX0-105" fmla="*/ 0 w 1929948"/>
                    <a:gd name="connsiteY0-106" fmla="*/ 1324614 h 1764804"/>
                    <a:gd name="connsiteX1-107" fmla="*/ 1259113 w 1929948"/>
                    <a:gd name="connsiteY1-108" fmla="*/ 0 h 1764804"/>
                    <a:gd name="connsiteX2-109" fmla="*/ 1929948 w 1929948"/>
                    <a:gd name="connsiteY2-110" fmla="*/ 1764804 h 1764804"/>
                    <a:gd name="connsiteX3-111" fmla="*/ 0 w 1929948"/>
                    <a:gd name="connsiteY3-112" fmla="*/ 1324614 h 1764804"/>
                    <a:gd name="connsiteX0-113" fmla="*/ 0 w 2010911"/>
                    <a:gd name="connsiteY0-114" fmla="*/ 1005527 h 1764804"/>
                    <a:gd name="connsiteX1-115" fmla="*/ 1340076 w 2010911"/>
                    <a:gd name="connsiteY1-116" fmla="*/ 0 h 1764804"/>
                    <a:gd name="connsiteX2-117" fmla="*/ 2010911 w 2010911"/>
                    <a:gd name="connsiteY2-118" fmla="*/ 1764804 h 1764804"/>
                    <a:gd name="connsiteX3-119" fmla="*/ 0 w 2010911"/>
                    <a:gd name="connsiteY3-120" fmla="*/ 1005527 h 1764804"/>
                    <a:gd name="connsiteX0-121" fmla="*/ 0 w 2010911"/>
                    <a:gd name="connsiteY0-122" fmla="*/ 1005527 h 1764804"/>
                    <a:gd name="connsiteX1-123" fmla="*/ 1349601 w 2010911"/>
                    <a:gd name="connsiteY1-124" fmla="*/ 0 h 1764804"/>
                    <a:gd name="connsiteX2-125" fmla="*/ 2010911 w 2010911"/>
                    <a:gd name="connsiteY2-126" fmla="*/ 1764804 h 1764804"/>
                    <a:gd name="connsiteX3-127" fmla="*/ 0 w 2010911"/>
                    <a:gd name="connsiteY3-128" fmla="*/ 1005527 h 176480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010911" h="1764804">
                      <a:moveTo>
                        <a:pt x="0" y="1005527"/>
                      </a:moveTo>
                      <a:lnTo>
                        <a:pt x="1349601" y="0"/>
                      </a:lnTo>
                      <a:lnTo>
                        <a:pt x="2010911" y="1764804"/>
                      </a:lnTo>
                      <a:lnTo>
                        <a:pt x="0" y="1005527"/>
                      </a:lnTo>
                      <a:close/>
                    </a:path>
                  </a:pathLst>
                </a:custGeom>
                <a:solidFill>
                  <a:srgbClr val="FFDB6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39" name="直角三角形 7"/>
                <p:cNvSpPr/>
                <p:nvPr/>
              </p:nvSpPr>
              <p:spPr>
                <a:xfrm rot="9126709">
                  <a:off x="4436298" y="1423041"/>
                  <a:ext cx="2633901" cy="1616128"/>
                </a:xfrm>
                <a:custGeom>
                  <a:avLst/>
                  <a:gdLst>
                    <a:gd name="connsiteX0" fmla="*/ 0 w 5428343"/>
                    <a:gd name="connsiteY0" fmla="*/ 2845210 h 2845210"/>
                    <a:gd name="connsiteX1" fmla="*/ 0 w 5428343"/>
                    <a:gd name="connsiteY1" fmla="*/ 0 h 2845210"/>
                    <a:gd name="connsiteX2" fmla="*/ 5428343 w 5428343"/>
                    <a:gd name="connsiteY2" fmla="*/ 2845210 h 2845210"/>
                    <a:gd name="connsiteX3" fmla="*/ 0 w 5428343"/>
                    <a:gd name="connsiteY3" fmla="*/ 2845210 h 2845210"/>
                    <a:gd name="connsiteX0-1" fmla="*/ 0 w 5428343"/>
                    <a:gd name="connsiteY0-2" fmla="*/ 2932296 h 2932296"/>
                    <a:gd name="connsiteX1-3" fmla="*/ 3497943 w 5428343"/>
                    <a:gd name="connsiteY1-4" fmla="*/ 0 h 2932296"/>
                    <a:gd name="connsiteX2-5" fmla="*/ 5428343 w 5428343"/>
                    <a:gd name="connsiteY2-6" fmla="*/ 2932296 h 2932296"/>
                    <a:gd name="connsiteX3-7" fmla="*/ 0 w 5428343"/>
                    <a:gd name="connsiteY3-8" fmla="*/ 2932296 h 2932296"/>
                    <a:gd name="connsiteX0-9" fmla="*/ 0 w 5428343"/>
                    <a:gd name="connsiteY0-10" fmla="*/ 2554925 h 2554925"/>
                    <a:gd name="connsiteX1-11" fmla="*/ 1712686 w 5428343"/>
                    <a:gd name="connsiteY1-12" fmla="*/ 0 h 2554925"/>
                    <a:gd name="connsiteX2-13" fmla="*/ 5428343 w 5428343"/>
                    <a:gd name="connsiteY2-14" fmla="*/ 2554925 h 2554925"/>
                    <a:gd name="connsiteX3-15" fmla="*/ 0 w 5428343"/>
                    <a:gd name="connsiteY3-16" fmla="*/ 2554925 h 2554925"/>
                    <a:gd name="connsiteX0-17" fmla="*/ 0 w 7649029"/>
                    <a:gd name="connsiteY0-18" fmla="*/ 2554925 h 2554925"/>
                    <a:gd name="connsiteX1-19" fmla="*/ 1712686 w 7649029"/>
                    <a:gd name="connsiteY1-20" fmla="*/ 0 h 2554925"/>
                    <a:gd name="connsiteX2-21" fmla="*/ 7649029 w 7649029"/>
                    <a:gd name="connsiteY2-22" fmla="*/ 2075953 h 2554925"/>
                    <a:gd name="connsiteX3-23" fmla="*/ 0 w 7649029"/>
                    <a:gd name="connsiteY3-24" fmla="*/ 2554925 h 2554925"/>
                    <a:gd name="connsiteX0-25" fmla="*/ 0 w 7649029"/>
                    <a:gd name="connsiteY0-26" fmla="*/ 2772640 h 2772640"/>
                    <a:gd name="connsiteX1-27" fmla="*/ 1611086 w 7649029"/>
                    <a:gd name="connsiteY1-28" fmla="*/ 0 h 2772640"/>
                    <a:gd name="connsiteX2-29" fmla="*/ 7649029 w 7649029"/>
                    <a:gd name="connsiteY2-30" fmla="*/ 2293668 h 2772640"/>
                    <a:gd name="connsiteX3-31" fmla="*/ 0 w 7649029"/>
                    <a:gd name="connsiteY3-32" fmla="*/ 2772640 h 2772640"/>
                    <a:gd name="connsiteX0-33" fmla="*/ 0 w 7881258"/>
                    <a:gd name="connsiteY0-34" fmla="*/ 2816183 h 2816183"/>
                    <a:gd name="connsiteX1-35" fmla="*/ 1843315 w 7881258"/>
                    <a:gd name="connsiteY1-36" fmla="*/ 0 h 2816183"/>
                    <a:gd name="connsiteX2-37" fmla="*/ 7881258 w 7881258"/>
                    <a:gd name="connsiteY2-38" fmla="*/ 2293668 h 2816183"/>
                    <a:gd name="connsiteX3-39" fmla="*/ 0 w 7881258"/>
                    <a:gd name="connsiteY3-40" fmla="*/ 2816183 h 2816183"/>
                    <a:gd name="connsiteX0-41" fmla="*/ 0 w 7881258"/>
                    <a:gd name="connsiteY0-42" fmla="*/ 3120983 h 3120983"/>
                    <a:gd name="connsiteX1-43" fmla="*/ 1727200 w 7881258"/>
                    <a:gd name="connsiteY1-44" fmla="*/ 0 h 3120983"/>
                    <a:gd name="connsiteX2-45" fmla="*/ 7881258 w 7881258"/>
                    <a:gd name="connsiteY2-46" fmla="*/ 2598468 h 3120983"/>
                    <a:gd name="connsiteX3-47" fmla="*/ 0 w 7881258"/>
                    <a:gd name="connsiteY3-48" fmla="*/ 3120983 h 3120983"/>
                    <a:gd name="connsiteX0-49" fmla="*/ 0 w 7881258"/>
                    <a:gd name="connsiteY0-50" fmla="*/ 3114633 h 3114633"/>
                    <a:gd name="connsiteX1-51" fmla="*/ 1724025 w 7881258"/>
                    <a:gd name="connsiteY1-52" fmla="*/ 0 h 3114633"/>
                    <a:gd name="connsiteX2-53" fmla="*/ 7881258 w 7881258"/>
                    <a:gd name="connsiteY2-54" fmla="*/ 2592118 h 3114633"/>
                    <a:gd name="connsiteX3-55" fmla="*/ 0 w 7881258"/>
                    <a:gd name="connsiteY3-56" fmla="*/ 3114633 h 3114633"/>
                    <a:gd name="connsiteX0-57" fmla="*/ 0 w 7881258"/>
                    <a:gd name="connsiteY0-58" fmla="*/ 1866404 h 1866404"/>
                    <a:gd name="connsiteX1-59" fmla="*/ 1114425 w 7881258"/>
                    <a:gd name="connsiteY1-60" fmla="*/ 0 h 1866404"/>
                    <a:gd name="connsiteX2-61" fmla="*/ 7881258 w 7881258"/>
                    <a:gd name="connsiteY2-62" fmla="*/ 1343889 h 1866404"/>
                    <a:gd name="connsiteX3-63" fmla="*/ 0 w 7881258"/>
                    <a:gd name="connsiteY3-64" fmla="*/ 1866404 h 1866404"/>
                    <a:gd name="connsiteX0-65" fmla="*/ 0 w 2510973"/>
                    <a:gd name="connsiteY0-66" fmla="*/ 1866404 h 1866404"/>
                    <a:gd name="connsiteX1-67" fmla="*/ 1114425 w 2510973"/>
                    <a:gd name="connsiteY1-68" fmla="*/ 0 h 1866404"/>
                    <a:gd name="connsiteX2-69" fmla="*/ 2510973 w 2510973"/>
                    <a:gd name="connsiteY2-70" fmla="*/ 1648689 h 1866404"/>
                    <a:gd name="connsiteX3-71" fmla="*/ 0 w 2510973"/>
                    <a:gd name="connsiteY3-72" fmla="*/ 1866404 h 1866404"/>
                    <a:gd name="connsiteX0-73" fmla="*/ 0 w 2510973"/>
                    <a:gd name="connsiteY0-74" fmla="*/ 1866404 h 1866404"/>
                    <a:gd name="connsiteX1-75" fmla="*/ 1114425 w 2510973"/>
                    <a:gd name="connsiteY1-76" fmla="*/ 0 h 1866404"/>
                    <a:gd name="connsiteX2-77" fmla="*/ 2510973 w 2510973"/>
                    <a:gd name="connsiteY2-78" fmla="*/ 1692232 h 1866404"/>
                    <a:gd name="connsiteX3-79" fmla="*/ 0 w 2510973"/>
                    <a:gd name="connsiteY3-80" fmla="*/ 1866404 h 1866404"/>
                    <a:gd name="connsiteX0-81" fmla="*/ 0 w 2510973"/>
                    <a:gd name="connsiteY0-82" fmla="*/ 1880919 h 1880919"/>
                    <a:gd name="connsiteX1-83" fmla="*/ 1767567 w 2510973"/>
                    <a:gd name="connsiteY1-84" fmla="*/ 0 h 1880919"/>
                    <a:gd name="connsiteX2-85" fmla="*/ 2510973 w 2510973"/>
                    <a:gd name="connsiteY2-86" fmla="*/ 1706747 h 1880919"/>
                    <a:gd name="connsiteX3-87" fmla="*/ 0 w 2510973"/>
                    <a:gd name="connsiteY3-88" fmla="*/ 1880919 h 1880919"/>
                    <a:gd name="connsiteX0-89" fmla="*/ 0 w 2510973"/>
                    <a:gd name="connsiteY0-90" fmla="*/ 1895433 h 1895433"/>
                    <a:gd name="connsiteX1-91" fmla="*/ 1724024 w 2510973"/>
                    <a:gd name="connsiteY1-92" fmla="*/ 0 h 1895433"/>
                    <a:gd name="connsiteX2-93" fmla="*/ 2510973 w 2510973"/>
                    <a:gd name="connsiteY2-94" fmla="*/ 1721261 h 1895433"/>
                    <a:gd name="connsiteX3-95" fmla="*/ 0 w 2510973"/>
                    <a:gd name="connsiteY3-96" fmla="*/ 1895433 h 1895433"/>
                    <a:gd name="connsiteX0-97" fmla="*/ 0 w 2510973"/>
                    <a:gd name="connsiteY0-98" fmla="*/ 1938976 h 1938976"/>
                    <a:gd name="connsiteX1-99" fmla="*/ 1840138 w 2510973"/>
                    <a:gd name="connsiteY1-100" fmla="*/ 0 h 1938976"/>
                    <a:gd name="connsiteX2-101" fmla="*/ 2510973 w 2510973"/>
                    <a:gd name="connsiteY2-102" fmla="*/ 1764804 h 1938976"/>
                    <a:gd name="connsiteX3-103" fmla="*/ 0 w 2510973"/>
                    <a:gd name="connsiteY3-104" fmla="*/ 1938976 h 1938976"/>
                    <a:gd name="connsiteX0-105" fmla="*/ 0 w 1929948"/>
                    <a:gd name="connsiteY0-106" fmla="*/ 1324614 h 1764804"/>
                    <a:gd name="connsiteX1-107" fmla="*/ 1259113 w 1929948"/>
                    <a:gd name="connsiteY1-108" fmla="*/ 0 h 1764804"/>
                    <a:gd name="connsiteX2-109" fmla="*/ 1929948 w 1929948"/>
                    <a:gd name="connsiteY2-110" fmla="*/ 1764804 h 1764804"/>
                    <a:gd name="connsiteX3-111" fmla="*/ 0 w 1929948"/>
                    <a:gd name="connsiteY3-112" fmla="*/ 1324614 h 1764804"/>
                    <a:gd name="connsiteX0-113" fmla="*/ 0 w 2010911"/>
                    <a:gd name="connsiteY0-114" fmla="*/ 1005527 h 1764804"/>
                    <a:gd name="connsiteX1-115" fmla="*/ 1340076 w 2010911"/>
                    <a:gd name="connsiteY1-116" fmla="*/ 0 h 1764804"/>
                    <a:gd name="connsiteX2-117" fmla="*/ 2010911 w 2010911"/>
                    <a:gd name="connsiteY2-118" fmla="*/ 1764804 h 1764804"/>
                    <a:gd name="connsiteX3-119" fmla="*/ 0 w 2010911"/>
                    <a:gd name="connsiteY3-120" fmla="*/ 1005527 h 1764804"/>
                    <a:gd name="connsiteX0-121" fmla="*/ 0 w 2010911"/>
                    <a:gd name="connsiteY0-122" fmla="*/ 856524 h 1615801"/>
                    <a:gd name="connsiteX1-123" fmla="*/ 596668 w 2010911"/>
                    <a:gd name="connsiteY1-124" fmla="*/ 0 h 1615801"/>
                    <a:gd name="connsiteX2-125" fmla="*/ 2010911 w 2010911"/>
                    <a:gd name="connsiteY2-126" fmla="*/ 1615801 h 1615801"/>
                    <a:gd name="connsiteX3-127" fmla="*/ 0 w 2010911"/>
                    <a:gd name="connsiteY3-128" fmla="*/ 856524 h 1615801"/>
                    <a:gd name="connsiteX0-129" fmla="*/ 0 w 2010911"/>
                    <a:gd name="connsiteY0-130" fmla="*/ 856524 h 1615801"/>
                    <a:gd name="connsiteX1-131" fmla="*/ 596668 w 2010911"/>
                    <a:gd name="connsiteY1-132" fmla="*/ 0 h 1615801"/>
                    <a:gd name="connsiteX2-133" fmla="*/ 2010911 w 2010911"/>
                    <a:gd name="connsiteY2-134" fmla="*/ 1615801 h 1615801"/>
                    <a:gd name="connsiteX3-135" fmla="*/ 0 w 2010911"/>
                    <a:gd name="connsiteY3-136" fmla="*/ 856524 h 1615801"/>
                    <a:gd name="connsiteX0-137" fmla="*/ 0 w 2006947"/>
                    <a:gd name="connsiteY0-138" fmla="*/ 856524 h 1602927"/>
                    <a:gd name="connsiteX1-139" fmla="*/ 596668 w 2006947"/>
                    <a:gd name="connsiteY1-140" fmla="*/ 0 h 1602927"/>
                    <a:gd name="connsiteX2-141" fmla="*/ 2006947 w 2006947"/>
                    <a:gd name="connsiteY2-142" fmla="*/ 1602927 h 1602927"/>
                    <a:gd name="connsiteX3-143" fmla="*/ 0 w 2006947"/>
                    <a:gd name="connsiteY3-144" fmla="*/ 856524 h 1602927"/>
                    <a:gd name="connsiteX0-145" fmla="*/ 0 w 2014045"/>
                    <a:gd name="connsiteY0-146" fmla="*/ 856524 h 1603091"/>
                    <a:gd name="connsiteX1-147" fmla="*/ 596668 w 2014045"/>
                    <a:gd name="connsiteY1-148" fmla="*/ 0 h 1603091"/>
                    <a:gd name="connsiteX2-149" fmla="*/ 2014045 w 2014045"/>
                    <a:gd name="connsiteY2-150" fmla="*/ 1603091 h 1603091"/>
                    <a:gd name="connsiteX3-151" fmla="*/ 0 w 2014045"/>
                    <a:gd name="connsiteY3-152" fmla="*/ 856524 h 1603091"/>
                    <a:gd name="connsiteX0-153" fmla="*/ 0 w 2015366"/>
                    <a:gd name="connsiteY0-154" fmla="*/ 856524 h 1607382"/>
                    <a:gd name="connsiteX1-155" fmla="*/ 596668 w 2015366"/>
                    <a:gd name="connsiteY1-156" fmla="*/ 0 h 1607382"/>
                    <a:gd name="connsiteX2-157" fmla="*/ 2015366 w 2015366"/>
                    <a:gd name="connsiteY2-158" fmla="*/ 1607382 h 1607382"/>
                    <a:gd name="connsiteX3-159" fmla="*/ 0 w 2015366"/>
                    <a:gd name="connsiteY3-160" fmla="*/ 856524 h 1607382"/>
                    <a:gd name="connsiteX0-161" fmla="*/ 0 w 2015366"/>
                    <a:gd name="connsiteY0-162" fmla="*/ 858009 h 1608867"/>
                    <a:gd name="connsiteX1-163" fmla="*/ 593861 w 2015366"/>
                    <a:gd name="connsiteY1-164" fmla="*/ 0 h 1608867"/>
                    <a:gd name="connsiteX2-165" fmla="*/ 2015366 w 2015366"/>
                    <a:gd name="connsiteY2-166" fmla="*/ 1608867 h 1608867"/>
                    <a:gd name="connsiteX3-167" fmla="*/ 0 w 2015366"/>
                    <a:gd name="connsiteY3-168" fmla="*/ 858009 h 1608867"/>
                    <a:gd name="connsiteX0-169" fmla="*/ 0 w 2372755"/>
                    <a:gd name="connsiteY0-170" fmla="*/ 650915 h 1608867"/>
                    <a:gd name="connsiteX1-171" fmla="*/ 951250 w 2372755"/>
                    <a:gd name="connsiteY1-172" fmla="*/ 0 h 1608867"/>
                    <a:gd name="connsiteX2-173" fmla="*/ 2372755 w 2372755"/>
                    <a:gd name="connsiteY2-174" fmla="*/ 1608867 h 1608867"/>
                    <a:gd name="connsiteX3-175" fmla="*/ 0 w 2372755"/>
                    <a:gd name="connsiteY3-176" fmla="*/ 650915 h 1608867"/>
                    <a:gd name="connsiteX0-177" fmla="*/ 0 w 2425910"/>
                    <a:gd name="connsiteY0-178" fmla="*/ 615600 h 1608867"/>
                    <a:gd name="connsiteX1-179" fmla="*/ 1004405 w 2425910"/>
                    <a:gd name="connsiteY1-180" fmla="*/ 0 h 1608867"/>
                    <a:gd name="connsiteX2-181" fmla="*/ 2425910 w 2425910"/>
                    <a:gd name="connsiteY2-182" fmla="*/ 1608867 h 1608867"/>
                    <a:gd name="connsiteX3-183" fmla="*/ 0 w 2425910"/>
                    <a:gd name="connsiteY3-184" fmla="*/ 615600 h 1608867"/>
                    <a:gd name="connsiteX0-185" fmla="*/ 0 w 2633901"/>
                    <a:gd name="connsiteY0-186" fmla="*/ 519898 h 1608867"/>
                    <a:gd name="connsiteX1-187" fmla="*/ 1212396 w 2633901"/>
                    <a:gd name="connsiteY1-188" fmla="*/ 0 h 1608867"/>
                    <a:gd name="connsiteX2-189" fmla="*/ 2633901 w 2633901"/>
                    <a:gd name="connsiteY2-190" fmla="*/ 1608867 h 1608867"/>
                    <a:gd name="connsiteX3-191" fmla="*/ 0 w 2633901"/>
                    <a:gd name="connsiteY3-192" fmla="*/ 519898 h 1608867"/>
                    <a:gd name="connsiteX0-193" fmla="*/ 0 w 2633901"/>
                    <a:gd name="connsiteY0-194" fmla="*/ 527159 h 1616128"/>
                    <a:gd name="connsiteX1-195" fmla="*/ 1205463 w 2633901"/>
                    <a:gd name="connsiteY1-196" fmla="*/ 0 h 1616128"/>
                    <a:gd name="connsiteX2-197" fmla="*/ 2633901 w 2633901"/>
                    <a:gd name="connsiteY2-198" fmla="*/ 1616128 h 1616128"/>
                    <a:gd name="connsiteX3-199" fmla="*/ 0 w 2633901"/>
                    <a:gd name="connsiteY3-200" fmla="*/ 527159 h 161612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633901" h="1616128">
                      <a:moveTo>
                        <a:pt x="0" y="527159"/>
                      </a:moveTo>
                      <a:lnTo>
                        <a:pt x="1205463" y="0"/>
                      </a:lnTo>
                      <a:lnTo>
                        <a:pt x="2633901" y="1616128"/>
                      </a:lnTo>
                      <a:lnTo>
                        <a:pt x="0" y="527159"/>
                      </a:lnTo>
                      <a:close/>
                    </a:path>
                  </a:pathLst>
                </a:custGeom>
                <a:solidFill>
                  <a:srgbClr val="FFD3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</p:grpSp>
          <p:sp>
            <p:nvSpPr>
              <p:cNvPr id="36" name="矩形 35"/>
              <p:cNvSpPr/>
              <p:nvPr/>
            </p:nvSpPr>
            <p:spPr>
              <a:xfrm>
                <a:off x="1470477" y="1067692"/>
                <a:ext cx="237232" cy="237232"/>
              </a:xfrm>
              <a:prstGeom prst="rect">
                <a:avLst/>
              </a:prstGeom>
              <a:solidFill>
                <a:srgbClr val="FFFFCC">
                  <a:alpha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</p:spTree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HINKCELLSHAPEDONOTDELETE" val="pJuFVnW3ZCkC6V.gCWz5jgw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TABLE_ENDDRAG_ORIGIN_RECT" val="924*430"/>
  <p:tag name="TABLE_ENDDRAG_RECT" val="25*64*924*430"/>
</p:tagLst>
</file>

<file path=ppt/tags/tag6.xml><?xml version="1.0" encoding="utf-8"?>
<p:tagLst xmlns:p="http://schemas.openxmlformats.org/presentationml/2006/main">
  <p:tag name="KSO_WM_BEAUTIFY_FLAG" val="#wm#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0315_1*l_h_i*1_1_3"/>
  <p:tag name="KSO_WM_TEMPLATE_CATEGORY" val="diagram"/>
  <p:tag name="KSO_WM_TEMPLATE_INDEX" val="202303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solid&quot;:{&quot;brightness&quot;:0.800000011920929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BEAUTIFY_FLAG" val="#wm#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0315_1*l_h_i*1_1_1"/>
  <p:tag name="KSO_WM_TEMPLATE_CATEGORY" val="diagram"/>
  <p:tag name="KSO_WM_TEMPLATE_INDEX" val="202303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,{&quot;brightness&quot;:0,&quot;colorType&quot;:1,&quot;foreColorIndex&quot;:5,&quot;pos&quot;:0.5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BEAUTIFY_FLAG" val="#wm#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0315_1*l_h_i*1_2_1"/>
  <p:tag name="KSO_WM_TEMPLATE_CATEGORY" val="diagram"/>
  <p:tag name="KSO_WM_TEMPLATE_INDEX" val="202303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8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BEAUTIFY_FLAG" val="#wm#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0315_1*l_h_i*1_2_3"/>
  <p:tag name="KSO_WM_TEMPLATE_CATEGORY" val="diagram"/>
  <p:tag name="KSO_WM_TEMPLATE_INDEX" val="202303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solid&quot;:{&quot;brightness&quot;:0.800000011920929,&quot;colorType&quot;:1,&quot;foreColorIndex&quot;:8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315_1*l_h_a*1_1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小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315_1*l_h_a*1_2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小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315_1*l_h_a*1_2_1"/>
  <p:tag name="KSO_WM_TEMPLATE_CATEGORY" val="diagram"/>
  <p:tag name="KSO_WM_TEMPLATE_INDEX" val="20230315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5.1000030517578,&quot;left&quot;:27.15,&quot;top&quot;:90.8499969482422,&quot;width&quot;:901.72094488188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小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1_2"/>
  <p:tag name="KSO_WM_UNIT_ID" val="diagram20230921_2*l_h_i*2_1_2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1_3"/>
  <p:tag name="KSO_WM_UNIT_ID" val="diagram20230921_2*l_h_i*2_1_3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UNIT_NOCLEAR" val="0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1_5"/>
  <p:tag name="KSO_WM_UNIT_ID" val="diagram20230921_2*l_h_i*2_1_5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2_1_1"/>
  <p:tag name="KSO_WM_UNIT_ID" val="diagram20230921_2*l_h_f*2_1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26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。单击此处输入(您的)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1_1"/>
  <p:tag name="KSO_WM_UNIT_ID" val="diagram20230921_2*l_h_i*2_1_1"/>
  <p:tag name="KSO_WM_TEMPLATE_CATEGORY" val="diagram"/>
  <p:tag name="KSO_WM_TEMPLATE_INDEX" val="20230921"/>
  <p:tag name="KSO_WM_UNIT_LAYERLEVEL" val="1_1_1"/>
  <p:tag name="KSO_WM_TAG_VERSION" val="3.0"/>
  <p:tag name="KSO_WM_UNIT_SUBTYPE" val="d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1_4"/>
  <p:tag name="KSO_WM_UNIT_ID" val="diagram20230921_2*l_h_i*2_1_4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2_1_1"/>
  <p:tag name="KSO_WM_UNIT_ID" val="diagram20230921_2*l_h_a*2_1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2_2"/>
  <p:tag name="KSO_WM_UNIT_ID" val="diagram20230921_2*l_h_i*2_2_2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2_3"/>
  <p:tag name="KSO_WM_UNIT_ID" val="diagram20230921_2*l_h_i*2_2_3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UNIT_NOCLEAR" val="0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2_5"/>
  <p:tag name="KSO_WM_UNIT_ID" val="diagram20230921_2*l_h_i*2_2_5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VALUE" val="126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2_2_1"/>
  <p:tag name="KSO_WM_UNIT_ID" val="diagram20230921_2*l_h_f*2_2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。单击此处输入(您的)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2_1"/>
  <p:tag name="KSO_WM_UNIT_ID" val="diagram20230921_2*l_h_i*2_2_1"/>
  <p:tag name="KSO_WM_TEMPLATE_CATEGORY" val="diagram"/>
  <p:tag name="KSO_WM_TEMPLATE_INDEX" val="20230921"/>
  <p:tag name="KSO_WM_UNIT_LAYERLEVEL" val="1_1_1"/>
  <p:tag name="KSO_WM_TAG_VERSION" val="3.0"/>
  <p:tag name="KSO_WM_UNIT_SUBTYPE" val="d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2_4"/>
  <p:tag name="KSO_WM_UNIT_ID" val="diagram20230921_2*l_h_i*2_2_4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2_2_1"/>
  <p:tag name="KSO_WM_UNIT_ID" val="diagram20230921_2*l_h_a*2_2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3_2"/>
  <p:tag name="KSO_WM_UNIT_ID" val="diagram20230921_2*l_h_i*2_3_2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3_3"/>
  <p:tag name="KSO_WM_UNIT_ID" val="diagram20230921_2*l_h_i*2_3_3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solid&quot;:{&quot;brightness&quot;:0,&quot;colorType&quot;:2,&quot;rgb&quot;:&quot;#ffffff&quot;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66666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UNIT_NOCLEAR" val="0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3_5"/>
  <p:tag name="KSO_WM_UNIT_ID" val="diagram20230921_2*l_h_i*2_3_5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2_3_1"/>
  <p:tag name="KSO_WM_UNIT_ID" val="diagram20230921_2*l_h_f*2_3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26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。单击此处输入(您的)智能图形项正文，文字是您思想的提炼，请尽量言简意赅的阐述观点。单击此处添加正文，文字是您思想的提炼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3_1"/>
  <p:tag name="KSO_WM_UNIT_ID" val="diagram20230921_2*l_h_i*2_3_1"/>
  <p:tag name="KSO_WM_TEMPLATE_CATEGORY" val="diagram"/>
  <p:tag name="KSO_WM_TEMPLATE_INDEX" val="20230921"/>
  <p:tag name="KSO_WM_UNIT_LAYERLEVEL" val="1_1_1"/>
  <p:tag name="KSO_WM_TAG_VERSION" val="3.0"/>
  <p:tag name="KSO_WM_UNIT_SUBTYPE" val="d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2_3_4"/>
  <p:tag name="KSO_WM_UNIT_ID" val="diagram20230921_2*l_h_i*2_3_4"/>
  <p:tag name="KSO_WM_TEMPLATE_CATEGORY" val="diagram"/>
  <p:tag name="KSO_WM_TEMPLATE_INDEX" val="2023092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2_3_1"/>
  <p:tag name="KSO_WM_UNIT_ID" val="diagram20230921_2*l_h_a*2_3_1"/>
  <p:tag name="KSO_WM_TEMPLATE_CATEGORY" val="diagram"/>
  <p:tag name="KSO_WM_TEMPLATE_INDEX" val="20230921"/>
  <p:tag name="KSO_WM_UNIT_LAYERLEVEL" val="1_1_1"/>
  <p:tag name="KSO_WM_TAG_VERSION" val="3.0"/>
  <p:tag name="KSO_WM_DIAGRAM_GROUP_CODE" val="l1-1"/>
  <p:tag name="KSO_WM_DIAGRAM_MAX_ITEMCNT" val="6"/>
  <p:tag name="KSO_WM_DIAGRAM_MIN_ITEMCNT" val="2"/>
  <p:tag name="KSO_WM_DIAGRAM_VIRTUALLY_FRAME" val="{&quot;height&quot;:382.4665415365865,&quot;left&quot;:53.225006103515625,&quot;top&quot;:113.29999389648438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小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2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1af0eb9c-d47b-48d4-a32a-cebd7bc264fe}"/>
  <p:tag name="KSO_WM_UNIT_TEXTBOXSTYLE_TYPE" val="5"/>
  <p:tag name="KSO_WM_UNIT_TEXT_FILL_FORE_SCHEMECOLOR_INDEX_BRIGHTNESS" val="0.25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FOLLOW_SHAPE_UNIT_TAG" val="1_1_1*l_h_y*"/>
  <p:tag name="KSO_WM_SLIDE_FIGMA_DIAGRAM" val="1"/>
  <p:tag name="KSO_WM_UNIT_INDEX" val="1_1_2"/>
  <p:tag name="KSO_WM_UNIT_TYPE" val="l_h_i"/>
  <p:tag name="KSO_WM_CARDGROUP_LAYOUT_DATA" val="{&quot;cardRct&quot;:[960,2400,5440,7440],&quot;lytRct&quot;:[960,2400,17280,7440],&quot;rct&quot;:[960,2400,17280,7440],&quot;spRct&quot;:[0,0,5439,7439]}"/>
  <p:tag name="KSO_WM_DIAGRAM_VIRTUALLY_FRAME" val="{&quot;height&quot;:372,&quot;left&quot;:48,&quot;top&quot;:120,&quot;width&quot;:864}"/>
</p:tagLst>
</file>

<file path=ppt/tags/tag42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FOLLOW_SHAPE_UNIT_TAG" val="1_1_1*l_h_i*d"/>
  <p:tag name="KSO_WM_SLIDE_FIGMA_DIAGRAM" val="1"/>
  <p:tag name="KSO_WM_UNIT_INDEX" val="1_1_3"/>
  <p:tag name="KSO_WM_UNIT_TYPE" val="l_h_i"/>
  <p:tag name="KSO_WM_CARDGROUP_LAYOUT_DATA" val="{&quot;cardRct&quot;:[960,2400,5440,7440],&quot;lytRct&quot;:[960,2400,17280,7440],&quot;rct&quot;:[960,2400,17280,7440],&quot;spRct&quot;:[2000,1560,3439,2999]}"/>
  <p:tag name="KSO_WM_DIAGRAM_VIRTUALLY_FRAME" val="{&quot;height&quot;:372,&quot;left&quot;:48,&quot;top&quot;:120,&quot;width&quot;:864}"/>
</p:tagLst>
</file>

<file path=ppt/tags/tag43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CARD_PRESET_INDEX_NO" val="01"/>
  <p:tag name="KSO_WM_UNIT_INDEX" val="1_1_1"/>
  <p:tag name="KSO_WM_UNIT_SUBTYPE" val="d"/>
  <p:tag name="KSO_WM_UNIT_TYPE" val="l_h_i"/>
  <p:tag name="KSO_WM_CARDGROUP_LAYOUT_DATA" val="{&quot;cardRct&quot;:[960,2400,5440,7440],&quot;lytRct&quot;:[960,2400,17280,7440],&quot;rct&quot;:[960,2400,17280,7440],&quot;spRct&quot;:[2000,1560,3439,2999]}"/>
  <p:tag name="KSO_WM_DIAGRAM_VIRTUALLY_FRAME" val="{&quot;height&quot;:372,&quot;left&quot;:48,&quot;top&quot;:120,&quot;width&quot;:864}"/>
</p:tagLst>
</file>

<file path=ppt/tags/tag44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960,2400,5440,7440],&quot;lytRct&quot;:[960,2400,17280,7440],&quot;rct&quot;:[960,2400,17280,7440],&quot;spRct&quot;:[480,3400,4959,4039]}"/>
  <p:tag name="KSO_WM_DIAGRAM_VIRTUALLY_FRAME" val="{&quot;height&quot;:372,&quot;left&quot;:48,&quot;top&quot;:120,&quot;width&quot;:864}"/>
</p:tagLst>
</file>

<file path=ppt/tags/tag45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INDEX" val="1_1_1"/>
  <p:tag name="KSO_WM_UNIT_PRESET_TEXT" val="请在此输入您的文本。"/>
  <p:tag name="KSO_WM_UNIT_TYPE" val="l_h_f"/>
  <p:tag name="KSO_WM_CARDGROUP_LAYOUT_DATA" val="{&quot;cardRct&quot;:[960,2400,5440,7440],&quot;lytRct&quot;:[960,2400,17280,7440],&quot;rct&quot;:[960,2400,17280,7440],&quot;spRct&quot;:[480,4280,4959,5879]}"/>
  <p:tag name="KSO_WM_DIAGRAM_VIRTUALLY_FRAME" val="{&quot;height&quot;:372,&quot;left&quot;:48,&quot;top&quot;:120,&quot;width&quot;:864}"/>
</p:tagLst>
</file>

<file path=ppt/tags/tag46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FOLLOW_SHAPE_UNIT_TAG" val="1_2_1*l_h_y*"/>
  <p:tag name="KSO_WM_SLIDE_FIGMA_DIAGRAM" val="1"/>
  <p:tag name="KSO_WM_UNIT_INDEX" val="1_2_2"/>
  <p:tag name="KSO_WM_UNIT_TYPE" val="l_h_i"/>
  <p:tag name="KSO_WM_CARDGROUP_LAYOUT_DATA" val="{&quot;cardRct&quot;:[6880,2400,5440,7440],&quot;lytRct&quot;:[960,2400,17280,7440],&quot;rct&quot;:[960,2400,17280,7440],&quot;spRct&quot;:[5920,0,11359,7439]}"/>
  <p:tag name="KSO_WM_DIAGRAM_VIRTUALLY_FRAME" val="{&quot;height&quot;:372,&quot;left&quot;:48,&quot;top&quot;:120,&quot;width&quot;:864}"/>
</p:tagLst>
</file>

<file path=ppt/tags/tag47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FOLLOW_SHAPE_UNIT_TAG" val="1_2_1*l_h_i*d"/>
  <p:tag name="KSO_WM_SLIDE_FIGMA_DIAGRAM" val="1"/>
  <p:tag name="KSO_WM_UNIT_INDEX" val="1_2_3"/>
  <p:tag name="KSO_WM_UNIT_TYPE" val="l_h_i"/>
  <p:tag name="KSO_WM_CARDGROUP_LAYOUT_DATA" val="{&quot;cardRct&quot;:[6880,2400,5440,7440],&quot;lytRct&quot;:[960,2400,17280,7440],&quot;rct&quot;:[960,2400,17280,7440],&quot;spRct&quot;:[7920,1560,9359,2999]}"/>
  <p:tag name="KSO_WM_DIAGRAM_VIRTUALLY_FRAME" val="{&quot;height&quot;:372,&quot;left&quot;:48,&quot;top&quot;:120,&quot;width&quot;:864}"/>
</p:tagLst>
</file>

<file path=ppt/tags/tag48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CARD_PRESET_INDEX_NO" val="02"/>
  <p:tag name="KSO_WM_UNIT_INDEX" val="1_2_1"/>
  <p:tag name="KSO_WM_UNIT_SUBTYPE" val="d"/>
  <p:tag name="KSO_WM_UNIT_TYPE" val="l_h_i"/>
  <p:tag name="KSO_WM_CARDGROUP_LAYOUT_DATA" val="{&quot;cardRct&quot;:[6880,2400,5440,7440],&quot;lytRct&quot;:[960,2400,17280,7440],&quot;rct&quot;:[960,2400,17280,7440],&quot;spRct&quot;:[7920,1560,9359,2999]}"/>
  <p:tag name="KSO_WM_DIAGRAM_VIRTUALLY_FRAME" val="{&quot;height&quot;:372,&quot;left&quot;:48,&quot;top&quot;:120,&quot;width&quot;:864}"/>
</p:tagLst>
</file>

<file path=ppt/tags/tag49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INDEX" val="1_2_1"/>
  <p:tag name="KSO_WM_UNIT_PRESET_TEXT" val="请在此输入您的标题"/>
  <p:tag name="KSO_WM_UNIT_TYPE" val="l_h_a"/>
  <p:tag name="KSO_WM_CARDGROUP_LAYOUT_DATA" val="{&quot;cardRct&quot;:[6880,2400,5440,7440],&quot;lytRct&quot;:[960,2400,17280,7440],&quot;rct&quot;:[960,2400,17280,7440],&quot;spRct&quot;:[6400,3400,10879,4039]}"/>
  <p:tag name="KSO_WM_DIAGRAM_VIRTUALLY_FRAME" val="{&quot;height&quot;:372,&quot;left&quot;:48,&quot;top&quot;:120,&quot;width&quot;:864}"/>
</p:tagLst>
</file>

<file path=ppt/tags/tag50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INDEX" val="1_2_1"/>
  <p:tag name="KSO_WM_UNIT_PRESET_TEXT" val="请在此输入您的文本。"/>
  <p:tag name="KSO_WM_UNIT_TYPE" val="l_h_f"/>
  <p:tag name="KSO_WM_CARDGROUP_LAYOUT_DATA" val="{&quot;cardRct&quot;:[6880,2400,5440,7440],&quot;lytRct&quot;:[960,2400,17280,7440],&quot;rct&quot;:[960,2400,17280,7440],&quot;spRct&quot;:[6400,4280,10879,5879]}"/>
  <p:tag name="KSO_WM_DIAGRAM_VIRTUALLY_FRAME" val="{&quot;height&quot;:372,&quot;left&quot;:48,&quot;top&quot;:120,&quot;width&quot;:864}"/>
</p:tagLst>
</file>

<file path=ppt/tags/tag51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FOLLOW_SHAPE_UNIT_TAG" val="1_3_1*l_h_y*"/>
  <p:tag name="KSO_WM_SLIDE_FIGMA_DIAGRAM" val="1"/>
  <p:tag name="KSO_WM_UNIT_INDEX" val="1_3_2"/>
  <p:tag name="KSO_WM_UNIT_TYPE" val="l_h_i"/>
  <p:tag name="KSO_WM_CARDGROUP_LAYOUT_DATA" val="{&quot;cardRct&quot;:[12800,2400,5440,7440],&quot;lytRct&quot;:[960,2400,17280,7440],&quot;rct&quot;:[960,2400,17280,7440],&quot;spRct&quot;:[11840,0,17279,7439]}"/>
  <p:tag name="KSO_WM_DIAGRAM_VIRTUALLY_FRAME" val="{&quot;height&quot;:372,&quot;left&quot;:48,&quot;top&quot;:120,&quot;width&quot;:864}"/>
</p:tagLst>
</file>

<file path=ppt/tags/tag52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FOLLOW_SHAPE_UNIT_TAG" val="1_3_1*l_h_i*d"/>
  <p:tag name="KSO_WM_SLIDE_FIGMA_DIAGRAM" val="1"/>
  <p:tag name="KSO_WM_UNIT_INDEX" val="1_3_3"/>
  <p:tag name="KSO_WM_UNIT_TYPE" val="l_h_i"/>
  <p:tag name="KSO_WM_CARDGROUP_LAYOUT_DATA" val="{&quot;cardRct&quot;:[12800,2400,5440,7440],&quot;lytRct&quot;:[960,2400,17280,7440],&quot;rct&quot;:[960,2400,17280,7440],&quot;spRct&quot;:[13840,1560,15279,2999]}"/>
  <p:tag name="KSO_WM_DIAGRAM_VIRTUALLY_FRAME" val="{&quot;height&quot;:372,&quot;left&quot;:48,&quot;top&quot;:120,&quot;width&quot;:864}"/>
</p:tagLst>
</file>

<file path=ppt/tags/tag53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CARD_PRESET_INDEX_NO" val="03"/>
  <p:tag name="KSO_WM_UNIT_INDEX" val="1_3_1"/>
  <p:tag name="KSO_WM_UNIT_SUBTYPE" val="d"/>
  <p:tag name="KSO_WM_UNIT_TYPE" val="l_h_i"/>
  <p:tag name="KSO_WM_CARDGROUP_LAYOUT_DATA" val="{&quot;cardRct&quot;:[12800,2400,5440,7440],&quot;lytRct&quot;:[960,2400,17280,7440],&quot;rct&quot;:[960,2400,17280,7440],&quot;spRct&quot;:[13840,1560,15279,2999]}"/>
  <p:tag name="KSO_WM_DIAGRAM_VIRTUALLY_FRAME" val="{&quot;height&quot;:372,&quot;left&quot;:48,&quot;top&quot;:120,&quot;width&quot;:864}"/>
</p:tagLst>
</file>

<file path=ppt/tags/tag54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INDEX" val="1_3_1"/>
  <p:tag name="KSO_WM_UNIT_PRESET_TEXT" val="请在此输入您的标题"/>
  <p:tag name="KSO_WM_UNIT_TYPE" val="l_h_a"/>
  <p:tag name="KSO_WM_CARDGROUP_LAYOUT_DATA" val="{&quot;cardRct&quot;:[12800,2400,5440,7440],&quot;lytRct&quot;:[960,2400,17280,7440],&quot;rct&quot;:[960,2400,17280,7440],&quot;spRct&quot;:[12320,3400,16799,4039]}"/>
  <p:tag name="KSO_WM_DIAGRAM_VIRTUALLY_FRAME" val="{&quot;height&quot;:372,&quot;left&quot;:48,&quot;top&quot;:120,&quot;width&quot;:864}"/>
</p:tagLst>
</file>

<file path=ppt/tags/tag55.xml><?xml version="1.0" encoding="utf-8"?>
<p:tagLst xmlns:p="http://schemas.openxmlformats.org/presentationml/2006/main">
  <p:tag name="KSO_WM_BEAUTIFY_FLAG" val="#wm#"/>
  <p:tag name="KSO_WM_CARDGROUP_FEATURE" val="2*4*6*1*1"/>
  <p:tag name="KSO_WM_CARDGROUP_ID" val="344e7387a583478d9bcd0c6fcd5bd857"/>
  <p:tag name="KSO_WM_CARDGROUP_STYLE_INFO" val="C1_sc_p2*standard"/>
  <p:tag name="KSO_WM_FIGMA_FLAG" val="#fgm#"/>
  <p:tag name="KSO_WM_SLIDE_FIGMA_DIAGRAM" val="1"/>
  <p:tag name="KSO_WM_UNIT_INDEX" val="1_3_1"/>
  <p:tag name="KSO_WM_UNIT_PRESET_TEXT" val="请在此输入您的文本。"/>
  <p:tag name="KSO_WM_UNIT_TYPE" val="l_h_f"/>
  <p:tag name="KSO_WM_CARDGROUP_LAYOUT_DATA" val="{&quot;cardRct&quot;:[12800,2400,5440,7440],&quot;lytRct&quot;:[960,2400,17280,7440],&quot;rct&quot;:[960,2400,17280,7440],&quot;spRct&quot;:[12320,4280,16799,5879]}"/>
  <p:tag name="KSO_WM_DIAGRAM_VIRTUALLY_FRAME" val="{&quot;height&quot;:372,&quot;left&quot;:48,&quot;top&quot;:120,&quot;width&quot;:864}"/>
</p:tagLst>
</file>

<file path=ppt/tags/tag56.xml><?xml version="1.0" encoding="utf-8"?>
<p:tagLst xmlns:p="http://schemas.openxmlformats.org/presentationml/2006/main">
  <p:tag name="TABLE_ENDDRAG_ORIGIN_RECT" val="776*330"/>
  <p:tag name="TABLE_ENDDRAG_RECT" val="57*96*776*330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TABLE_ENDDRAG_ORIGIN_RECT" val="767*291"/>
  <p:tag name="TABLE_ENDDRAG_RECT" val="85*83*767*291"/>
</p:tagLst>
</file>

<file path=ppt/tags/tag300.xml><?xml version="1.0" encoding="utf-8"?>
<p:tagLst xmlns:p="http://schemas.openxmlformats.org/presentationml/2006/main">
  <p:tag name="TABLE_ENDDRAG_ORIGIN_RECT" val="731*244"/>
  <p:tag name="TABLE_ENDDRAG_RECT" val="111*112*731*244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TABLE_ENDDRAG_ORIGIN_RECT" val="827*255"/>
  <p:tag name="TABLE_ENDDRAG_RECT" val="28*98*827*255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11223</Words>
  <Application>WPS 演示</Application>
  <PresentationFormat>宽屏</PresentationFormat>
  <Paragraphs>2395</Paragraphs>
  <Slides>39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76" baseType="lpstr">
      <vt:lpstr>Arial</vt:lpstr>
      <vt:lpstr>宋体</vt:lpstr>
      <vt:lpstr>Wingdings</vt:lpstr>
      <vt:lpstr>等线</vt:lpstr>
      <vt:lpstr>微软雅黑</vt:lpstr>
      <vt:lpstr>Aldhabi</vt:lpstr>
      <vt:lpstr>Calibri</vt:lpstr>
      <vt:lpstr>造字工房悦黑体验版常规体</vt:lpstr>
      <vt:lpstr>Calibri</vt:lpstr>
      <vt:lpstr>Arial Black</vt:lpstr>
      <vt:lpstr>思源黑体 CN Normal</vt:lpstr>
      <vt:lpstr>黑体</vt:lpstr>
      <vt:lpstr>Wingdings</vt:lpstr>
      <vt:lpstr>Arial Bold</vt:lpstr>
      <vt:lpstr>Segoe UI</vt:lpstr>
      <vt:lpstr>阿里巴巴普惠体 2.0 55 Regular</vt:lpstr>
      <vt:lpstr>Arial Unicode MS</vt:lpstr>
      <vt:lpstr>Calibri Light</vt:lpstr>
      <vt:lpstr>Graphik</vt:lpstr>
      <vt:lpstr>var(--dsw-font-markdown-table)</vt:lpstr>
      <vt:lpstr>思源黑体 CN Regular</vt:lpstr>
      <vt:lpstr>思源黑体 CN Light</vt:lpstr>
      <vt:lpstr>Arial Rounded MT Bold</vt:lpstr>
      <vt:lpstr>Arial Unicode MS</vt:lpstr>
      <vt:lpstr>Amazon Ember</vt:lpstr>
      <vt:lpstr>Segoe Print</vt:lpstr>
      <vt:lpstr>Times New Roman</vt:lpstr>
      <vt:lpstr>仿宋</vt:lpstr>
      <vt:lpstr>KSOF28C8D4D9</vt:lpstr>
      <vt:lpstr>KSOF28C8607A</vt:lpstr>
      <vt:lpstr>KSOF6188761F</vt:lpstr>
      <vt:lpstr>KSOF618801C0</vt:lpstr>
      <vt:lpstr>汉仪雅酷黑简</vt:lpstr>
      <vt:lpstr>方正公文小标宋</vt:lpstr>
      <vt:lpstr>方正公文黑体</vt:lpstr>
      <vt:lpstr>汉仪黑方简</vt:lpstr>
      <vt:lpstr>Office 主题​​</vt:lpstr>
      <vt:lpstr>PowerPoint 演示文稿</vt:lpstr>
      <vt:lpstr>PowerPoint 演示文稿</vt:lpstr>
      <vt:lpstr>TMS系统上线准备情况汇报：具备上线条件</vt:lpstr>
      <vt:lpstr>TMS系统上线准备情况汇报：上线事项跟进表</vt:lpstr>
      <vt:lpstr>PowerPoint 演示文稿</vt:lpstr>
      <vt:lpstr>项目背景及概述</vt:lpstr>
      <vt:lpstr>业务架构--业务组织视图</vt:lpstr>
      <vt:lpstr>业务架构--一、二、三期业务蓝图</vt:lpstr>
      <vt:lpstr>业务架构--总体业务流程</vt:lpstr>
      <vt:lpstr>业务架构--关键业务流程-计提结算业务流程</vt:lpstr>
      <vt:lpstr>业务架构--关键业务流程-计提结算业务流程</vt:lpstr>
      <vt:lpstr>业务架构--关键业务流程-计提业务（订单全覆盖）</vt:lpstr>
      <vt:lpstr>业务架构--关键业务流程-结算业务（费用类型全覆盖）</vt:lpstr>
      <vt:lpstr>业务架构--关键业务流程-结算业务（扣罚款线上管理）</vt:lpstr>
      <vt:lpstr>业务架构--关键业务流程-计提结算准确性</vt:lpstr>
      <vt:lpstr>业务架构--关键业务流程-电子签收</vt:lpstr>
      <vt:lpstr>业务架构--关键业务流程-地址修改</vt:lpstr>
      <vt:lpstr>业务架构--关键业务流程-在途运输可视化</vt:lpstr>
      <vt:lpstr>业务架构--关键业务流程-客仓管理</vt:lpstr>
      <vt:lpstr>业务架构--关键业务流程-运营报表管理</vt:lpstr>
      <vt:lpstr>PowerPoint 演示文稿</vt:lpstr>
      <vt:lpstr>数据架构设计原则</vt:lpstr>
      <vt:lpstr>数据架构--数据需求</vt:lpstr>
      <vt:lpstr>数据架构--数据设计（一）</vt:lpstr>
      <vt:lpstr>数据架构--数据设计（二）</vt:lpstr>
      <vt:lpstr>数据架构--数据设计（三）</vt:lpstr>
      <vt:lpstr>数据架构--数据管理</vt:lpstr>
      <vt:lpstr>技术架构设计原则</vt:lpstr>
      <vt:lpstr>应用架构--应用架构视图（项目）</vt:lpstr>
      <vt:lpstr>技术架构--技术架构视图（项目）</vt:lpstr>
      <vt:lpstr>技术架构--技术栈、技术组件清单（包括版本）</vt:lpstr>
      <vt:lpstr>技术架构--集成架构设计</vt:lpstr>
      <vt:lpstr>系统基础架构--网络架构&amp;逻辑层级</vt:lpstr>
      <vt:lpstr>系统基础架构--业务量增长受影响的服务扩容策略</vt:lpstr>
      <vt:lpstr>系统基础架构--硬件资源配置</vt:lpstr>
      <vt:lpstr>系统安全架构</vt:lpstr>
      <vt:lpstr>PowerPoint 演示文稿</vt:lpstr>
      <vt:lpstr>下一步工作计划与分工确认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</dc:title>
  <dc:creator>张 建春</dc:creator>
  <cp:lastModifiedBy>彼岸有叶</cp:lastModifiedBy>
  <cp:revision>2082</cp:revision>
  <cp:lastPrinted>2026-01-22T01:32:00Z</cp:lastPrinted>
  <dcterms:created xsi:type="dcterms:W3CDTF">2026-01-22T01:32:00Z</dcterms:created>
  <dcterms:modified xsi:type="dcterms:W3CDTF">2026-06-23T03:16:36Z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E591F3CBDC3E459D95CC4B63EE4069A9_13</vt:lpwstr>
  </property>
</Properties>
</file>